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114" y="534"/>
      </p:cViewPr>
      <p:guideLst/>
    </p:cSldViewPr>
  </p:slideViewPr>
  <p:notesTextViewPr>
    <p:cViewPr>
      <p:scale>
        <a:sx n="232" d="100"/>
        <a:sy n="232"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7203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a:t>Bueno, pues os presento BuenCholloTech. Este proyecto nace de una necesidad muy concreta: que exista una plataforma centrada en chollos tecnológicos de calidad, porque ahora mismo no he encontrado nada que lo haga del todo bien.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a:t>Para entender por qué tiene sentido, hay que mirar lo que hay ahora mismo. </a:t>
            </a:r>
          </a:p>
          <a:p>
            <a:r>
              <a:rPr lang="en-US" dirty="0"/>
              <a:t>Los chollos buenos de tecnología están dispersos por todos lados: en Amazon, en foros, en grupos de Telegram cerrados... y encima duran </a:t>
            </a:r>
            <a:r>
              <a:rPr lang="en-US" dirty="0" err="1"/>
              <a:t>muy</a:t>
            </a:r>
            <a:r>
              <a:rPr lang="en-US" dirty="0"/>
              <a:t> poco y vuelan enseguida. </a:t>
            </a:r>
          </a:p>
          <a:p>
            <a:endParaRPr lang="en-US" dirty="0"/>
          </a:p>
          <a:p>
            <a:r>
              <a:rPr lang="en-US" dirty="0"/>
              <a:t>Las opciones que ya existen no terminan de resolverlo. Aquí a la izquierda tenéis las principales: Chollometro, que es un caos de votos donde todo vale y cuesta encontrar lo bueno; las webs de cada tienda, que solo te enseñan lo suyo; y los típicos agregadores de ofertas, llenos de spam y publicidad. </a:t>
            </a:r>
          </a:p>
          <a:p>
            <a:endParaRPr lang="en-US" dirty="0"/>
          </a:p>
          <a:p>
            <a:r>
              <a:rPr lang="en-US" dirty="0"/>
              <a:t>Y aquí a la derecha está la diferencia que propongo: juntar lo mejor de cada cosa: que haya un humano que selecciona, que la IA ayude a preparar cada chollo, que la comunidad participe, y que además te llegue por donde tú quieras, web, Telegram o avisos en la propia app.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a:t>Y esto es la plataforma resumida en una idea: algo vivo. Lo que quiero recalcar es que no es una maqueta que monto, entrego y se queda en un cajón; está funcionando de verdad, con usuarios reales, y a la vez me ha servido como proyecto de máster. </a:t>
            </a:r>
          </a:p>
          <a:p>
            <a:endParaRPr lang="en-US" dirty="0"/>
          </a:p>
          <a:p>
            <a:r>
              <a:rPr lang="en-US" dirty="0" err="1"/>
              <a:t>Estos</a:t>
            </a:r>
            <a:r>
              <a:rPr lang="en-US" dirty="0"/>
              <a:t> cuatro números os dan una foto rápida de en qué punto está: 167 pruebas automáticas que pasan en unos 13 segundos, cero fallos de seguridad conocidos en producción, nueve decisiones técnicas importantes documentadas, y una valoración de arquitectura de 9,7 sobre 10. </a:t>
            </a:r>
          </a:p>
          <a:p>
            <a:endParaRPr lang="en-US" dirty="0"/>
          </a:p>
          <a:p>
            <a:r>
              <a:rPr lang="en-US" dirty="0"/>
              <a:t>Y aquí abajo veis esas dos caras de las que os hablaba: producto de verdad, y a la vez proyecto académico.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a:t>Vamos a ver qué se puede </a:t>
            </a:r>
            <a:r>
              <a:rPr lang="en-US" dirty="0" err="1"/>
              <a:t>hacer</a:t>
            </a:r>
            <a:r>
              <a:rPr lang="en-US" dirty="0"/>
              <a:t> </a:t>
            </a:r>
            <a:r>
              <a:rPr lang="en-US" dirty="0" err="1"/>
              <a:t>desde</a:t>
            </a:r>
            <a:r>
              <a:rPr lang="en-US" dirty="0"/>
              <a:t> la web. Lo he pensado en tres niveles, según quién seas. </a:t>
            </a:r>
          </a:p>
          <a:p>
            <a:endParaRPr lang="en-US" dirty="0"/>
          </a:p>
          <a:p>
            <a:r>
              <a:rPr lang="en-US" dirty="0"/>
              <a:t>Si entras sin registrarte, como cualquiera que llega de Google, puedes cotillear: ves el listado, buscas, entras al detalle de una oferta con su histórico de precios, y si te interesa pinchas para comprar. </a:t>
            </a:r>
          </a:p>
          <a:p>
            <a:endParaRPr lang="en-US" dirty="0"/>
          </a:p>
          <a:p>
            <a:r>
              <a:rPr lang="en-US" dirty="0"/>
              <a:t>Si </a:t>
            </a:r>
            <a:r>
              <a:rPr lang="en-US" dirty="0" err="1"/>
              <a:t>te</a:t>
            </a:r>
            <a:r>
              <a:rPr lang="en-US" dirty="0"/>
              <a:t> </a:t>
            </a:r>
            <a:r>
              <a:rPr lang="en-US" dirty="0" err="1"/>
              <a:t>registras</a:t>
            </a:r>
            <a:r>
              <a:rPr lang="en-US" dirty="0"/>
              <a:t>, </a:t>
            </a:r>
            <a:r>
              <a:rPr lang="en-US" dirty="0" err="1"/>
              <a:t>ya</a:t>
            </a:r>
            <a:r>
              <a:rPr lang="en-US" dirty="0"/>
              <a:t> sea con tu cuenta de Google o con </a:t>
            </a:r>
            <a:r>
              <a:rPr lang="en-US" dirty="0" err="1"/>
              <a:t>correo</a:t>
            </a:r>
            <a:r>
              <a:rPr lang="en-US" dirty="0"/>
              <a:t> y </a:t>
            </a:r>
            <a:r>
              <a:rPr lang="en-US" dirty="0" err="1"/>
              <a:t>contraseña</a:t>
            </a:r>
            <a:r>
              <a:rPr lang="en-US" dirty="0"/>
              <a:t>, desbloqueas lo bueno: votar, comentar, guardar favoritos y, lo más útil de todo, crearte alertas para que te avise cuando salga algo que encaje contigo. </a:t>
            </a:r>
          </a:p>
          <a:p>
            <a:endParaRPr lang="en-US" dirty="0"/>
          </a:p>
          <a:p>
            <a:r>
              <a:rPr lang="en-US" dirty="0"/>
              <a:t>Y luego está el admin, que soy yo: el que da de alta los chollos, los publica y tiene el panel de gestión. Como veis, cada nivel va sumando cosas sobre el anterior.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a:t>Y esta es, para mí, la joya del proyecto, lo que de verdad ahorra trabajo. </a:t>
            </a:r>
          </a:p>
          <a:p>
            <a:endParaRPr lang="en-US" dirty="0"/>
          </a:p>
          <a:p>
            <a:r>
              <a:rPr lang="en-US" dirty="0"/>
              <a:t>AQUI MOSTRAR COMO LO HAGO E IR EXPLICANDO</a:t>
            </a:r>
          </a:p>
          <a:p>
            <a:endParaRPr lang="en-US" dirty="0"/>
          </a:p>
          <a:p>
            <a:r>
              <a:rPr lang="en-US" dirty="0" err="1"/>
              <a:t>Os</a:t>
            </a:r>
            <a:r>
              <a:rPr lang="en-US" dirty="0"/>
              <a:t> lo cuento como pasa en la práctica: yo cojo una oferta de Amazon, copio su enlace y lo pego. Y a partir de ahí el sistema lo hace todo solo. Seguid el recorrido de la slide: primero saca los datos del producto, el código, el título, el precio, la imagen; luego la inteligencia artificial le escribe el texto del chollo y lo clasifica; mientras tanto, avisa a la gente que tenía una alerta que coincide; y por último lo publica en el canal de Telegram. Y todo esto, de pegar el enlace a tenerlo publicado, en menos de 30 segundos. Lo que antes era un trabajo manual y pesado, ahora es pegar y listo.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err="1"/>
              <a:t>Ahora</a:t>
            </a:r>
            <a:r>
              <a:rPr lang="en-US" dirty="0"/>
              <a:t> abrimos un poco el capó, pero tranquilos que lo cuento fácil. La regla de oro de todo el sistema es esta: lo que ve el usuario, el navegador, solo habla con una única puerta de entrada, que es la API. </a:t>
            </a:r>
          </a:p>
          <a:p>
            <a:endParaRPr lang="en-US" dirty="0"/>
          </a:p>
          <a:p>
            <a:r>
              <a:rPr lang="en-US" dirty="0"/>
              <a:t>Y luego es esa API la que se encarga de hablar con todo lo demás: la base de datos, Amazon, la inteligencia artificial, Telegram. ¿Por qué me empeño en esto? Porque así toda la lógica y toda la seguridad están en un solo sitio controlado, y no desperdigadas por ahí. </a:t>
            </a:r>
          </a:p>
          <a:p>
            <a:endParaRPr lang="en-US" dirty="0"/>
          </a:p>
          <a:p>
            <a:r>
              <a:rPr lang="en-US" dirty="0"/>
              <a:t>Y abajo del todo veis cómo está organizado el código por dentro: la parte del centro, el corazón del negocio, no depende de ninguna tecnología concreta, y eso es lo que hace que mañana pueda cambiar cosas sin que se desmonte todo.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a:t>De todas las decisiones que tomé, estas dos son las más importantes. La primera: hacerlo como un monolito modular. </a:t>
            </a:r>
          </a:p>
          <a:p>
            <a:r>
              <a:rPr lang="en-US" dirty="0"/>
              <a:t>O sea, una sola aplicación, pero bien ordenada por dentro en módulos, en lugar de partirla en un montón de piezas pequeñas, lo que se llama microservicios. </a:t>
            </a:r>
          </a:p>
          <a:p>
            <a:r>
              <a:rPr lang="en-US" dirty="0"/>
              <a:t>Y lo hice así a propósito: soy una persona, partirlo me daría muchísimo trabajo extra para nada, y tal y como está, mover cosas de un lado a otro es rápido y barato. </a:t>
            </a:r>
          </a:p>
          <a:p>
            <a:r>
              <a:rPr lang="en-US" dirty="0"/>
              <a:t>La segunda decisión: al principio metí la pata, el navegador hablaba directamente con la base de datos. Lo corregí para que todo pasara por la API. </a:t>
            </a:r>
          </a:p>
          <a:p>
            <a:r>
              <a:rPr lang="en-US" dirty="0" err="1"/>
              <a:t>Aquí</a:t>
            </a:r>
            <a:r>
              <a:rPr lang="en-US" dirty="0"/>
              <a:t> mismo veis el antes y el después: pasé de un lío de seguridad a tener un único punto de control.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a:t>Aquí os enseño con qué está construido, por capas, para que os hagáis una idea. Arriba, la parte visual, con las tecnologías más actuales de frontend. Luego el motor, el backend, hecho en Python y pensado para aguantar bien la carga. La base de datos, el inicio de sesión y el guardado de imágenes están en Supabase. Después, las conexiones con servicios de fuera: Amazon, la IA de OpenAI y Telegram. El sitio donde vive todo, mi propio servidor con Docker y Cloudflare. </a:t>
            </a:r>
          </a:p>
          <a:p>
            <a:r>
              <a:rPr lang="en-US" dirty="0"/>
              <a:t>Y abajo, la parte de control de calidad y de despliegue automático. No os agobiéis con los nombres concretos; quedaos con la idea de que es un conjunto de herramientas moderno y serio, nada improvisado.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a:t>Esta diapositiva quizá es más sosa visualmente, pero es de las que más peso tienen en un trabajo de máster. La idea es muy simple: aquí no se ha decidido nada a lo loco. </a:t>
            </a:r>
          </a:p>
          <a:p>
            <a:endParaRPr lang="en-US" dirty="0"/>
          </a:p>
          <a:p>
            <a:r>
              <a:rPr lang="en-US" dirty="0"/>
              <a:t>Cada decisión importante está escrita, con su fecha y con sus motivos, en lo que se llama un ADR. Aquí tenéis los nueve, cubriéndolo todo: la arquitectura, el inicio de sesión, la base de datos, cómo valido los datos, la seguridad, y hasta cómo he usado la inteligencia artificial. </a:t>
            </a:r>
          </a:p>
          <a:p>
            <a:endParaRPr lang="en-US" dirty="0"/>
          </a:p>
          <a:p>
            <a:r>
              <a:rPr lang="en-US" dirty="0"/>
              <a:t>Y esto es justo lo que me permite defender el proyecto: si me preguntáis por qué hice algo de una manera y no de otra, la respuesta no me la invento sobre la marcha, está escrita.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a:t>Pasemos a la calidad, que es algo que me he tomado muy en serio. El proyecto tiene 167 pruebas que se ejecutan solas en unos 13 segundos. </a:t>
            </a:r>
          </a:p>
          <a:p>
            <a:r>
              <a:rPr lang="en-US" dirty="0"/>
              <a:t>Y están montadas con cabeza, en forma de pirámide: abajo muchísimas pruebas pequeñas y muy rápidas, en medio unas cuantas medianas, y arriba solo las imprescindibles, que son las más lentas porque simulan a un usuario de principio a fin. </a:t>
            </a:r>
          </a:p>
          <a:p>
            <a:r>
              <a:rPr lang="en-US" dirty="0"/>
              <a:t>A la derecha veis los filtros por los que pasa cualquier cambio: se revisa al guardar, se pasan los tests al subir, y luego un robot lo vuelve a comprobar todo. Si algo falla en cualquiera de esos pasos, simplemente no entra. </a:t>
            </a:r>
          </a:p>
          <a:p>
            <a:r>
              <a:rPr lang="en-US" dirty="0"/>
              <a:t>Es mi red de seguridad para no romper nada sin enterarme.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a:t>Y aquí va un matiz del que estoy bastante orgulloso, porque va un poco a contracorriente. Mucha gente presume de cubrir el cien por cien con tests, pero eso muchas veces es engañarse. </a:t>
            </a:r>
          </a:p>
          <a:p>
            <a:r>
              <a:rPr lang="en-US" dirty="0" err="1"/>
              <a:t>Yo</a:t>
            </a:r>
            <a:r>
              <a:rPr lang="en-US" dirty="0"/>
              <a:t> lo hago al revés, con sentido común: en lo importante de verdad, el corazón del negocio, cubro casi todo y además está vigilado de forma automática; si baja de cierto punto, salta la alarma. En la parte que ve el usuario, en torno al ochenta por ciento. </a:t>
            </a:r>
          </a:p>
          <a:p>
            <a:r>
              <a:rPr lang="en-US" dirty="0"/>
              <a:t>Y en lo que es relleno o código que genera la máquina sola, no pruebo nada, porque no aporta. </a:t>
            </a:r>
          </a:p>
          <a:p>
            <a:r>
              <a:rPr lang="en-US" dirty="0"/>
              <a:t>La idea que quiero transmitir es que esto es calidad de verdad, no un número bonito para presumir.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a:t>Vamos con la seguridad, que en una web es clave. Lo que hice fue coger la lista oficial de los diez riesgos más típicos que tiene cualquier web, la famosa OWASP Top 10, y repasarlos uno por uno, como si fuera una checklist. </a:t>
            </a:r>
          </a:p>
          <a:p>
            <a:r>
              <a:rPr lang="en-US" dirty="0" err="1"/>
              <a:t>Encontré</a:t>
            </a:r>
            <a:r>
              <a:rPr lang="en-US" dirty="0"/>
              <a:t> diez puntos que revisar, corregí los seis que hacía falta corregir, y ahora mismo están todos en verde, como veis. Y el dato que lo resume, ahí abajo: cero fallos de seguridad conocidos en producción. </a:t>
            </a:r>
          </a:p>
          <a:p>
            <a:r>
              <a:rPr lang="en-US" dirty="0"/>
              <a:t>Y ojo, no es la foto de un día suelto, es algo que se comprueba automáticamente cada semana.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a:t>Aquí profundizo un poco más en el cómo de la seguridad, con una idea muy sencilla: poner varias capas, una detrás de otra, por si alguna falla. </a:t>
            </a:r>
          </a:p>
          <a:p>
            <a:r>
              <a:rPr lang="en-US" dirty="0" err="1"/>
              <a:t>Os</a:t>
            </a:r>
            <a:r>
              <a:rPr lang="en-US" dirty="0"/>
              <a:t> lo resumo siguiendo la slide: cada acción de administrador comprueba que de verdad soy yo; la base de datos tiene protección extra aunque en teoría nadie debería llegar a ella; todo lo que hace el admin queda grabado; hay límites para que nadie reviente el sistema a base de peticiones; las cabeceras de seguridad están bien puestas; y hay una lista blanca para que el sistema no pueda hacer llamadas a sitios que no debe. </a:t>
            </a:r>
          </a:p>
          <a:p>
            <a:r>
              <a:rPr lang="en-US" dirty="0"/>
              <a:t>La idea de fondo es esa: aunque cayera una capa, siempre hay otra detrás cubriendo.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a:t>Y como esto es un máster de desarrollo con inteligencia artificial, os cuento cómo la he usado de verdad, sin postureo. Lo más importante, y quiero que quede clarísimo: la IA es una herramienta de apoyo, no la que decide. </a:t>
            </a:r>
          </a:p>
          <a:p>
            <a:r>
              <a:rPr lang="en-US" dirty="0"/>
              <a:t>La he usado de tres maneras, que veis aquí: para revisar el código módulo a módulo, para programar siguiendo unas normas que le tengo fijadas de antemano, y para mejorar el código que ya tenía, siempre con red de seguridad. </a:t>
            </a:r>
          </a:p>
          <a:p>
            <a:r>
              <a:rPr lang="en-US" dirty="0"/>
              <a:t>Y para que no se me vaya de las manos, tengo tres controles: las pruebas automáticas, el hecho de que yo reviso y apruebo cada cambio a mano (nada se sube solo), y revisiones cruzadas. </a:t>
            </a:r>
          </a:p>
          <a:p>
            <a:r>
              <a:rPr lang="en-US" dirty="0"/>
              <a:t>El resultado es que voy muchísimo más rápido, pero sin soltar el volante en ningún momento.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a:t>¿Y dónde vive todo esto? Pues, y esto suele sorprender, en un pequeño servidor que tengo en mi propia casa. Y lo curioso, que es lo que quiero que os llevéis: no he tenido que abrir ni un solo agujero en mi router, lo cual es mucho más seguro de lo que </a:t>
            </a:r>
            <a:r>
              <a:rPr lang="en-US" dirty="0" err="1"/>
              <a:t>parece</a:t>
            </a:r>
            <a:r>
              <a:rPr lang="en-US" dirty="0"/>
              <a:t>.</a:t>
            </a:r>
          </a:p>
          <a:p>
            <a:endParaRPr lang="en-US" dirty="0"/>
          </a:p>
          <a:p>
            <a:r>
              <a:rPr lang="en-US" dirty="0"/>
              <a:t>Cloudflare hace de portero por delante: pone el cifrado, frena los ataques y filtra los bots. La web se actualiza ella sola cada vez que subo cambios, y la base de datos está gestionada en la nube. </a:t>
            </a:r>
          </a:p>
          <a:p>
            <a:endParaRPr lang="en-US" dirty="0"/>
          </a:p>
          <a:p>
            <a:r>
              <a:rPr lang="en-US" dirty="0"/>
              <a:t>Abajo tenéis las cuatro claves: cero puertos abiertos, conexión cifrada, las actualizaciones de la base de datos se aplican solas, y hay chequeos para saber en todo momento si está todo sano.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a:t>Ya en la recta final, os hago un balance honesto. A la izquierda, todo lo que ya está hecho y funcionando de verdad: la web publicada, el backend en marcha, todas las funciones, el panel de admin, la automatización con IA, las pruebas, la seguridad y la documentación. Y a la derecha, lo que me parece igual de importante: ser sincero con lo que falta. </a:t>
            </a:r>
          </a:p>
          <a:p>
            <a:r>
              <a:rPr lang="en-US" dirty="0"/>
              <a:t>Tengo una lista de mejoras pendientes apuntada y priorizada, y ojo, no son fallos, son cosas a pulir, y también dejé fuera cosas a propósito, como el email o la app móvil, para no querer abarcarlo todo de golpe. Saber lo que no has hecho, y por qué, también es parte de hacerlo bien.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ES"/>
          </a:p>
        </p:txBody>
      </p:sp>
      <p:sp>
        <p:nvSpPr>
          <p:cNvPr id="3" name="Notes Placeholder 2"/>
          <p:cNvSpPr>
            <a:spLocks noGrp="1"/>
          </p:cNvSpPr>
          <p:nvPr>
            <p:ph type="body" idx="1"/>
          </p:nvPr>
        </p:nvSpPr>
        <p:spPr/>
        <p:txBody>
          <a:bodyPr/>
          <a:lstStyle/>
          <a:p>
            <a:r>
              <a:rPr lang="en-US" dirty="0"/>
              <a:t>Y cierro con lo que, para mí, demuestra este proyecto. Primero, que un monolito bien hecho es la opción correcta para la mayoría de los casos, que no hay que complicarse para presumir. </a:t>
            </a:r>
          </a:p>
          <a:p>
            <a:endParaRPr lang="en-US" dirty="0"/>
          </a:p>
          <a:p>
            <a:r>
              <a:rPr lang="en-US" dirty="0"/>
              <a:t>Segundo, que cubrir bien lo importante vale mucho más que un cien por cien vacío. </a:t>
            </a:r>
          </a:p>
          <a:p>
            <a:r>
              <a:rPr lang="en-US" dirty="0"/>
              <a:t>Tercero, que la lista de seguridad de OWASP funciona de verdad como guía práctica. </a:t>
            </a:r>
          </a:p>
          <a:p>
            <a:r>
              <a:rPr lang="en-US" dirty="0"/>
              <a:t>Y cuarto, que la inteligencia artificial te multiplica la velocidad... siempre que seas tú quien la supervisa. Ahí tenéis los enlaces por si queréis trastear, que está online de verdad. Y nada más, muchas gracias por la atención y a lo que queráis preguntar, encantado.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2.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0.png"/><Relationship Id="rId5" Type="http://schemas.openxmlformats.org/officeDocument/2006/relationships/image" Target="../media/image6.png"/><Relationship Id="rId10"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3.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png"/><Relationship Id="rId10"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png"/><Relationship Id="rId7"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3.png"/><Relationship Id="rId10" Type="http://schemas.openxmlformats.org/officeDocument/2006/relationships/image" Target="../media/image21.png"/><Relationship Id="rId4" Type="http://schemas.openxmlformats.org/officeDocument/2006/relationships/image" Target="../media/image18.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6.png"/><Relationship Id="rId3" Type="http://schemas.openxmlformats.org/officeDocument/2006/relationships/image" Target="../media/image4.png"/><Relationship Id="rId7" Type="http://schemas.openxmlformats.org/officeDocument/2006/relationships/image" Target="../media/image23.png"/><Relationship Id="rId12"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6.png"/><Relationship Id="rId5" Type="http://schemas.openxmlformats.org/officeDocument/2006/relationships/image" Target="../media/image3.png"/><Relationship Id="rId10"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image" Target="../media/image2.png"/><Relationship Id="rId1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png"/><Relationship Id="rId11" Type="http://schemas.openxmlformats.org/officeDocument/2006/relationships/image" Target="../media/image32.png"/><Relationship Id="rId5" Type="http://schemas.openxmlformats.org/officeDocument/2006/relationships/image" Target="../media/image3.png"/><Relationship Id="rId10" Type="http://schemas.openxmlformats.org/officeDocument/2006/relationships/image" Target="../media/image31.png"/><Relationship Id="rId4" Type="http://schemas.openxmlformats.org/officeDocument/2006/relationships/image" Target="../media/image28.png"/><Relationship Id="rId9"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4.png"/><Relationship Id="rId7"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png"/><Relationship Id="rId10" Type="http://schemas.openxmlformats.org/officeDocument/2006/relationships/image" Target="../media/image39.png"/><Relationship Id="rId4" Type="http://schemas.openxmlformats.org/officeDocument/2006/relationships/image" Target="../media/image34.png"/><Relationship Id="rId9"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6.png"/><Relationship Id="rId4" Type="http://schemas.openxmlformats.org/officeDocument/2006/relationships/image" Target="../media/image41.png"/></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4.png"/><Relationship Id="rId7"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3.png"/><Relationship Id="rId4" Type="http://schemas.openxmlformats.org/officeDocument/2006/relationships/image" Target="../media/image4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image" Target="../media/image46.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2.png"/><Relationship Id="rId4" Type="http://schemas.openxmlformats.org/officeDocument/2006/relationships/image" Target="../media/image47.png"/></Relationships>
</file>

<file path=ppt/slides/_rels/slide13.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png"/><Relationship Id="rId7"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3.png"/><Relationship Id="rId10" Type="http://schemas.openxmlformats.org/officeDocument/2006/relationships/image" Target="../media/image54.png"/><Relationship Id="rId4" Type="http://schemas.openxmlformats.org/officeDocument/2006/relationships/image" Target="../media/image49.png"/><Relationship Id="rId9" Type="http://schemas.openxmlformats.org/officeDocument/2006/relationships/image" Target="../media/image53.png"/></Relationships>
</file>

<file path=ppt/slides/_rels/slide14.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4.png"/><Relationship Id="rId7" Type="http://schemas.openxmlformats.org/officeDocument/2006/relationships/image" Target="../media/image57.png"/><Relationship Id="rId12" Type="http://schemas.openxmlformats.org/officeDocument/2006/relationships/image" Target="../media/image6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3.png"/><Relationship Id="rId10" Type="http://schemas.openxmlformats.org/officeDocument/2006/relationships/image" Target="../media/image59.png"/><Relationship Id="rId4" Type="http://schemas.openxmlformats.org/officeDocument/2006/relationships/image" Target="../media/image12.png"/><Relationship Id="rId9"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png"/><Relationship Id="rId11" Type="http://schemas.openxmlformats.org/officeDocument/2006/relationships/image" Target="../media/image66.png"/><Relationship Id="rId5" Type="http://schemas.openxmlformats.org/officeDocument/2006/relationships/image" Target="../media/image3.png"/><Relationship Id="rId10" Type="http://schemas.openxmlformats.org/officeDocument/2006/relationships/image" Target="../media/image65.png"/><Relationship Id="rId4" Type="http://schemas.openxmlformats.org/officeDocument/2006/relationships/image" Target="../media/image62.png"/><Relationship Id="rId9" Type="http://schemas.openxmlformats.org/officeDocument/2006/relationships/image" Target="../media/image6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3.png"/><Relationship Id="rId4" Type="http://schemas.openxmlformats.org/officeDocument/2006/relationships/image" Target="../media/image67.png"/></Relationships>
</file>

<file path=ppt/slides/_rels/slide1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71.png"/><Relationship Id="rId12" Type="http://schemas.openxmlformats.org/officeDocument/2006/relationships/image" Target="../media/image73.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0.png"/><Relationship Id="rId11" Type="http://schemas.openxmlformats.org/officeDocument/2006/relationships/image" Target="../media/image62.png"/><Relationship Id="rId5" Type="http://schemas.openxmlformats.org/officeDocument/2006/relationships/image" Target="../media/image69.png"/><Relationship Id="rId10" Type="http://schemas.openxmlformats.org/officeDocument/2006/relationships/image" Target="../media/image72.png"/><Relationship Id="rId4" Type="http://schemas.openxmlformats.org/officeDocument/2006/relationships/image" Target="../media/image2.png"/><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6355080" y="1508760"/>
            <a:ext cx="5029200" cy="5029200"/>
          </a:xfrm>
          <a:prstGeom prst="rect">
            <a:avLst/>
          </a:prstGeom>
        </p:spPr>
      </p:pic>
      <p:sp>
        <p:nvSpPr>
          <p:cNvPr id="3" name="Shape 0"/>
          <p:cNvSpPr/>
          <p:nvPr/>
        </p:nvSpPr>
        <p:spPr>
          <a:xfrm>
            <a:off x="566928" y="1234440"/>
            <a:ext cx="5683910" cy="310896"/>
          </a:xfrm>
          <a:prstGeom prst="roundRect">
            <a:avLst>
              <a:gd name="adj" fmla="val 50000"/>
            </a:avLst>
          </a:prstGeom>
          <a:solidFill>
            <a:srgbClr val="37D6C3"/>
          </a:solidFill>
          <a:ln/>
        </p:spPr>
        <p:txBody>
          <a:bodyPr/>
          <a:lstStyle/>
          <a:p>
            <a:endParaRPr lang="es-ES"/>
          </a:p>
        </p:txBody>
      </p:sp>
      <p:sp>
        <p:nvSpPr>
          <p:cNvPr id="4" name="Text 1"/>
          <p:cNvSpPr/>
          <p:nvPr/>
        </p:nvSpPr>
        <p:spPr>
          <a:xfrm>
            <a:off x="566928" y="1234440"/>
            <a:ext cx="5683910" cy="310896"/>
          </a:xfrm>
          <a:prstGeom prst="rect">
            <a:avLst/>
          </a:prstGeom>
          <a:noFill/>
          <a:ln/>
        </p:spPr>
        <p:txBody>
          <a:bodyPr wrap="square" lIns="0" tIns="0" rIns="0" bIns="0" rtlCol="0" anchor="ctr"/>
          <a:lstStyle/>
          <a:p>
            <a:pPr marL="0" indent="0" algn="ctr">
              <a:buNone/>
            </a:pPr>
            <a:r>
              <a:rPr lang="en-US" sz="1050" b="1" kern="0" spc="100" dirty="0">
                <a:solidFill>
                  <a:srgbClr val="0A0F1A"/>
                </a:solidFill>
                <a:latin typeface="Calibri" pitchFamily="34" charset="0"/>
                <a:ea typeface="Calibri" pitchFamily="34" charset="-122"/>
                <a:cs typeface="Calibri" pitchFamily="34" charset="-120"/>
              </a:rPr>
              <a:t>PRODUCTO EN PRODUCCIÓN · TRABAJO FINAL DE MÁSTER</a:t>
            </a:r>
            <a:endParaRPr lang="en-US" sz="1050" dirty="0"/>
          </a:p>
        </p:txBody>
      </p:sp>
      <p:sp>
        <p:nvSpPr>
          <p:cNvPr id="5" name="Text 2"/>
          <p:cNvSpPr/>
          <p:nvPr/>
        </p:nvSpPr>
        <p:spPr>
          <a:xfrm>
            <a:off x="530352" y="1828800"/>
            <a:ext cx="11155680" cy="1371600"/>
          </a:xfrm>
          <a:prstGeom prst="rect">
            <a:avLst/>
          </a:prstGeom>
          <a:noFill/>
          <a:ln/>
        </p:spPr>
        <p:txBody>
          <a:bodyPr wrap="square" lIns="0" tIns="0" rIns="0" bIns="0" rtlCol="0" anchor="ctr"/>
          <a:lstStyle/>
          <a:p>
            <a:pPr marL="0" indent="0">
              <a:buNone/>
            </a:pPr>
            <a:r>
              <a:rPr lang="en-US" sz="7800" b="1" dirty="0">
                <a:solidFill>
                  <a:srgbClr val="F3F7FD"/>
                </a:solidFill>
                <a:latin typeface="Georgia" pitchFamily="34" charset="0"/>
                <a:ea typeface="Georgia" pitchFamily="34" charset="-122"/>
                <a:cs typeface="Georgia" pitchFamily="34" charset="-120"/>
              </a:rPr>
              <a:t>BuenChollo</a:t>
            </a:r>
            <a:r>
              <a:rPr lang="en-US" sz="7800" b="1" dirty="0">
                <a:solidFill>
                  <a:srgbClr val="FF6A2B"/>
                </a:solidFill>
                <a:latin typeface="Georgia" pitchFamily="34" charset="0"/>
                <a:ea typeface="Georgia" pitchFamily="34" charset="-122"/>
                <a:cs typeface="Georgia" pitchFamily="34" charset="-120"/>
              </a:rPr>
              <a:t>Tech</a:t>
            </a:r>
            <a:endParaRPr lang="en-US" sz="7800" dirty="0"/>
          </a:p>
        </p:txBody>
      </p:sp>
      <p:sp>
        <p:nvSpPr>
          <p:cNvPr id="6" name="Text 3"/>
          <p:cNvSpPr/>
          <p:nvPr/>
        </p:nvSpPr>
        <p:spPr>
          <a:xfrm>
            <a:off x="566928" y="3246120"/>
            <a:ext cx="8778240" cy="548640"/>
          </a:xfrm>
          <a:prstGeom prst="rect">
            <a:avLst/>
          </a:prstGeom>
          <a:noFill/>
          <a:ln/>
        </p:spPr>
        <p:txBody>
          <a:bodyPr wrap="square" lIns="0" tIns="0" rIns="0" bIns="0" rtlCol="0" anchor="ctr"/>
          <a:lstStyle/>
          <a:p>
            <a:pPr marL="0" indent="0">
              <a:buNone/>
            </a:pPr>
            <a:r>
              <a:rPr lang="en-US" sz="2000" dirty="0">
                <a:solidFill>
                  <a:srgbClr val="C3CEDE"/>
                </a:solidFill>
                <a:latin typeface="Calibri" pitchFamily="34" charset="0"/>
                <a:ea typeface="Calibri" pitchFamily="34" charset="-122"/>
                <a:cs typeface="Calibri" pitchFamily="34" charset="-120"/>
              </a:rPr>
              <a:t>Plataforma para publicar, gestionar y automatizar chollos tecnológicos</a:t>
            </a:r>
            <a:endParaRPr lang="en-US" sz="2000" dirty="0"/>
          </a:p>
        </p:txBody>
      </p:sp>
      <p:pic>
        <p:nvPicPr>
          <p:cNvPr id="7" name="Image 1" descr="preencoded.png"/>
          <p:cNvPicPr>
            <a:picLocks noChangeAspect="1"/>
          </p:cNvPicPr>
          <p:nvPr/>
        </p:nvPicPr>
        <p:blipFill>
          <a:blip r:embed="rId5"/>
          <a:stretch>
            <a:fillRect/>
          </a:stretch>
        </p:blipFill>
        <p:spPr>
          <a:xfrm>
            <a:off x="566928" y="3977640"/>
            <a:ext cx="3108960" cy="54864"/>
          </a:xfrm>
          <a:prstGeom prst="rect">
            <a:avLst/>
          </a:prstGeom>
        </p:spPr>
      </p:pic>
      <p:sp>
        <p:nvSpPr>
          <p:cNvPr id="8" name="Text 4"/>
          <p:cNvSpPr/>
          <p:nvPr/>
        </p:nvSpPr>
        <p:spPr>
          <a:xfrm>
            <a:off x="566928" y="4297680"/>
            <a:ext cx="7315200" cy="1280160"/>
          </a:xfrm>
          <a:prstGeom prst="rect">
            <a:avLst/>
          </a:prstGeom>
          <a:noFill/>
          <a:ln/>
        </p:spPr>
        <p:txBody>
          <a:bodyPr wrap="square" lIns="0" tIns="0" rIns="0" bIns="0" rtlCol="0" anchor="ctr"/>
          <a:lstStyle/>
          <a:p>
            <a:pPr marL="0" indent="0">
              <a:lnSpc>
                <a:spcPct val="125000"/>
              </a:lnSpc>
              <a:buNone/>
            </a:pPr>
            <a:r>
              <a:rPr lang="en-US" sz="1600" b="1" dirty="0">
                <a:solidFill>
                  <a:srgbClr val="F3F7FD"/>
                </a:solidFill>
                <a:latin typeface="Calibri" pitchFamily="34" charset="0"/>
                <a:ea typeface="Calibri" pitchFamily="34" charset="-122"/>
                <a:cs typeface="Calibri" pitchFamily="34" charset="-120"/>
              </a:rPr>
              <a:t>Pedro Javier Zambudio Decillis</a:t>
            </a:r>
            <a:endParaRPr lang="en-US" sz="1600" dirty="0"/>
          </a:p>
          <a:p>
            <a:pPr marL="0" indent="0">
              <a:lnSpc>
                <a:spcPct val="125000"/>
              </a:lnSpc>
              <a:buNone/>
            </a:pPr>
            <a:r>
              <a:rPr lang="en-US" sz="1300" dirty="0">
                <a:solidFill>
                  <a:srgbClr val="C3CEDE"/>
                </a:solidFill>
                <a:latin typeface="Calibri" pitchFamily="34" charset="0"/>
                <a:ea typeface="Calibri" pitchFamily="34" charset="-122"/>
                <a:cs typeface="Calibri" pitchFamily="34" charset="-120"/>
              </a:rPr>
              <a:t>Máster en Desarrollo con IA · 2025</a:t>
            </a:r>
            <a:endParaRPr lang="en-US" sz="1600" dirty="0"/>
          </a:p>
          <a:p>
            <a:pPr marL="0" indent="0">
              <a:lnSpc>
                <a:spcPct val="125000"/>
              </a:lnSpc>
              <a:buNone/>
            </a:pPr>
            <a:r>
              <a:rPr lang="en-US" sz="1300" dirty="0">
                <a:solidFill>
                  <a:srgbClr val="FF6A2B"/>
                </a:solidFill>
                <a:latin typeface="Calibri" pitchFamily="34" charset="0"/>
                <a:ea typeface="Calibri" pitchFamily="34" charset="-122"/>
                <a:cs typeface="Calibri" pitchFamily="34" charset="-120"/>
              </a:rPr>
              <a:t>buenchollotech.com</a:t>
            </a:r>
            <a:endParaRPr lang="en-US" sz="1600" dirty="0"/>
          </a:p>
        </p:txBody>
      </p:sp>
      <p:sp>
        <p:nvSpPr>
          <p:cNvPr id="9" name="Text 5"/>
          <p:cNvSpPr/>
          <p:nvPr/>
        </p:nvSpPr>
        <p:spPr>
          <a:xfrm>
            <a:off x="8881567" y="5989320"/>
            <a:ext cx="2743200" cy="365760"/>
          </a:xfrm>
          <a:prstGeom prst="rect">
            <a:avLst/>
          </a:prstGeom>
          <a:noFill/>
          <a:ln/>
        </p:spPr>
        <p:txBody>
          <a:bodyPr wrap="square" lIns="0" tIns="0" rIns="0" bIns="0" rtlCol="0" anchor="ctr"/>
          <a:lstStyle/>
          <a:p>
            <a:pPr marL="0" indent="0" algn="r">
              <a:buNone/>
            </a:pPr>
            <a:r>
              <a:rPr lang="en-US" sz="1300" dirty="0">
                <a:solidFill>
                  <a:srgbClr val="8492A6"/>
                </a:solidFill>
                <a:latin typeface="Calibri" pitchFamily="34" charset="0"/>
                <a:ea typeface="Calibri" pitchFamily="34" charset="-122"/>
                <a:cs typeface="Calibri" pitchFamily="34" charset="-120"/>
              </a:rPr>
              <a:t>Junio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928" y="457200"/>
            <a:ext cx="1556309" cy="310896"/>
          </a:xfrm>
          <a:prstGeom prst="roundRect">
            <a:avLst>
              <a:gd name="adj" fmla="val 50000"/>
            </a:avLst>
          </a:prstGeom>
          <a:solidFill>
            <a:srgbClr val="FF6A2B"/>
          </a:solidFill>
          <a:ln/>
        </p:spPr>
        <p:txBody>
          <a:bodyPr/>
          <a:lstStyle/>
          <a:p>
            <a:endParaRPr lang="es-ES"/>
          </a:p>
        </p:txBody>
      </p:sp>
      <p:sp>
        <p:nvSpPr>
          <p:cNvPr id="3" name="Text 1"/>
          <p:cNvSpPr/>
          <p:nvPr/>
        </p:nvSpPr>
        <p:spPr>
          <a:xfrm>
            <a:off x="566928" y="457200"/>
            <a:ext cx="1556309" cy="310896"/>
          </a:xfrm>
          <a:prstGeom prst="rect">
            <a:avLst/>
          </a:prstGeom>
          <a:noFill/>
          <a:ln/>
        </p:spPr>
        <p:txBody>
          <a:bodyPr wrap="square" lIns="0" tIns="0" rIns="0" bIns="0" rtlCol="0" anchor="ctr"/>
          <a:lstStyle/>
          <a:p>
            <a:pPr marL="0" indent="0" algn="ctr">
              <a:buNone/>
            </a:pPr>
            <a:r>
              <a:rPr lang="en-US" sz="1050" b="1" kern="0" spc="100" dirty="0">
                <a:solidFill>
                  <a:srgbClr val="0A0F1A"/>
                </a:solidFill>
                <a:latin typeface="Calibri" pitchFamily="34" charset="0"/>
                <a:ea typeface="Calibri" pitchFamily="34" charset="-122"/>
                <a:cs typeface="Calibri" pitchFamily="34" charset="-120"/>
              </a:rPr>
              <a:t>EL PROBLEMA</a:t>
            </a:r>
            <a:endParaRPr lang="en-US" sz="1050" dirty="0"/>
          </a:p>
        </p:txBody>
      </p:sp>
      <p:pic>
        <p:nvPicPr>
          <p:cNvPr id="4" name="Image 0" descr="preencoded.png"/>
          <p:cNvPicPr>
            <a:picLocks noChangeAspect="1"/>
          </p:cNvPicPr>
          <p:nvPr/>
        </p:nvPicPr>
        <p:blipFill>
          <a:blip r:embed="rId4"/>
          <a:stretch>
            <a:fillRect/>
          </a:stretch>
        </p:blipFill>
        <p:spPr>
          <a:xfrm>
            <a:off x="11057839" y="384048"/>
            <a:ext cx="457200" cy="457200"/>
          </a:xfrm>
          <a:prstGeom prst="rect">
            <a:avLst/>
          </a:prstGeom>
        </p:spPr>
      </p:pic>
      <p:sp>
        <p:nvSpPr>
          <p:cNvPr id="5" name="Text 2"/>
          <p:cNvSpPr/>
          <p:nvPr/>
        </p:nvSpPr>
        <p:spPr>
          <a:xfrm>
            <a:off x="566928" y="841248"/>
            <a:ext cx="10554919" cy="640080"/>
          </a:xfrm>
          <a:prstGeom prst="rect">
            <a:avLst/>
          </a:prstGeom>
          <a:noFill/>
          <a:ln/>
        </p:spPr>
        <p:txBody>
          <a:bodyPr wrap="square" lIns="0" tIns="0" rIns="0" bIns="0" rtlCol="0" anchor="ctr"/>
          <a:lstStyle/>
          <a:p>
            <a:pPr marL="0" indent="0">
              <a:buNone/>
            </a:pPr>
            <a:r>
              <a:rPr lang="en-US" sz="2700" b="1" dirty="0">
                <a:solidFill>
                  <a:srgbClr val="F3F7FD"/>
                </a:solidFill>
                <a:latin typeface="Georgia" pitchFamily="34" charset="0"/>
                <a:ea typeface="Georgia" pitchFamily="34" charset="-122"/>
                <a:cs typeface="Georgia" pitchFamily="34" charset="-120"/>
              </a:rPr>
              <a:t>Los chollos buenos se pierden antes de tiempo</a:t>
            </a:r>
            <a:endParaRPr lang="en-US" sz="2700" dirty="0"/>
          </a:p>
        </p:txBody>
      </p:sp>
      <p:sp>
        <p:nvSpPr>
          <p:cNvPr id="6" name="Text 3"/>
          <p:cNvSpPr/>
          <p:nvPr/>
        </p:nvSpPr>
        <p:spPr>
          <a:xfrm>
            <a:off x="566928" y="1691640"/>
            <a:ext cx="5212080" cy="1188720"/>
          </a:xfrm>
          <a:prstGeom prst="rect">
            <a:avLst/>
          </a:prstGeom>
          <a:noFill/>
          <a:ln/>
        </p:spPr>
        <p:txBody>
          <a:bodyPr wrap="square" rtlCol="0" anchor="t"/>
          <a:lstStyle/>
          <a:p>
            <a:pPr marL="0" indent="0">
              <a:lnSpc>
                <a:spcPct val="118000"/>
              </a:lnSpc>
              <a:buNone/>
            </a:pPr>
            <a:r>
              <a:rPr lang="en-US" sz="1600" dirty="0">
                <a:solidFill>
                  <a:srgbClr val="C3CEDE"/>
                </a:solidFill>
                <a:latin typeface="Calibri" pitchFamily="34" charset="0"/>
                <a:ea typeface="Calibri" pitchFamily="34" charset="-122"/>
                <a:cs typeface="Calibri" pitchFamily="34" charset="-120"/>
              </a:rPr>
              <a:t>Las mejores ofertas tecnológicas están </a:t>
            </a:r>
            <a:r>
              <a:rPr lang="en-US" sz="1600" b="1" dirty="0">
                <a:solidFill>
                  <a:srgbClr val="FF6A2B"/>
                </a:solidFill>
                <a:latin typeface="Calibri" pitchFamily="34" charset="0"/>
                <a:ea typeface="Calibri" pitchFamily="34" charset="-122"/>
                <a:cs typeface="Calibri" pitchFamily="34" charset="-120"/>
              </a:rPr>
              <a:t>dispersas</a:t>
            </a:r>
            <a:r>
              <a:rPr lang="en-US" sz="1600" dirty="0">
                <a:solidFill>
                  <a:srgbClr val="C3CEDE"/>
                </a:solidFill>
                <a:latin typeface="Calibri" pitchFamily="34" charset="0"/>
                <a:ea typeface="Calibri" pitchFamily="34" charset="-122"/>
                <a:cs typeface="Calibri" pitchFamily="34" charset="-120"/>
              </a:rPr>
              <a:t> (Amazon, foros, canales cerrados) y son </a:t>
            </a:r>
            <a:r>
              <a:rPr lang="en-US" sz="1600" b="1" dirty="0">
                <a:solidFill>
                  <a:srgbClr val="FF6A2B"/>
                </a:solidFill>
                <a:latin typeface="Calibri" pitchFamily="34" charset="0"/>
                <a:ea typeface="Calibri" pitchFamily="34" charset="-122"/>
                <a:cs typeface="Calibri" pitchFamily="34" charset="-120"/>
              </a:rPr>
              <a:t>efímeras</a:t>
            </a:r>
            <a:r>
              <a:rPr lang="en-US" sz="1600" dirty="0">
                <a:solidFill>
                  <a:srgbClr val="C3CEDE"/>
                </a:solidFill>
                <a:latin typeface="Calibri" pitchFamily="34" charset="0"/>
                <a:ea typeface="Calibri" pitchFamily="34" charset="-122"/>
                <a:cs typeface="Calibri" pitchFamily="34" charset="-120"/>
              </a:rPr>
              <a:t>: caducan antes de que el interesado las encuentre.</a:t>
            </a:r>
            <a:endParaRPr lang="en-US" sz="1600" dirty="0"/>
          </a:p>
        </p:txBody>
      </p:sp>
      <p:sp>
        <p:nvSpPr>
          <p:cNvPr id="7" name="Text 4"/>
          <p:cNvSpPr/>
          <p:nvPr/>
        </p:nvSpPr>
        <p:spPr>
          <a:xfrm>
            <a:off x="566928" y="2971800"/>
            <a:ext cx="5212080" cy="274320"/>
          </a:xfrm>
          <a:prstGeom prst="rect">
            <a:avLst/>
          </a:prstGeom>
          <a:noFill/>
          <a:ln/>
        </p:spPr>
        <p:txBody>
          <a:bodyPr wrap="square" lIns="0" tIns="0" rIns="0" bIns="0" rtlCol="0" anchor="ctr"/>
          <a:lstStyle/>
          <a:p>
            <a:pPr marL="0" indent="0">
              <a:buNone/>
            </a:pPr>
            <a:r>
              <a:rPr lang="en-US" sz="1100" b="1" kern="0" spc="150" dirty="0">
                <a:solidFill>
                  <a:srgbClr val="37D6C3"/>
                </a:solidFill>
                <a:latin typeface="Calibri" pitchFamily="34" charset="0"/>
                <a:ea typeface="Calibri" pitchFamily="34" charset="-122"/>
                <a:cs typeface="Calibri" pitchFamily="34" charset="-120"/>
              </a:rPr>
              <a:t>EL MERCADO ACTUAL NO LO RESUELVE</a:t>
            </a:r>
            <a:endParaRPr lang="en-US" sz="1100" dirty="0"/>
          </a:p>
        </p:txBody>
      </p:sp>
      <p:sp>
        <p:nvSpPr>
          <p:cNvPr id="8" name="Shape 5"/>
          <p:cNvSpPr/>
          <p:nvPr/>
        </p:nvSpPr>
        <p:spPr>
          <a:xfrm>
            <a:off x="566928" y="3310128"/>
            <a:ext cx="5212080" cy="841248"/>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9" name="Image 1" descr="preencoded.png"/>
          <p:cNvPicPr>
            <a:picLocks noChangeAspect="1"/>
          </p:cNvPicPr>
          <p:nvPr/>
        </p:nvPicPr>
        <p:blipFill>
          <a:blip r:embed="rId5"/>
          <a:stretch>
            <a:fillRect/>
          </a:stretch>
        </p:blipFill>
        <p:spPr>
          <a:xfrm>
            <a:off x="566928" y="3310128"/>
            <a:ext cx="82296" cy="841248"/>
          </a:xfrm>
          <a:prstGeom prst="rect">
            <a:avLst/>
          </a:prstGeom>
        </p:spPr>
      </p:pic>
      <p:pic>
        <p:nvPicPr>
          <p:cNvPr id="10" name="Image 2" descr="preencoded.png"/>
          <p:cNvPicPr>
            <a:picLocks noChangeAspect="1"/>
          </p:cNvPicPr>
          <p:nvPr/>
        </p:nvPicPr>
        <p:blipFill>
          <a:blip r:embed="rId6"/>
          <a:stretch>
            <a:fillRect/>
          </a:stretch>
        </p:blipFill>
        <p:spPr>
          <a:xfrm>
            <a:off x="822960" y="3557016"/>
            <a:ext cx="365760" cy="365760"/>
          </a:xfrm>
          <a:prstGeom prst="rect">
            <a:avLst/>
          </a:prstGeom>
        </p:spPr>
      </p:pic>
      <p:sp>
        <p:nvSpPr>
          <p:cNvPr id="11" name="Text 6"/>
          <p:cNvSpPr/>
          <p:nvPr/>
        </p:nvSpPr>
        <p:spPr>
          <a:xfrm>
            <a:off x="1371600" y="3310128"/>
            <a:ext cx="4297680" cy="841248"/>
          </a:xfrm>
          <a:prstGeom prst="rect">
            <a:avLst/>
          </a:prstGeom>
          <a:noFill/>
          <a:ln/>
        </p:spPr>
        <p:txBody>
          <a:bodyPr wrap="square" lIns="0" tIns="0" rIns="0" bIns="0" rtlCol="0" anchor="ctr"/>
          <a:lstStyle/>
          <a:p>
            <a:pPr marL="0" indent="0">
              <a:buNone/>
            </a:pPr>
            <a:r>
              <a:rPr lang="en-US" sz="1400" b="1" dirty="0">
                <a:solidFill>
                  <a:srgbClr val="F3F7FD"/>
                </a:solidFill>
                <a:latin typeface="Calibri" pitchFamily="34" charset="0"/>
                <a:ea typeface="Calibri" pitchFamily="34" charset="-122"/>
                <a:cs typeface="Calibri" pitchFamily="34" charset="-120"/>
              </a:rPr>
              <a:t>Chollometro  </a:t>
            </a:r>
            <a:r>
              <a:rPr lang="en-US" sz="1200" dirty="0">
                <a:solidFill>
                  <a:srgbClr val="C3CEDE"/>
                </a:solidFill>
                <a:latin typeface="Calibri" pitchFamily="34" charset="0"/>
                <a:ea typeface="Calibri" pitchFamily="34" charset="-122"/>
                <a:cs typeface="Calibri" pitchFamily="34" charset="-120"/>
              </a:rPr>
              <a:t>Voto masivo abierto: ruido y poca curación.</a:t>
            </a:r>
            <a:endParaRPr lang="en-US" sz="1400" dirty="0"/>
          </a:p>
        </p:txBody>
      </p:sp>
      <p:sp>
        <p:nvSpPr>
          <p:cNvPr id="12" name="Shape 7"/>
          <p:cNvSpPr/>
          <p:nvPr/>
        </p:nvSpPr>
        <p:spPr>
          <a:xfrm>
            <a:off x="566928" y="4261104"/>
            <a:ext cx="5212080" cy="841248"/>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3" name="Image 3" descr="preencoded.png"/>
          <p:cNvPicPr>
            <a:picLocks noChangeAspect="1"/>
          </p:cNvPicPr>
          <p:nvPr/>
        </p:nvPicPr>
        <p:blipFill>
          <a:blip r:embed="rId5"/>
          <a:stretch>
            <a:fillRect/>
          </a:stretch>
        </p:blipFill>
        <p:spPr>
          <a:xfrm>
            <a:off x="566928" y="4261104"/>
            <a:ext cx="82296" cy="841248"/>
          </a:xfrm>
          <a:prstGeom prst="rect">
            <a:avLst/>
          </a:prstGeom>
        </p:spPr>
      </p:pic>
      <p:pic>
        <p:nvPicPr>
          <p:cNvPr id="14" name="Image 4" descr="preencoded.png"/>
          <p:cNvPicPr>
            <a:picLocks noChangeAspect="1"/>
          </p:cNvPicPr>
          <p:nvPr/>
        </p:nvPicPr>
        <p:blipFill>
          <a:blip r:embed="rId7"/>
          <a:stretch>
            <a:fillRect/>
          </a:stretch>
        </p:blipFill>
        <p:spPr>
          <a:xfrm>
            <a:off x="822960" y="4507992"/>
            <a:ext cx="365760" cy="365760"/>
          </a:xfrm>
          <a:prstGeom prst="rect">
            <a:avLst/>
          </a:prstGeom>
        </p:spPr>
      </p:pic>
      <p:sp>
        <p:nvSpPr>
          <p:cNvPr id="15" name="Text 8"/>
          <p:cNvSpPr/>
          <p:nvPr/>
        </p:nvSpPr>
        <p:spPr>
          <a:xfrm>
            <a:off x="1371600" y="4261104"/>
            <a:ext cx="4297680" cy="841248"/>
          </a:xfrm>
          <a:prstGeom prst="rect">
            <a:avLst/>
          </a:prstGeom>
          <a:noFill/>
          <a:ln/>
        </p:spPr>
        <p:txBody>
          <a:bodyPr wrap="square" lIns="0" tIns="0" rIns="0" bIns="0" rtlCol="0" anchor="ctr"/>
          <a:lstStyle/>
          <a:p>
            <a:pPr marL="0" indent="0">
              <a:buNone/>
            </a:pPr>
            <a:r>
              <a:rPr lang="en-US" sz="1400" b="1" dirty="0">
                <a:solidFill>
                  <a:srgbClr val="F3F7FD"/>
                </a:solidFill>
                <a:latin typeface="Calibri" pitchFamily="34" charset="0"/>
                <a:ea typeface="Calibri" pitchFamily="34" charset="-122"/>
                <a:cs typeface="Calibri" pitchFamily="34" charset="-120"/>
              </a:rPr>
              <a:t>Retailers verticales  </a:t>
            </a:r>
            <a:r>
              <a:rPr lang="en-US" sz="1200" dirty="0">
                <a:solidFill>
                  <a:srgbClr val="C3CEDE"/>
                </a:solidFill>
                <a:latin typeface="Calibri" pitchFamily="34" charset="0"/>
                <a:ea typeface="Calibri" pitchFamily="34" charset="-122"/>
                <a:cs typeface="Calibri" pitchFamily="34" charset="-120"/>
              </a:rPr>
              <a:t>Una sola tienda; visión parcial del mercado.</a:t>
            </a:r>
            <a:endParaRPr lang="en-US" sz="1400" dirty="0"/>
          </a:p>
        </p:txBody>
      </p:sp>
      <p:sp>
        <p:nvSpPr>
          <p:cNvPr id="16" name="Shape 9"/>
          <p:cNvSpPr/>
          <p:nvPr/>
        </p:nvSpPr>
        <p:spPr>
          <a:xfrm>
            <a:off x="566928" y="5212080"/>
            <a:ext cx="5212080" cy="841248"/>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7" name="Image 5" descr="preencoded.png"/>
          <p:cNvPicPr>
            <a:picLocks noChangeAspect="1"/>
          </p:cNvPicPr>
          <p:nvPr/>
        </p:nvPicPr>
        <p:blipFill>
          <a:blip r:embed="rId5"/>
          <a:stretch>
            <a:fillRect/>
          </a:stretch>
        </p:blipFill>
        <p:spPr>
          <a:xfrm>
            <a:off x="566928" y="5212080"/>
            <a:ext cx="82296" cy="841248"/>
          </a:xfrm>
          <a:prstGeom prst="rect">
            <a:avLst/>
          </a:prstGeom>
        </p:spPr>
      </p:pic>
      <p:pic>
        <p:nvPicPr>
          <p:cNvPr id="18" name="Image 6" descr="preencoded.png"/>
          <p:cNvPicPr>
            <a:picLocks noChangeAspect="1"/>
          </p:cNvPicPr>
          <p:nvPr/>
        </p:nvPicPr>
        <p:blipFill>
          <a:blip r:embed="rId8"/>
          <a:stretch>
            <a:fillRect/>
          </a:stretch>
        </p:blipFill>
        <p:spPr>
          <a:xfrm>
            <a:off x="822960" y="5458968"/>
            <a:ext cx="365760" cy="365760"/>
          </a:xfrm>
          <a:prstGeom prst="rect">
            <a:avLst/>
          </a:prstGeom>
        </p:spPr>
      </p:pic>
      <p:sp>
        <p:nvSpPr>
          <p:cNvPr id="19" name="Text 10"/>
          <p:cNvSpPr/>
          <p:nvPr/>
        </p:nvSpPr>
        <p:spPr>
          <a:xfrm>
            <a:off x="1371600" y="5212080"/>
            <a:ext cx="4297680" cy="841248"/>
          </a:xfrm>
          <a:prstGeom prst="rect">
            <a:avLst/>
          </a:prstGeom>
          <a:noFill/>
          <a:ln/>
        </p:spPr>
        <p:txBody>
          <a:bodyPr wrap="square" lIns="0" tIns="0" rIns="0" bIns="0" rtlCol="0" anchor="ctr"/>
          <a:lstStyle/>
          <a:p>
            <a:pPr marL="0" indent="0">
              <a:buNone/>
            </a:pPr>
            <a:r>
              <a:rPr lang="en-US" sz="1400" b="1" dirty="0">
                <a:solidFill>
                  <a:srgbClr val="F3F7FD"/>
                </a:solidFill>
                <a:latin typeface="Calibri" pitchFamily="34" charset="0"/>
                <a:ea typeface="Calibri" pitchFamily="34" charset="-122"/>
                <a:cs typeface="Calibri" pitchFamily="34" charset="-120"/>
              </a:rPr>
              <a:t>Agregadores SEO  </a:t>
            </a:r>
            <a:r>
              <a:rPr lang="en-US" sz="1200" dirty="0">
                <a:solidFill>
                  <a:srgbClr val="C3CEDE"/>
                </a:solidFill>
                <a:latin typeface="Calibri" pitchFamily="34" charset="0"/>
                <a:ea typeface="Calibri" pitchFamily="34" charset="-122"/>
                <a:cs typeface="Calibri" pitchFamily="34" charset="-120"/>
              </a:rPr>
              <a:t>Spam y dependencia de la publicidad.</a:t>
            </a:r>
            <a:endParaRPr lang="en-US" sz="1400" dirty="0"/>
          </a:p>
        </p:txBody>
      </p:sp>
      <p:sp>
        <p:nvSpPr>
          <p:cNvPr id="20" name="Shape 11"/>
          <p:cNvSpPr/>
          <p:nvPr/>
        </p:nvSpPr>
        <p:spPr>
          <a:xfrm>
            <a:off x="6263640" y="1691640"/>
            <a:ext cx="5358384" cy="4434840"/>
          </a:xfrm>
          <a:prstGeom prst="rect">
            <a:avLst/>
          </a:prstGeom>
          <a:solidFill>
            <a:srgbClr val="0E1830"/>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21" name="Image 7" descr="preencoded.png"/>
          <p:cNvPicPr>
            <a:picLocks noChangeAspect="1"/>
          </p:cNvPicPr>
          <p:nvPr/>
        </p:nvPicPr>
        <p:blipFill>
          <a:blip r:embed="rId9"/>
          <a:stretch>
            <a:fillRect/>
          </a:stretch>
        </p:blipFill>
        <p:spPr>
          <a:xfrm>
            <a:off x="6263640" y="1691640"/>
            <a:ext cx="5358384" cy="73152"/>
          </a:xfrm>
          <a:prstGeom prst="rect">
            <a:avLst/>
          </a:prstGeom>
        </p:spPr>
      </p:pic>
      <p:pic>
        <p:nvPicPr>
          <p:cNvPr id="22" name="Image 8" descr="preencoded.png"/>
          <p:cNvPicPr>
            <a:picLocks noChangeAspect="1"/>
          </p:cNvPicPr>
          <p:nvPr/>
        </p:nvPicPr>
        <p:blipFill>
          <a:blip r:embed="rId10"/>
          <a:stretch>
            <a:fillRect/>
          </a:stretch>
        </p:blipFill>
        <p:spPr>
          <a:xfrm>
            <a:off x="10250424" y="731520"/>
            <a:ext cx="2194560" cy="2194560"/>
          </a:xfrm>
          <a:prstGeom prst="rect">
            <a:avLst/>
          </a:prstGeom>
        </p:spPr>
      </p:pic>
      <p:sp>
        <p:nvSpPr>
          <p:cNvPr id="23" name="Text 12"/>
          <p:cNvSpPr/>
          <p:nvPr/>
        </p:nvSpPr>
        <p:spPr>
          <a:xfrm>
            <a:off x="6583680" y="1938528"/>
            <a:ext cx="4718304" cy="320040"/>
          </a:xfrm>
          <a:prstGeom prst="rect">
            <a:avLst/>
          </a:prstGeom>
          <a:noFill/>
          <a:ln/>
        </p:spPr>
        <p:txBody>
          <a:bodyPr wrap="square" lIns="0" tIns="0" rIns="0" bIns="0" rtlCol="0" anchor="ctr"/>
          <a:lstStyle/>
          <a:p>
            <a:pPr marL="0" indent="0">
              <a:buNone/>
            </a:pPr>
            <a:r>
              <a:rPr lang="en-US" sz="1200" b="1" kern="0" spc="150" dirty="0">
                <a:solidFill>
                  <a:srgbClr val="FF6A2B"/>
                </a:solidFill>
                <a:latin typeface="Calibri" pitchFamily="34" charset="0"/>
                <a:ea typeface="Calibri" pitchFamily="34" charset="-122"/>
                <a:cs typeface="Calibri" pitchFamily="34" charset="-120"/>
              </a:rPr>
              <a:t>NUESTRO POSICIONAMIENTO</a:t>
            </a:r>
            <a:endParaRPr lang="en-US" sz="1200" dirty="0"/>
          </a:p>
        </p:txBody>
      </p:sp>
      <p:sp>
        <p:nvSpPr>
          <p:cNvPr id="24" name="Text 13"/>
          <p:cNvSpPr/>
          <p:nvPr/>
        </p:nvSpPr>
        <p:spPr>
          <a:xfrm>
            <a:off x="6583680" y="2240280"/>
            <a:ext cx="4718304" cy="685800"/>
          </a:xfrm>
          <a:prstGeom prst="rect">
            <a:avLst/>
          </a:prstGeom>
          <a:noFill/>
          <a:ln/>
        </p:spPr>
        <p:txBody>
          <a:bodyPr wrap="square" lIns="0" tIns="0" rIns="0" bIns="0" rtlCol="0" anchor="ctr"/>
          <a:lstStyle/>
          <a:p>
            <a:pPr marL="0" indent="0">
              <a:buNone/>
            </a:pPr>
            <a:r>
              <a:rPr lang="en-US" sz="2100" b="1" dirty="0">
                <a:solidFill>
                  <a:srgbClr val="F3F7FD"/>
                </a:solidFill>
                <a:latin typeface="Georgia" pitchFamily="34" charset="0"/>
                <a:ea typeface="Georgia" pitchFamily="34" charset="-122"/>
                <a:cs typeface="Georgia" pitchFamily="34" charset="-120"/>
              </a:rPr>
              <a:t>Curación humana + IA + comunidad, multicanal</a:t>
            </a:r>
            <a:endParaRPr lang="en-US" sz="2100" dirty="0"/>
          </a:p>
        </p:txBody>
      </p:sp>
      <p:pic>
        <p:nvPicPr>
          <p:cNvPr id="25" name="Image 9" descr="preencoded.png"/>
          <p:cNvPicPr>
            <a:picLocks noChangeAspect="1"/>
          </p:cNvPicPr>
          <p:nvPr/>
        </p:nvPicPr>
        <p:blipFill>
          <a:blip r:embed="rId11"/>
          <a:stretch>
            <a:fillRect/>
          </a:stretch>
        </p:blipFill>
        <p:spPr>
          <a:xfrm>
            <a:off x="6583680" y="3099816"/>
            <a:ext cx="402336" cy="402336"/>
          </a:xfrm>
          <a:prstGeom prst="rect">
            <a:avLst/>
          </a:prstGeom>
        </p:spPr>
      </p:pic>
      <p:sp>
        <p:nvSpPr>
          <p:cNvPr id="26" name="Text 14"/>
          <p:cNvSpPr/>
          <p:nvPr/>
        </p:nvSpPr>
        <p:spPr>
          <a:xfrm>
            <a:off x="7132320" y="3008376"/>
            <a:ext cx="4215384" cy="731520"/>
          </a:xfrm>
          <a:prstGeom prst="rect">
            <a:avLst/>
          </a:prstGeom>
          <a:noFill/>
          <a:ln/>
        </p:spPr>
        <p:txBody>
          <a:bodyPr wrap="square" lIns="0" tIns="0" rIns="0" bIns="0" rtlCol="0" anchor="ctr"/>
          <a:lstStyle/>
          <a:p>
            <a:pPr marL="0" indent="0">
              <a:lnSpc>
                <a:spcPct val="105000"/>
              </a:lnSpc>
              <a:buNone/>
            </a:pPr>
            <a:r>
              <a:rPr lang="en-US" sz="1400" b="1" dirty="0">
                <a:solidFill>
                  <a:srgbClr val="F3F7FD"/>
                </a:solidFill>
                <a:latin typeface="Calibri" pitchFamily="34" charset="0"/>
                <a:ea typeface="Calibri" pitchFamily="34" charset="-122"/>
                <a:cs typeface="Calibri" pitchFamily="34" charset="-120"/>
              </a:rPr>
              <a:t>Feed público y abierto</a:t>
            </a:r>
            <a:endParaRPr lang="en-US" sz="1400" dirty="0"/>
          </a:p>
          <a:p>
            <a:pPr marL="0" indent="0">
              <a:lnSpc>
                <a:spcPct val="105000"/>
              </a:lnSpc>
              <a:buNone/>
            </a:pPr>
            <a:r>
              <a:rPr lang="en-US" sz="1200" dirty="0">
                <a:solidFill>
                  <a:srgbClr val="C3CEDE"/>
                </a:solidFill>
                <a:latin typeface="Calibri" pitchFamily="34" charset="0"/>
                <a:ea typeface="Calibri" pitchFamily="34" charset="-122"/>
                <a:cs typeface="Calibri" pitchFamily="34" charset="-120"/>
              </a:rPr>
              <a:t>Explora sin registrarte; histórico de precios.</a:t>
            </a:r>
            <a:endParaRPr lang="en-US" sz="1400" dirty="0"/>
          </a:p>
        </p:txBody>
      </p:sp>
      <p:pic>
        <p:nvPicPr>
          <p:cNvPr id="27" name="Image 10" descr="preencoded.png"/>
          <p:cNvPicPr>
            <a:picLocks noChangeAspect="1"/>
          </p:cNvPicPr>
          <p:nvPr/>
        </p:nvPicPr>
        <p:blipFill>
          <a:blip r:embed="rId12"/>
          <a:stretch>
            <a:fillRect/>
          </a:stretch>
        </p:blipFill>
        <p:spPr>
          <a:xfrm>
            <a:off x="6583680" y="3849624"/>
            <a:ext cx="402336" cy="402336"/>
          </a:xfrm>
          <a:prstGeom prst="rect">
            <a:avLst/>
          </a:prstGeom>
        </p:spPr>
      </p:pic>
      <p:sp>
        <p:nvSpPr>
          <p:cNvPr id="28" name="Text 15"/>
          <p:cNvSpPr/>
          <p:nvPr/>
        </p:nvSpPr>
        <p:spPr>
          <a:xfrm>
            <a:off x="7132320" y="3758184"/>
            <a:ext cx="4215384" cy="731520"/>
          </a:xfrm>
          <a:prstGeom prst="rect">
            <a:avLst/>
          </a:prstGeom>
          <a:noFill/>
          <a:ln/>
        </p:spPr>
        <p:txBody>
          <a:bodyPr wrap="square" lIns="0" tIns="0" rIns="0" bIns="0" rtlCol="0" anchor="ctr"/>
          <a:lstStyle/>
          <a:p>
            <a:pPr marL="0" indent="0">
              <a:lnSpc>
                <a:spcPct val="105000"/>
              </a:lnSpc>
              <a:buNone/>
            </a:pPr>
            <a:r>
              <a:rPr lang="en-US" sz="1400" b="1" dirty="0">
                <a:solidFill>
                  <a:srgbClr val="F3F7FD"/>
                </a:solidFill>
                <a:latin typeface="Calibri" pitchFamily="34" charset="0"/>
                <a:ea typeface="Calibri" pitchFamily="34" charset="-122"/>
                <a:cs typeface="Calibri" pitchFamily="34" charset="-120"/>
              </a:rPr>
              <a:t>Curación de un admin humano</a:t>
            </a:r>
            <a:endParaRPr lang="en-US" sz="1400" dirty="0"/>
          </a:p>
          <a:p>
            <a:pPr marL="0" indent="0">
              <a:lnSpc>
                <a:spcPct val="105000"/>
              </a:lnSpc>
              <a:buNone/>
            </a:pPr>
            <a:r>
              <a:rPr lang="en-US" sz="1200" dirty="0">
                <a:solidFill>
                  <a:srgbClr val="C3CEDE"/>
                </a:solidFill>
                <a:latin typeface="Calibri" pitchFamily="34" charset="0"/>
                <a:ea typeface="Calibri" pitchFamily="34" charset="-122"/>
                <a:cs typeface="Calibri" pitchFamily="34" charset="-120"/>
              </a:rPr>
              <a:t>Selección, no avalancha de ofertas.</a:t>
            </a:r>
            <a:endParaRPr lang="en-US" sz="1400" dirty="0"/>
          </a:p>
        </p:txBody>
      </p:sp>
      <p:pic>
        <p:nvPicPr>
          <p:cNvPr id="29" name="Image 11" descr="preencoded.png"/>
          <p:cNvPicPr>
            <a:picLocks noChangeAspect="1"/>
          </p:cNvPicPr>
          <p:nvPr/>
        </p:nvPicPr>
        <p:blipFill>
          <a:blip r:embed="rId13"/>
          <a:stretch>
            <a:fillRect/>
          </a:stretch>
        </p:blipFill>
        <p:spPr>
          <a:xfrm>
            <a:off x="6583680" y="4599432"/>
            <a:ext cx="402336" cy="402336"/>
          </a:xfrm>
          <a:prstGeom prst="rect">
            <a:avLst/>
          </a:prstGeom>
        </p:spPr>
      </p:pic>
      <p:sp>
        <p:nvSpPr>
          <p:cNvPr id="30" name="Text 16"/>
          <p:cNvSpPr/>
          <p:nvPr/>
        </p:nvSpPr>
        <p:spPr>
          <a:xfrm>
            <a:off x="7132320" y="4507992"/>
            <a:ext cx="4215384" cy="731520"/>
          </a:xfrm>
          <a:prstGeom prst="rect">
            <a:avLst/>
          </a:prstGeom>
          <a:noFill/>
          <a:ln/>
        </p:spPr>
        <p:txBody>
          <a:bodyPr wrap="square" lIns="0" tIns="0" rIns="0" bIns="0" rtlCol="0" anchor="ctr"/>
          <a:lstStyle/>
          <a:p>
            <a:pPr marL="0" indent="0">
              <a:lnSpc>
                <a:spcPct val="105000"/>
              </a:lnSpc>
              <a:buNone/>
            </a:pPr>
            <a:r>
              <a:rPr lang="en-US" sz="1400" b="1" dirty="0">
                <a:solidFill>
                  <a:srgbClr val="F3F7FD"/>
                </a:solidFill>
                <a:latin typeface="Calibri" pitchFamily="34" charset="0"/>
                <a:ea typeface="Calibri" pitchFamily="34" charset="-122"/>
                <a:cs typeface="Calibri" pitchFamily="34" charset="-120"/>
              </a:rPr>
              <a:t>Enriquecimiento con IA</a:t>
            </a:r>
            <a:endParaRPr lang="en-US" sz="1400" dirty="0"/>
          </a:p>
          <a:p>
            <a:pPr marL="0" indent="0">
              <a:lnSpc>
                <a:spcPct val="105000"/>
              </a:lnSpc>
              <a:buNone/>
            </a:pPr>
            <a:r>
              <a:rPr lang="en-US" sz="1200" dirty="0">
                <a:solidFill>
                  <a:srgbClr val="C3CEDE"/>
                </a:solidFill>
                <a:latin typeface="Calibri" pitchFamily="34" charset="0"/>
                <a:ea typeface="Calibri" pitchFamily="34" charset="-122"/>
                <a:cs typeface="Calibri" pitchFamily="34" charset="-120"/>
              </a:rPr>
              <a:t>Datos y copy generados automáticamente.</a:t>
            </a:r>
            <a:endParaRPr lang="en-US" sz="1400" dirty="0"/>
          </a:p>
        </p:txBody>
      </p:sp>
      <p:pic>
        <p:nvPicPr>
          <p:cNvPr id="31" name="Image 12" descr="preencoded.png"/>
          <p:cNvPicPr>
            <a:picLocks noChangeAspect="1"/>
          </p:cNvPicPr>
          <p:nvPr/>
        </p:nvPicPr>
        <p:blipFill>
          <a:blip r:embed="rId14"/>
          <a:stretch>
            <a:fillRect/>
          </a:stretch>
        </p:blipFill>
        <p:spPr>
          <a:xfrm>
            <a:off x="6583680" y="5349240"/>
            <a:ext cx="402336" cy="402336"/>
          </a:xfrm>
          <a:prstGeom prst="rect">
            <a:avLst/>
          </a:prstGeom>
        </p:spPr>
      </p:pic>
      <p:sp>
        <p:nvSpPr>
          <p:cNvPr id="32" name="Text 17"/>
          <p:cNvSpPr/>
          <p:nvPr/>
        </p:nvSpPr>
        <p:spPr>
          <a:xfrm>
            <a:off x="7132320" y="5257800"/>
            <a:ext cx="4215384" cy="731520"/>
          </a:xfrm>
          <a:prstGeom prst="rect">
            <a:avLst/>
          </a:prstGeom>
          <a:noFill/>
          <a:ln/>
        </p:spPr>
        <p:txBody>
          <a:bodyPr wrap="square" lIns="0" tIns="0" rIns="0" bIns="0" rtlCol="0" anchor="ctr"/>
          <a:lstStyle/>
          <a:p>
            <a:pPr marL="0" indent="0">
              <a:lnSpc>
                <a:spcPct val="105000"/>
              </a:lnSpc>
              <a:buNone/>
            </a:pPr>
            <a:r>
              <a:rPr lang="en-US" sz="1400" b="1" dirty="0">
                <a:solidFill>
                  <a:srgbClr val="F3F7FD"/>
                </a:solidFill>
                <a:latin typeface="Calibri" pitchFamily="34" charset="0"/>
                <a:ea typeface="Calibri" pitchFamily="34" charset="-122"/>
                <a:cs typeface="Calibri" pitchFamily="34" charset="-120"/>
              </a:rPr>
              <a:t>Distribución multicanal</a:t>
            </a:r>
            <a:endParaRPr lang="en-US" sz="1400" dirty="0"/>
          </a:p>
          <a:p>
            <a:pPr marL="0" indent="0">
              <a:lnSpc>
                <a:spcPct val="105000"/>
              </a:lnSpc>
              <a:buNone/>
            </a:pPr>
            <a:r>
              <a:rPr lang="en-US" sz="1200" dirty="0">
                <a:solidFill>
                  <a:srgbClr val="C3CEDE"/>
                </a:solidFill>
                <a:latin typeface="Calibri" pitchFamily="34" charset="0"/>
                <a:ea typeface="Calibri" pitchFamily="34" charset="-122"/>
                <a:cs typeface="Calibri" pitchFamily="34" charset="-120"/>
              </a:rPr>
              <a:t>Web + Telegram + alertas in-app.</a:t>
            </a:r>
            <a:endParaRPr lang="en-US" sz="1400" dirty="0"/>
          </a:p>
        </p:txBody>
      </p:sp>
      <p:sp>
        <p:nvSpPr>
          <p:cNvPr id="34" name="Text 18"/>
          <p:cNvSpPr/>
          <p:nvPr/>
        </p:nvSpPr>
        <p:spPr>
          <a:xfrm>
            <a:off x="566928" y="6446520"/>
            <a:ext cx="8229600" cy="292608"/>
          </a:xfrm>
          <a:prstGeom prst="rect">
            <a:avLst/>
          </a:prstGeom>
          <a:noFill/>
          <a:ln/>
        </p:spPr>
        <p:txBody>
          <a:bodyPr wrap="square" lIns="0" tIns="0" rIns="0" bIns="0" rtlCol="0" anchor="ctr"/>
          <a:lstStyle/>
          <a:p>
            <a:pPr marL="0" indent="0">
              <a:buNone/>
            </a:pPr>
            <a:r>
              <a:rPr lang="en-US" sz="900" dirty="0">
                <a:solidFill>
                  <a:srgbClr val="8492A6"/>
                </a:solidFill>
                <a:latin typeface="Calibri" pitchFamily="34" charset="0"/>
                <a:ea typeface="Calibri" pitchFamily="34" charset="-122"/>
                <a:cs typeface="Calibri" pitchFamily="34" charset="-120"/>
              </a:rPr>
              <a:t>BuenCholloTech · TFM Máster en Desarrollo con IA 2025</a:t>
            </a:r>
            <a:endParaRPr lang="en-US" sz="900" dirty="0"/>
          </a:p>
        </p:txBody>
      </p:sp>
      <p:sp>
        <p:nvSpPr>
          <p:cNvPr id="35" name="Text 19"/>
          <p:cNvSpPr/>
          <p:nvPr/>
        </p:nvSpPr>
        <p:spPr>
          <a:xfrm>
            <a:off x="10527487" y="6446520"/>
            <a:ext cx="1097280" cy="292608"/>
          </a:xfrm>
          <a:prstGeom prst="rect">
            <a:avLst/>
          </a:prstGeom>
          <a:noFill/>
          <a:ln/>
        </p:spPr>
        <p:txBody>
          <a:bodyPr wrap="square" lIns="0" tIns="0" rIns="0" bIns="0"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02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928" y="457200"/>
            <a:ext cx="1556309" cy="310896"/>
          </a:xfrm>
          <a:prstGeom prst="roundRect">
            <a:avLst>
              <a:gd name="adj" fmla="val 50000"/>
            </a:avLst>
          </a:prstGeom>
          <a:solidFill>
            <a:srgbClr val="FF6A2B"/>
          </a:solidFill>
          <a:ln/>
        </p:spPr>
        <p:txBody>
          <a:bodyPr/>
          <a:lstStyle/>
          <a:p>
            <a:endParaRPr lang="es-ES"/>
          </a:p>
        </p:txBody>
      </p:sp>
      <p:sp>
        <p:nvSpPr>
          <p:cNvPr id="3" name="Text 1"/>
          <p:cNvSpPr/>
          <p:nvPr/>
        </p:nvSpPr>
        <p:spPr>
          <a:xfrm>
            <a:off x="566928" y="457200"/>
            <a:ext cx="1556309" cy="310896"/>
          </a:xfrm>
          <a:prstGeom prst="rect">
            <a:avLst/>
          </a:prstGeom>
          <a:noFill/>
          <a:ln/>
        </p:spPr>
        <p:txBody>
          <a:bodyPr wrap="square" lIns="0" tIns="0" rIns="0" bIns="0" rtlCol="0" anchor="ctr"/>
          <a:lstStyle/>
          <a:p>
            <a:pPr marL="0" indent="0" algn="ctr">
              <a:buNone/>
            </a:pPr>
            <a:r>
              <a:rPr lang="en-US" sz="1050" b="1" kern="0" spc="100" dirty="0">
                <a:solidFill>
                  <a:srgbClr val="0A0F1A"/>
                </a:solidFill>
                <a:latin typeface="Calibri" pitchFamily="34" charset="0"/>
                <a:ea typeface="Calibri" pitchFamily="34" charset="-122"/>
                <a:cs typeface="Calibri" pitchFamily="34" charset="-120"/>
              </a:rPr>
              <a:t>LA SOLUCIÓN</a:t>
            </a:r>
            <a:endParaRPr lang="en-US" sz="1050" dirty="0"/>
          </a:p>
        </p:txBody>
      </p:sp>
      <p:pic>
        <p:nvPicPr>
          <p:cNvPr id="4" name="Image 0" descr="preencoded.png"/>
          <p:cNvPicPr>
            <a:picLocks noChangeAspect="1"/>
          </p:cNvPicPr>
          <p:nvPr/>
        </p:nvPicPr>
        <p:blipFill>
          <a:blip r:embed="rId4"/>
          <a:stretch>
            <a:fillRect/>
          </a:stretch>
        </p:blipFill>
        <p:spPr>
          <a:xfrm>
            <a:off x="11057839" y="384048"/>
            <a:ext cx="457200" cy="457200"/>
          </a:xfrm>
          <a:prstGeom prst="rect">
            <a:avLst/>
          </a:prstGeom>
        </p:spPr>
      </p:pic>
      <p:sp>
        <p:nvSpPr>
          <p:cNvPr id="5" name="Text 2"/>
          <p:cNvSpPr/>
          <p:nvPr/>
        </p:nvSpPr>
        <p:spPr>
          <a:xfrm>
            <a:off x="566928" y="841248"/>
            <a:ext cx="10554919" cy="640080"/>
          </a:xfrm>
          <a:prstGeom prst="rect">
            <a:avLst/>
          </a:prstGeom>
          <a:noFill/>
          <a:ln/>
        </p:spPr>
        <p:txBody>
          <a:bodyPr wrap="square" lIns="0" tIns="0" rIns="0" bIns="0" rtlCol="0" anchor="ctr"/>
          <a:lstStyle/>
          <a:p>
            <a:pPr marL="0" indent="0">
              <a:buNone/>
            </a:pPr>
            <a:r>
              <a:rPr lang="en-US" sz="2700" b="1" dirty="0">
                <a:solidFill>
                  <a:srgbClr val="F3F7FD"/>
                </a:solidFill>
                <a:latin typeface="Georgia" pitchFamily="34" charset="0"/>
                <a:ea typeface="Georgia" pitchFamily="34" charset="-122"/>
                <a:cs typeface="Georgia" pitchFamily="34" charset="-120"/>
              </a:rPr>
              <a:t>Una plataforma viva: producto real + proyecto académico</a:t>
            </a:r>
            <a:endParaRPr lang="en-US" sz="2700" dirty="0"/>
          </a:p>
        </p:txBody>
      </p:sp>
      <p:sp>
        <p:nvSpPr>
          <p:cNvPr id="6" name="Text 3"/>
          <p:cNvSpPr/>
          <p:nvPr/>
        </p:nvSpPr>
        <p:spPr>
          <a:xfrm>
            <a:off x="566928" y="1645920"/>
            <a:ext cx="11064240" cy="777240"/>
          </a:xfrm>
          <a:prstGeom prst="rect">
            <a:avLst/>
          </a:prstGeom>
          <a:noFill/>
          <a:ln/>
        </p:spPr>
        <p:txBody>
          <a:bodyPr wrap="square" rtlCol="0" anchor="t"/>
          <a:lstStyle/>
          <a:p>
            <a:pPr marL="0" indent="0">
              <a:lnSpc>
                <a:spcPct val="115000"/>
              </a:lnSpc>
              <a:buNone/>
            </a:pPr>
            <a:r>
              <a:rPr lang="en-US" sz="1600" dirty="0">
                <a:solidFill>
                  <a:srgbClr val="C3CEDE"/>
                </a:solidFill>
                <a:latin typeface="Calibri" pitchFamily="34" charset="0"/>
                <a:ea typeface="Calibri" pitchFamily="34" charset="-122"/>
                <a:cs typeface="Calibri" pitchFamily="34" charset="-120"/>
              </a:rPr>
              <a:t>BuenCholloTech </a:t>
            </a:r>
            <a:r>
              <a:rPr lang="en-US" sz="1600" b="1" dirty="0">
                <a:solidFill>
                  <a:srgbClr val="FF6A2B"/>
                </a:solidFill>
                <a:latin typeface="Calibri" pitchFamily="34" charset="0"/>
                <a:ea typeface="Calibri" pitchFamily="34" charset="-122"/>
                <a:cs typeface="Calibri" pitchFamily="34" charset="-120"/>
              </a:rPr>
              <a:t>está en producción</a:t>
            </a:r>
            <a:r>
              <a:rPr lang="en-US" sz="1600" dirty="0">
                <a:solidFill>
                  <a:srgbClr val="C3CEDE"/>
                </a:solidFill>
                <a:latin typeface="Calibri" pitchFamily="34" charset="0"/>
                <a:ea typeface="Calibri" pitchFamily="34" charset="-122"/>
                <a:cs typeface="Calibri" pitchFamily="34" charset="-120"/>
              </a:rPr>
              <a:t> sirviendo a una comunidad real, y a la vez es el </a:t>
            </a:r>
            <a:r>
              <a:rPr lang="en-US" sz="1600" b="1" dirty="0">
                <a:solidFill>
                  <a:srgbClr val="37D6C3"/>
                </a:solidFill>
                <a:latin typeface="Calibri" pitchFamily="34" charset="0"/>
                <a:ea typeface="Calibri" pitchFamily="34" charset="-122"/>
                <a:cs typeface="Calibri" pitchFamily="34" charset="-120"/>
              </a:rPr>
              <a:t>Trabajo Final de Máster</a:t>
            </a:r>
            <a:r>
              <a:rPr lang="en-US" sz="1600" dirty="0">
                <a:solidFill>
                  <a:srgbClr val="C3CEDE"/>
                </a:solidFill>
                <a:latin typeface="Calibri" pitchFamily="34" charset="0"/>
                <a:ea typeface="Calibri" pitchFamily="34" charset="-122"/>
                <a:cs typeface="Calibri" pitchFamily="34" charset="-120"/>
              </a:rPr>
              <a:t>: cada decisión técnica es defendible académicamente.</a:t>
            </a:r>
            <a:endParaRPr lang="en-US" sz="1600" dirty="0"/>
          </a:p>
        </p:txBody>
      </p:sp>
      <p:sp>
        <p:nvSpPr>
          <p:cNvPr id="7" name="Shape 4"/>
          <p:cNvSpPr/>
          <p:nvPr/>
        </p:nvSpPr>
        <p:spPr>
          <a:xfrm>
            <a:off x="566928" y="2542032"/>
            <a:ext cx="2706624" cy="178308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8" name="Image 1" descr="preencoded.png"/>
          <p:cNvPicPr>
            <a:picLocks noChangeAspect="1"/>
          </p:cNvPicPr>
          <p:nvPr/>
        </p:nvPicPr>
        <p:blipFill>
          <a:blip r:embed="rId5"/>
          <a:stretch>
            <a:fillRect/>
          </a:stretch>
        </p:blipFill>
        <p:spPr>
          <a:xfrm>
            <a:off x="566928" y="2542032"/>
            <a:ext cx="2706624" cy="73152"/>
          </a:xfrm>
          <a:prstGeom prst="rect">
            <a:avLst/>
          </a:prstGeom>
        </p:spPr>
      </p:pic>
      <p:pic>
        <p:nvPicPr>
          <p:cNvPr id="9" name="Image 2" descr="preencoded.png"/>
          <p:cNvPicPr>
            <a:picLocks noChangeAspect="1"/>
          </p:cNvPicPr>
          <p:nvPr/>
        </p:nvPicPr>
        <p:blipFill>
          <a:blip r:embed="rId6"/>
          <a:stretch>
            <a:fillRect/>
          </a:stretch>
        </p:blipFill>
        <p:spPr>
          <a:xfrm>
            <a:off x="960120" y="2240280"/>
            <a:ext cx="1920240" cy="1920240"/>
          </a:xfrm>
          <a:prstGeom prst="rect">
            <a:avLst/>
          </a:prstGeom>
        </p:spPr>
      </p:pic>
      <p:sp>
        <p:nvSpPr>
          <p:cNvPr id="10" name="Text 5"/>
          <p:cNvSpPr/>
          <p:nvPr/>
        </p:nvSpPr>
        <p:spPr>
          <a:xfrm>
            <a:off x="566928" y="2697480"/>
            <a:ext cx="2706624" cy="960120"/>
          </a:xfrm>
          <a:prstGeom prst="rect">
            <a:avLst/>
          </a:prstGeom>
          <a:noFill/>
          <a:ln/>
        </p:spPr>
        <p:txBody>
          <a:bodyPr wrap="square" lIns="0" tIns="0" rIns="0" bIns="0" rtlCol="0" anchor="ctr"/>
          <a:lstStyle/>
          <a:p>
            <a:pPr marL="0" indent="0" algn="ctr">
              <a:buNone/>
            </a:pPr>
            <a:r>
              <a:rPr lang="en-US" sz="5200" b="1" dirty="0">
                <a:solidFill>
                  <a:srgbClr val="FF6A2B"/>
                </a:solidFill>
                <a:latin typeface="Georgia" pitchFamily="34" charset="0"/>
                <a:ea typeface="Georgia" pitchFamily="34" charset="-122"/>
                <a:cs typeface="Georgia" pitchFamily="34" charset="-120"/>
              </a:rPr>
              <a:t>167</a:t>
            </a:r>
            <a:endParaRPr lang="en-US" sz="5200" dirty="0"/>
          </a:p>
        </p:txBody>
      </p:sp>
      <p:sp>
        <p:nvSpPr>
          <p:cNvPr id="11" name="Text 6"/>
          <p:cNvSpPr/>
          <p:nvPr/>
        </p:nvSpPr>
        <p:spPr>
          <a:xfrm>
            <a:off x="704088" y="3657600"/>
            <a:ext cx="2432304" cy="548640"/>
          </a:xfrm>
          <a:prstGeom prst="rect">
            <a:avLst/>
          </a:prstGeom>
          <a:noFill/>
          <a:ln/>
        </p:spPr>
        <p:txBody>
          <a:bodyPr wrap="square" lIns="0" tIns="0" rIns="0" bIns="0" rtlCol="0" anchor="t"/>
          <a:lstStyle/>
          <a:p>
            <a:pPr marL="0" indent="0" algn="ctr">
              <a:buNone/>
            </a:pPr>
            <a:r>
              <a:rPr lang="en-US" sz="1200" dirty="0">
                <a:solidFill>
                  <a:srgbClr val="C3CEDE"/>
                </a:solidFill>
                <a:latin typeface="Calibri" pitchFamily="34" charset="0"/>
                <a:ea typeface="Calibri" pitchFamily="34" charset="-122"/>
                <a:cs typeface="Calibri" pitchFamily="34" charset="-120"/>
              </a:rPr>
              <a:t>tests automáticos · ~13 s</a:t>
            </a:r>
            <a:endParaRPr lang="en-US" sz="1200" dirty="0"/>
          </a:p>
        </p:txBody>
      </p:sp>
      <p:sp>
        <p:nvSpPr>
          <p:cNvPr id="12" name="Shape 7"/>
          <p:cNvSpPr/>
          <p:nvPr/>
        </p:nvSpPr>
        <p:spPr>
          <a:xfrm>
            <a:off x="3547872" y="2542032"/>
            <a:ext cx="2706624" cy="178308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3" name="Image 3" descr="preencoded.png"/>
          <p:cNvPicPr>
            <a:picLocks noChangeAspect="1"/>
          </p:cNvPicPr>
          <p:nvPr/>
        </p:nvPicPr>
        <p:blipFill>
          <a:blip r:embed="rId5"/>
          <a:stretch>
            <a:fillRect/>
          </a:stretch>
        </p:blipFill>
        <p:spPr>
          <a:xfrm>
            <a:off x="3547872" y="2542032"/>
            <a:ext cx="2706624" cy="73152"/>
          </a:xfrm>
          <a:prstGeom prst="rect">
            <a:avLst/>
          </a:prstGeom>
        </p:spPr>
      </p:pic>
      <p:pic>
        <p:nvPicPr>
          <p:cNvPr id="14" name="Image 4" descr="preencoded.png"/>
          <p:cNvPicPr>
            <a:picLocks noChangeAspect="1"/>
          </p:cNvPicPr>
          <p:nvPr/>
        </p:nvPicPr>
        <p:blipFill>
          <a:blip r:embed="rId7"/>
          <a:stretch>
            <a:fillRect/>
          </a:stretch>
        </p:blipFill>
        <p:spPr>
          <a:xfrm>
            <a:off x="3941064" y="2240280"/>
            <a:ext cx="1920240" cy="1920240"/>
          </a:xfrm>
          <a:prstGeom prst="rect">
            <a:avLst/>
          </a:prstGeom>
        </p:spPr>
      </p:pic>
      <p:sp>
        <p:nvSpPr>
          <p:cNvPr id="15" name="Text 8"/>
          <p:cNvSpPr/>
          <p:nvPr/>
        </p:nvSpPr>
        <p:spPr>
          <a:xfrm>
            <a:off x="3547872" y="2697480"/>
            <a:ext cx="2706624" cy="960120"/>
          </a:xfrm>
          <a:prstGeom prst="rect">
            <a:avLst/>
          </a:prstGeom>
          <a:noFill/>
          <a:ln/>
        </p:spPr>
        <p:txBody>
          <a:bodyPr wrap="square" lIns="0" tIns="0" rIns="0" bIns="0" rtlCol="0" anchor="ctr"/>
          <a:lstStyle/>
          <a:p>
            <a:pPr marL="0" indent="0" algn="ctr">
              <a:buNone/>
            </a:pPr>
            <a:r>
              <a:rPr lang="en-US" sz="5200" b="1" dirty="0">
                <a:solidFill>
                  <a:srgbClr val="46C98B"/>
                </a:solidFill>
                <a:latin typeface="Georgia" pitchFamily="34" charset="0"/>
                <a:ea typeface="Georgia" pitchFamily="34" charset="-122"/>
                <a:cs typeface="Georgia" pitchFamily="34" charset="-120"/>
              </a:rPr>
              <a:t>0</a:t>
            </a:r>
            <a:endParaRPr lang="en-US" sz="5200" dirty="0"/>
          </a:p>
        </p:txBody>
      </p:sp>
      <p:sp>
        <p:nvSpPr>
          <p:cNvPr id="16" name="Text 9"/>
          <p:cNvSpPr/>
          <p:nvPr/>
        </p:nvSpPr>
        <p:spPr>
          <a:xfrm>
            <a:off x="3685032" y="3657600"/>
            <a:ext cx="2432304" cy="548640"/>
          </a:xfrm>
          <a:prstGeom prst="rect">
            <a:avLst/>
          </a:prstGeom>
          <a:noFill/>
          <a:ln/>
        </p:spPr>
        <p:txBody>
          <a:bodyPr wrap="square" lIns="0" tIns="0" rIns="0" bIns="0" rtlCol="0" anchor="t"/>
          <a:lstStyle/>
          <a:p>
            <a:pPr marL="0" indent="0" algn="ctr">
              <a:buNone/>
            </a:pPr>
            <a:r>
              <a:rPr lang="en-US" sz="1200" dirty="0">
                <a:solidFill>
                  <a:srgbClr val="C3CEDE"/>
                </a:solidFill>
                <a:latin typeface="Calibri" pitchFamily="34" charset="0"/>
                <a:ea typeface="Calibri" pitchFamily="34" charset="-122"/>
                <a:cs typeface="Calibri" pitchFamily="34" charset="-120"/>
              </a:rPr>
              <a:t>CVEs en producción</a:t>
            </a:r>
            <a:endParaRPr lang="en-US" sz="1200" dirty="0"/>
          </a:p>
        </p:txBody>
      </p:sp>
      <p:sp>
        <p:nvSpPr>
          <p:cNvPr id="17" name="Shape 10"/>
          <p:cNvSpPr/>
          <p:nvPr/>
        </p:nvSpPr>
        <p:spPr>
          <a:xfrm>
            <a:off x="6528816" y="2542032"/>
            <a:ext cx="2706624" cy="178308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8" name="Image 5" descr="preencoded.png"/>
          <p:cNvPicPr>
            <a:picLocks noChangeAspect="1"/>
          </p:cNvPicPr>
          <p:nvPr/>
        </p:nvPicPr>
        <p:blipFill>
          <a:blip r:embed="rId5"/>
          <a:stretch>
            <a:fillRect/>
          </a:stretch>
        </p:blipFill>
        <p:spPr>
          <a:xfrm>
            <a:off x="6528816" y="2542032"/>
            <a:ext cx="2706624" cy="73152"/>
          </a:xfrm>
          <a:prstGeom prst="rect">
            <a:avLst/>
          </a:prstGeom>
        </p:spPr>
      </p:pic>
      <p:pic>
        <p:nvPicPr>
          <p:cNvPr id="19" name="Image 6" descr="preencoded.png"/>
          <p:cNvPicPr>
            <a:picLocks noChangeAspect="1"/>
          </p:cNvPicPr>
          <p:nvPr/>
        </p:nvPicPr>
        <p:blipFill>
          <a:blip r:embed="rId7"/>
          <a:stretch>
            <a:fillRect/>
          </a:stretch>
        </p:blipFill>
        <p:spPr>
          <a:xfrm>
            <a:off x="6922008" y="2240280"/>
            <a:ext cx="1920240" cy="1920240"/>
          </a:xfrm>
          <a:prstGeom prst="rect">
            <a:avLst/>
          </a:prstGeom>
        </p:spPr>
      </p:pic>
      <p:sp>
        <p:nvSpPr>
          <p:cNvPr id="20" name="Text 11"/>
          <p:cNvSpPr/>
          <p:nvPr/>
        </p:nvSpPr>
        <p:spPr>
          <a:xfrm>
            <a:off x="6528816" y="2697480"/>
            <a:ext cx="2706624" cy="960120"/>
          </a:xfrm>
          <a:prstGeom prst="rect">
            <a:avLst/>
          </a:prstGeom>
          <a:noFill/>
          <a:ln/>
        </p:spPr>
        <p:txBody>
          <a:bodyPr wrap="square" lIns="0" tIns="0" rIns="0" bIns="0" rtlCol="0" anchor="ctr"/>
          <a:lstStyle/>
          <a:p>
            <a:pPr marL="0" indent="0" algn="ctr">
              <a:buNone/>
            </a:pPr>
            <a:r>
              <a:rPr lang="en-US" sz="5200" b="1" dirty="0">
                <a:solidFill>
                  <a:srgbClr val="37D6C3"/>
                </a:solidFill>
                <a:latin typeface="Georgia" pitchFamily="34" charset="0"/>
                <a:ea typeface="Georgia" pitchFamily="34" charset="-122"/>
                <a:cs typeface="Georgia" pitchFamily="34" charset="-120"/>
              </a:rPr>
              <a:t>9</a:t>
            </a:r>
            <a:endParaRPr lang="en-US" sz="5200" dirty="0"/>
          </a:p>
        </p:txBody>
      </p:sp>
      <p:sp>
        <p:nvSpPr>
          <p:cNvPr id="21" name="Text 12"/>
          <p:cNvSpPr/>
          <p:nvPr/>
        </p:nvSpPr>
        <p:spPr>
          <a:xfrm>
            <a:off x="6665976" y="3657600"/>
            <a:ext cx="2432304" cy="548640"/>
          </a:xfrm>
          <a:prstGeom prst="rect">
            <a:avLst/>
          </a:prstGeom>
          <a:noFill/>
          <a:ln/>
        </p:spPr>
        <p:txBody>
          <a:bodyPr wrap="square" lIns="0" tIns="0" rIns="0" bIns="0" rtlCol="0" anchor="t"/>
          <a:lstStyle/>
          <a:p>
            <a:pPr marL="0" indent="0" algn="ctr">
              <a:buNone/>
            </a:pPr>
            <a:r>
              <a:rPr lang="en-US" sz="1200" dirty="0">
                <a:solidFill>
                  <a:srgbClr val="C3CEDE"/>
                </a:solidFill>
                <a:latin typeface="Calibri" pitchFamily="34" charset="0"/>
                <a:ea typeface="Calibri" pitchFamily="34" charset="-122"/>
                <a:cs typeface="Calibri" pitchFamily="34" charset="-120"/>
              </a:rPr>
              <a:t>ADRs firmados</a:t>
            </a:r>
            <a:endParaRPr lang="en-US" sz="1200" dirty="0"/>
          </a:p>
        </p:txBody>
      </p:sp>
      <p:sp>
        <p:nvSpPr>
          <p:cNvPr id="22" name="Shape 13"/>
          <p:cNvSpPr/>
          <p:nvPr/>
        </p:nvSpPr>
        <p:spPr>
          <a:xfrm>
            <a:off x="9509760" y="2542032"/>
            <a:ext cx="2706624" cy="178308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23" name="Image 7" descr="preencoded.png"/>
          <p:cNvPicPr>
            <a:picLocks noChangeAspect="1"/>
          </p:cNvPicPr>
          <p:nvPr/>
        </p:nvPicPr>
        <p:blipFill>
          <a:blip r:embed="rId5"/>
          <a:stretch>
            <a:fillRect/>
          </a:stretch>
        </p:blipFill>
        <p:spPr>
          <a:xfrm>
            <a:off x="9509760" y="2542032"/>
            <a:ext cx="2706624" cy="73152"/>
          </a:xfrm>
          <a:prstGeom prst="rect">
            <a:avLst/>
          </a:prstGeom>
        </p:spPr>
      </p:pic>
      <p:pic>
        <p:nvPicPr>
          <p:cNvPr id="24" name="Image 8" descr="preencoded.png"/>
          <p:cNvPicPr>
            <a:picLocks noChangeAspect="1"/>
          </p:cNvPicPr>
          <p:nvPr/>
        </p:nvPicPr>
        <p:blipFill>
          <a:blip r:embed="rId6"/>
          <a:stretch>
            <a:fillRect/>
          </a:stretch>
        </p:blipFill>
        <p:spPr>
          <a:xfrm>
            <a:off x="9902952" y="2240280"/>
            <a:ext cx="1920240" cy="1920240"/>
          </a:xfrm>
          <a:prstGeom prst="rect">
            <a:avLst/>
          </a:prstGeom>
        </p:spPr>
      </p:pic>
      <p:sp>
        <p:nvSpPr>
          <p:cNvPr id="25" name="Text 14"/>
          <p:cNvSpPr/>
          <p:nvPr/>
        </p:nvSpPr>
        <p:spPr>
          <a:xfrm>
            <a:off x="9509760" y="2697480"/>
            <a:ext cx="2706624" cy="960120"/>
          </a:xfrm>
          <a:prstGeom prst="rect">
            <a:avLst/>
          </a:prstGeom>
          <a:noFill/>
          <a:ln/>
        </p:spPr>
        <p:txBody>
          <a:bodyPr wrap="square" lIns="0" tIns="0" rIns="0" bIns="0" rtlCol="0" anchor="ctr"/>
          <a:lstStyle/>
          <a:p>
            <a:pPr marL="0" indent="0" algn="ctr">
              <a:buNone/>
            </a:pPr>
            <a:r>
              <a:rPr lang="en-US" sz="5200" b="1" dirty="0">
                <a:solidFill>
                  <a:srgbClr val="FFB43B"/>
                </a:solidFill>
                <a:latin typeface="Georgia" pitchFamily="34" charset="0"/>
                <a:ea typeface="Georgia" pitchFamily="34" charset="-122"/>
                <a:cs typeface="Georgia" pitchFamily="34" charset="-120"/>
              </a:rPr>
              <a:t>9,7</a:t>
            </a:r>
            <a:endParaRPr lang="en-US" sz="5200" dirty="0"/>
          </a:p>
        </p:txBody>
      </p:sp>
      <p:sp>
        <p:nvSpPr>
          <p:cNvPr id="26" name="Text 15"/>
          <p:cNvSpPr/>
          <p:nvPr/>
        </p:nvSpPr>
        <p:spPr>
          <a:xfrm>
            <a:off x="9646920" y="3657600"/>
            <a:ext cx="2432304" cy="548640"/>
          </a:xfrm>
          <a:prstGeom prst="rect">
            <a:avLst/>
          </a:prstGeom>
          <a:noFill/>
          <a:ln/>
        </p:spPr>
        <p:txBody>
          <a:bodyPr wrap="square" lIns="0" tIns="0" rIns="0" bIns="0" rtlCol="0" anchor="t"/>
          <a:lstStyle/>
          <a:p>
            <a:pPr marL="0" indent="0" algn="ctr">
              <a:buNone/>
            </a:pPr>
            <a:r>
              <a:rPr lang="en-US" sz="1200" dirty="0">
                <a:solidFill>
                  <a:srgbClr val="C3CEDE"/>
                </a:solidFill>
                <a:latin typeface="Calibri" pitchFamily="34" charset="0"/>
                <a:ea typeface="Calibri" pitchFamily="34" charset="-122"/>
                <a:cs typeface="Calibri" pitchFamily="34" charset="-120"/>
              </a:rPr>
              <a:t>rating de arquitectura /10</a:t>
            </a:r>
            <a:endParaRPr lang="en-US" sz="1200" dirty="0"/>
          </a:p>
        </p:txBody>
      </p:sp>
      <p:sp>
        <p:nvSpPr>
          <p:cNvPr id="27" name="Shape 16"/>
          <p:cNvSpPr/>
          <p:nvPr/>
        </p:nvSpPr>
        <p:spPr>
          <a:xfrm>
            <a:off x="566928" y="4617720"/>
            <a:ext cx="5349240" cy="1508760"/>
          </a:xfrm>
          <a:prstGeom prst="rect">
            <a:avLst/>
          </a:prstGeom>
          <a:solidFill>
            <a:srgbClr val="1B2A47"/>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28" name="Image 9" descr="preencoded.png"/>
          <p:cNvPicPr>
            <a:picLocks noChangeAspect="1"/>
          </p:cNvPicPr>
          <p:nvPr/>
        </p:nvPicPr>
        <p:blipFill>
          <a:blip r:embed="rId8"/>
          <a:stretch>
            <a:fillRect/>
          </a:stretch>
        </p:blipFill>
        <p:spPr>
          <a:xfrm>
            <a:off x="566928" y="4617720"/>
            <a:ext cx="82296" cy="1508760"/>
          </a:xfrm>
          <a:prstGeom prst="rect">
            <a:avLst/>
          </a:prstGeom>
        </p:spPr>
      </p:pic>
      <p:pic>
        <p:nvPicPr>
          <p:cNvPr id="29" name="Image 10" descr="preencoded.png"/>
          <p:cNvPicPr>
            <a:picLocks noChangeAspect="1"/>
          </p:cNvPicPr>
          <p:nvPr/>
        </p:nvPicPr>
        <p:blipFill>
          <a:blip r:embed="rId9"/>
          <a:stretch>
            <a:fillRect/>
          </a:stretch>
        </p:blipFill>
        <p:spPr>
          <a:xfrm>
            <a:off x="841248" y="4864608"/>
            <a:ext cx="457200" cy="457200"/>
          </a:xfrm>
          <a:prstGeom prst="rect">
            <a:avLst/>
          </a:prstGeom>
        </p:spPr>
      </p:pic>
      <p:sp>
        <p:nvSpPr>
          <p:cNvPr id="30" name="Text 17"/>
          <p:cNvSpPr/>
          <p:nvPr/>
        </p:nvSpPr>
        <p:spPr>
          <a:xfrm>
            <a:off x="1435608" y="4828032"/>
            <a:ext cx="4297680" cy="411480"/>
          </a:xfrm>
          <a:prstGeom prst="rect">
            <a:avLst/>
          </a:prstGeom>
          <a:noFill/>
          <a:ln/>
        </p:spPr>
        <p:txBody>
          <a:bodyPr wrap="square" lIns="0" tIns="0" rIns="0" bIns="0" rtlCol="0" anchor="ctr"/>
          <a:lstStyle/>
          <a:p>
            <a:pPr marL="0" indent="0">
              <a:buNone/>
            </a:pPr>
            <a:r>
              <a:rPr lang="en-US" sz="1700" b="1" dirty="0">
                <a:solidFill>
                  <a:srgbClr val="F3F7FD"/>
                </a:solidFill>
                <a:latin typeface="Georgia" pitchFamily="34" charset="0"/>
                <a:ea typeface="Georgia" pitchFamily="34" charset="-122"/>
                <a:cs typeface="Georgia" pitchFamily="34" charset="-120"/>
              </a:rPr>
              <a:t>Producto personal</a:t>
            </a:r>
            <a:endParaRPr lang="en-US" sz="1700" dirty="0"/>
          </a:p>
        </p:txBody>
      </p:sp>
      <p:sp>
        <p:nvSpPr>
          <p:cNvPr id="31" name="Text 18"/>
          <p:cNvSpPr/>
          <p:nvPr/>
        </p:nvSpPr>
        <p:spPr>
          <a:xfrm>
            <a:off x="841248" y="5349240"/>
            <a:ext cx="4846320" cy="685800"/>
          </a:xfrm>
          <a:prstGeom prst="rect">
            <a:avLst/>
          </a:prstGeom>
          <a:noFill/>
          <a:ln/>
        </p:spPr>
        <p:txBody>
          <a:bodyPr wrap="square" lIns="0" tIns="0" rIns="0" bIns="0" rtlCol="0" anchor="ctr"/>
          <a:lstStyle/>
          <a:p>
            <a:pPr marL="0" indent="0">
              <a:lnSpc>
                <a:spcPct val="110000"/>
              </a:lnSpc>
              <a:buNone/>
            </a:pPr>
            <a:r>
              <a:rPr lang="en-US" sz="1250" dirty="0">
                <a:solidFill>
                  <a:srgbClr val="C3CEDE"/>
                </a:solidFill>
                <a:latin typeface="Calibri" pitchFamily="34" charset="0"/>
                <a:ea typeface="Calibri" pitchFamily="34" charset="-122"/>
                <a:cs typeface="Calibri" pitchFamily="34" charset="-120"/>
              </a:rPr>
              <a:t>Despliegue real en NAS Synology, comunidad activa vía Telegram y alertas. En producción desde mayo 2026.</a:t>
            </a:r>
            <a:endParaRPr lang="en-US" sz="1250" dirty="0"/>
          </a:p>
        </p:txBody>
      </p:sp>
      <p:sp>
        <p:nvSpPr>
          <p:cNvPr id="32" name="Shape 19"/>
          <p:cNvSpPr/>
          <p:nvPr/>
        </p:nvSpPr>
        <p:spPr>
          <a:xfrm>
            <a:off x="6263640" y="4617720"/>
            <a:ext cx="5358384" cy="1508760"/>
          </a:xfrm>
          <a:prstGeom prst="rect">
            <a:avLst/>
          </a:prstGeom>
          <a:solidFill>
            <a:srgbClr val="1B2A47"/>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33" name="Image 11" descr="preencoded.png"/>
          <p:cNvPicPr>
            <a:picLocks noChangeAspect="1"/>
          </p:cNvPicPr>
          <p:nvPr/>
        </p:nvPicPr>
        <p:blipFill>
          <a:blip r:embed="rId8"/>
          <a:stretch>
            <a:fillRect/>
          </a:stretch>
        </p:blipFill>
        <p:spPr>
          <a:xfrm>
            <a:off x="6263640" y="4617720"/>
            <a:ext cx="82296" cy="1508760"/>
          </a:xfrm>
          <a:prstGeom prst="rect">
            <a:avLst/>
          </a:prstGeom>
        </p:spPr>
      </p:pic>
      <p:pic>
        <p:nvPicPr>
          <p:cNvPr id="34" name="Image 12" descr="preencoded.png"/>
          <p:cNvPicPr>
            <a:picLocks noChangeAspect="1"/>
          </p:cNvPicPr>
          <p:nvPr/>
        </p:nvPicPr>
        <p:blipFill>
          <a:blip r:embed="rId10"/>
          <a:stretch>
            <a:fillRect/>
          </a:stretch>
        </p:blipFill>
        <p:spPr>
          <a:xfrm>
            <a:off x="6537960" y="4864608"/>
            <a:ext cx="457200" cy="457200"/>
          </a:xfrm>
          <a:prstGeom prst="rect">
            <a:avLst/>
          </a:prstGeom>
        </p:spPr>
      </p:pic>
      <p:sp>
        <p:nvSpPr>
          <p:cNvPr id="35" name="Text 20"/>
          <p:cNvSpPr/>
          <p:nvPr/>
        </p:nvSpPr>
        <p:spPr>
          <a:xfrm>
            <a:off x="7132320" y="4828032"/>
            <a:ext cx="4297680" cy="411480"/>
          </a:xfrm>
          <a:prstGeom prst="rect">
            <a:avLst/>
          </a:prstGeom>
          <a:noFill/>
          <a:ln/>
        </p:spPr>
        <p:txBody>
          <a:bodyPr wrap="square" lIns="0" tIns="0" rIns="0" bIns="0" rtlCol="0" anchor="ctr"/>
          <a:lstStyle/>
          <a:p>
            <a:pPr marL="0" indent="0">
              <a:buNone/>
            </a:pPr>
            <a:r>
              <a:rPr lang="en-US" sz="1700" b="1" dirty="0">
                <a:solidFill>
                  <a:srgbClr val="F3F7FD"/>
                </a:solidFill>
                <a:latin typeface="Georgia" pitchFamily="34" charset="0"/>
                <a:ea typeface="Georgia" pitchFamily="34" charset="-122"/>
                <a:cs typeface="Georgia" pitchFamily="34" charset="-120"/>
              </a:rPr>
              <a:t>Trabajo Final de Máster</a:t>
            </a:r>
            <a:endParaRPr lang="en-US" sz="1700" dirty="0"/>
          </a:p>
        </p:txBody>
      </p:sp>
      <p:sp>
        <p:nvSpPr>
          <p:cNvPr id="36" name="Text 21"/>
          <p:cNvSpPr/>
          <p:nvPr/>
        </p:nvSpPr>
        <p:spPr>
          <a:xfrm>
            <a:off x="6537960" y="5349240"/>
            <a:ext cx="4846320" cy="685800"/>
          </a:xfrm>
          <a:prstGeom prst="rect">
            <a:avLst/>
          </a:prstGeom>
          <a:noFill/>
          <a:ln/>
        </p:spPr>
        <p:txBody>
          <a:bodyPr wrap="square" lIns="0" tIns="0" rIns="0" bIns="0" rtlCol="0" anchor="ctr"/>
          <a:lstStyle/>
          <a:p>
            <a:pPr marL="0" indent="0">
              <a:lnSpc>
                <a:spcPct val="110000"/>
              </a:lnSpc>
              <a:buNone/>
            </a:pPr>
            <a:r>
              <a:rPr lang="en-US" sz="1250" dirty="0">
                <a:solidFill>
                  <a:srgbClr val="C3CEDE"/>
                </a:solidFill>
                <a:latin typeface="Calibri" pitchFamily="34" charset="0"/>
                <a:ea typeface="Calibri" pitchFamily="34" charset="-122"/>
                <a:cs typeface="Calibri" pitchFamily="34" charset="-120"/>
              </a:rPr>
              <a:t>Demuestra los pilares del máster (arquitectura, calidad, seguridad, IA) sobre un sistema vivo, no un prototipo desechable.</a:t>
            </a:r>
            <a:endParaRPr lang="en-US" sz="1250" dirty="0"/>
          </a:p>
        </p:txBody>
      </p:sp>
      <p:sp>
        <p:nvSpPr>
          <p:cNvPr id="38" name="Text 22"/>
          <p:cNvSpPr/>
          <p:nvPr/>
        </p:nvSpPr>
        <p:spPr>
          <a:xfrm>
            <a:off x="566928" y="6446520"/>
            <a:ext cx="8229600" cy="292608"/>
          </a:xfrm>
          <a:prstGeom prst="rect">
            <a:avLst/>
          </a:prstGeom>
          <a:noFill/>
          <a:ln/>
        </p:spPr>
        <p:txBody>
          <a:bodyPr wrap="square" lIns="0" tIns="0" rIns="0" bIns="0" rtlCol="0" anchor="ctr"/>
          <a:lstStyle/>
          <a:p>
            <a:pPr marL="0" indent="0">
              <a:buNone/>
            </a:pPr>
            <a:r>
              <a:rPr lang="en-US" sz="900" dirty="0">
                <a:solidFill>
                  <a:srgbClr val="8492A6"/>
                </a:solidFill>
                <a:latin typeface="Calibri" pitchFamily="34" charset="0"/>
                <a:ea typeface="Calibri" pitchFamily="34" charset="-122"/>
                <a:cs typeface="Calibri" pitchFamily="34" charset="-120"/>
              </a:rPr>
              <a:t>BuenCholloTech · TFM Máster en Desarrollo con IA 2025</a:t>
            </a:r>
            <a:endParaRPr lang="en-US" sz="900" dirty="0"/>
          </a:p>
        </p:txBody>
      </p:sp>
      <p:sp>
        <p:nvSpPr>
          <p:cNvPr id="39" name="Text 23"/>
          <p:cNvSpPr/>
          <p:nvPr/>
        </p:nvSpPr>
        <p:spPr>
          <a:xfrm>
            <a:off x="10527487" y="6446520"/>
            <a:ext cx="1097280" cy="292608"/>
          </a:xfrm>
          <a:prstGeom prst="rect">
            <a:avLst/>
          </a:prstGeom>
          <a:noFill/>
          <a:ln/>
        </p:spPr>
        <p:txBody>
          <a:bodyPr wrap="square" lIns="0" tIns="0" rIns="0" bIns="0"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03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928" y="457200"/>
            <a:ext cx="1779422" cy="310896"/>
          </a:xfrm>
          <a:prstGeom prst="roundRect">
            <a:avLst>
              <a:gd name="adj" fmla="val 50000"/>
            </a:avLst>
          </a:prstGeom>
          <a:solidFill>
            <a:srgbClr val="FF6A2B"/>
          </a:solidFill>
          <a:ln/>
        </p:spPr>
        <p:txBody>
          <a:bodyPr/>
          <a:lstStyle/>
          <a:p>
            <a:endParaRPr lang="es-ES"/>
          </a:p>
        </p:txBody>
      </p:sp>
      <p:sp>
        <p:nvSpPr>
          <p:cNvPr id="3" name="Text 1"/>
          <p:cNvSpPr/>
          <p:nvPr/>
        </p:nvSpPr>
        <p:spPr>
          <a:xfrm>
            <a:off x="566928" y="457200"/>
            <a:ext cx="1779422" cy="310896"/>
          </a:xfrm>
          <a:prstGeom prst="rect">
            <a:avLst/>
          </a:prstGeom>
          <a:noFill/>
          <a:ln/>
        </p:spPr>
        <p:txBody>
          <a:bodyPr wrap="square" lIns="0" tIns="0" rIns="0" bIns="0" rtlCol="0" anchor="ctr"/>
          <a:lstStyle/>
          <a:p>
            <a:pPr marL="0" indent="0" algn="ctr">
              <a:buNone/>
            </a:pPr>
            <a:r>
              <a:rPr lang="en-US" sz="1050" b="1" kern="0" spc="100" dirty="0">
                <a:solidFill>
                  <a:srgbClr val="0A0F1A"/>
                </a:solidFill>
                <a:latin typeface="Calibri" pitchFamily="34" charset="0"/>
                <a:ea typeface="Calibri" pitchFamily="34" charset="-122"/>
                <a:cs typeface="Calibri" pitchFamily="34" charset="-120"/>
              </a:rPr>
              <a:t>FUNCIONALIDAD</a:t>
            </a:r>
            <a:endParaRPr lang="en-US" sz="1050" dirty="0"/>
          </a:p>
        </p:txBody>
      </p:sp>
      <p:pic>
        <p:nvPicPr>
          <p:cNvPr id="4" name="Image 0" descr="preencoded.png"/>
          <p:cNvPicPr>
            <a:picLocks noChangeAspect="1"/>
          </p:cNvPicPr>
          <p:nvPr/>
        </p:nvPicPr>
        <p:blipFill>
          <a:blip r:embed="rId4"/>
          <a:stretch>
            <a:fillRect/>
          </a:stretch>
        </p:blipFill>
        <p:spPr>
          <a:xfrm>
            <a:off x="11057839" y="384048"/>
            <a:ext cx="457200" cy="457200"/>
          </a:xfrm>
          <a:prstGeom prst="rect">
            <a:avLst/>
          </a:prstGeom>
        </p:spPr>
      </p:pic>
      <p:sp>
        <p:nvSpPr>
          <p:cNvPr id="5" name="Text 2"/>
          <p:cNvSpPr/>
          <p:nvPr/>
        </p:nvSpPr>
        <p:spPr>
          <a:xfrm>
            <a:off x="566928" y="841248"/>
            <a:ext cx="10554919" cy="640080"/>
          </a:xfrm>
          <a:prstGeom prst="rect">
            <a:avLst/>
          </a:prstGeom>
          <a:noFill/>
          <a:ln/>
        </p:spPr>
        <p:txBody>
          <a:bodyPr wrap="square" lIns="0" tIns="0" rIns="0" bIns="0" rtlCol="0" anchor="ctr"/>
          <a:lstStyle/>
          <a:p>
            <a:pPr marL="0" indent="0">
              <a:buNone/>
            </a:pPr>
            <a:r>
              <a:rPr lang="en-US" sz="2700" b="1" dirty="0">
                <a:solidFill>
                  <a:srgbClr val="F3F7FD"/>
                </a:solidFill>
                <a:latin typeface="Georgia" pitchFamily="34" charset="0"/>
                <a:ea typeface="Georgia" pitchFamily="34" charset="-122"/>
                <a:cs typeface="Georgia" pitchFamily="34" charset="-120"/>
              </a:rPr>
              <a:t>Tres perfiles, permisos crecientes</a:t>
            </a:r>
            <a:endParaRPr lang="en-US" sz="2700" dirty="0"/>
          </a:p>
        </p:txBody>
      </p:sp>
      <p:sp>
        <p:nvSpPr>
          <p:cNvPr id="6" name="Shape 3"/>
          <p:cNvSpPr/>
          <p:nvPr/>
        </p:nvSpPr>
        <p:spPr>
          <a:xfrm>
            <a:off x="566928" y="1645920"/>
            <a:ext cx="3602736" cy="448056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7" name="Image 1" descr="preencoded.png"/>
          <p:cNvPicPr>
            <a:picLocks noChangeAspect="1"/>
          </p:cNvPicPr>
          <p:nvPr/>
        </p:nvPicPr>
        <p:blipFill>
          <a:blip r:embed="rId5"/>
          <a:stretch>
            <a:fillRect/>
          </a:stretch>
        </p:blipFill>
        <p:spPr>
          <a:xfrm>
            <a:off x="566928" y="1645920"/>
            <a:ext cx="3602736" cy="73152"/>
          </a:xfrm>
          <a:prstGeom prst="rect">
            <a:avLst/>
          </a:prstGeom>
        </p:spPr>
      </p:pic>
      <p:pic>
        <p:nvPicPr>
          <p:cNvPr id="8" name="Image 2" descr="preencoded.png"/>
          <p:cNvPicPr>
            <a:picLocks noChangeAspect="1"/>
          </p:cNvPicPr>
          <p:nvPr/>
        </p:nvPicPr>
        <p:blipFill>
          <a:blip r:embed="rId6"/>
          <a:stretch>
            <a:fillRect/>
          </a:stretch>
        </p:blipFill>
        <p:spPr>
          <a:xfrm>
            <a:off x="246888" y="1325880"/>
            <a:ext cx="2011680" cy="2011680"/>
          </a:xfrm>
          <a:prstGeom prst="rect">
            <a:avLst/>
          </a:prstGeom>
        </p:spPr>
      </p:pic>
      <p:sp>
        <p:nvSpPr>
          <p:cNvPr id="9" name="Shape 4"/>
          <p:cNvSpPr/>
          <p:nvPr/>
        </p:nvSpPr>
        <p:spPr>
          <a:xfrm>
            <a:off x="886968" y="1920240"/>
            <a:ext cx="822960" cy="822960"/>
          </a:xfrm>
          <a:prstGeom prst="ellipse">
            <a:avLst/>
          </a:prstGeom>
          <a:solidFill>
            <a:srgbClr val="37D6C3"/>
          </a:solidFill>
          <a:ln/>
        </p:spPr>
        <p:txBody>
          <a:bodyPr/>
          <a:lstStyle/>
          <a:p>
            <a:endParaRPr lang="es-ES"/>
          </a:p>
        </p:txBody>
      </p:sp>
      <p:pic>
        <p:nvPicPr>
          <p:cNvPr id="10" name="Image 3" descr="preencoded.png"/>
          <p:cNvPicPr>
            <a:picLocks noChangeAspect="1"/>
          </p:cNvPicPr>
          <p:nvPr/>
        </p:nvPicPr>
        <p:blipFill>
          <a:blip r:embed="rId7"/>
          <a:stretch>
            <a:fillRect/>
          </a:stretch>
        </p:blipFill>
        <p:spPr>
          <a:xfrm>
            <a:off x="1088136" y="2121408"/>
            <a:ext cx="420624" cy="420624"/>
          </a:xfrm>
          <a:prstGeom prst="rect">
            <a:avLst/>
          </a:prstGeom>
        </p:spPr>
      </p:pic>
      <p:sp>
        <p:nvSpPr>
          <p:cNvPr id="11" name="Text 5"/>
          <p:cNvSpPr/>
          <p:nvPr/>
        </p:nvSpPr>
        <p:spPr>
          <a:xfrm>
            <a:off x="886968" y="2880360"/>
            <a:ext cx="2962656" cy="457200"/>
          </a:xfrm>
          <a:prstGeom prst="rect">
            <a:avLst/>
          </a:prstGeom>
          <a:noFill/>
          <a:ln/>
        </p:spPr>
        <p:txBody>
          <a:bodyPr wrap="square" lIns="0" tIns="0" rIns="0" bIns="0" rtlCol="0" anchor="ctr"/>
          <a:lstStyle/>
          <a:p>
            <a:pPr marL="0" indent="0">
              <a:buNone/>
            </a:pPr>
            <a:r>
              <a:rPr lang="en-US" sz="2000" b="1" dirty="0">
                <a:solidFill>
                  <a:srgbClr val="F3F7FD"/>
                </a:solidFill>
                <a:latin typeface="Georgia" pitchFamily="34" charset="0"/>
                <a:ea typeface="Georgia" pitchFamily="34" charset="-122"/>
                <a:cs typeface="Georgia" pitchFamily="34" charset="-120"/>
              </a:rPr>
              <a:t>Anónimo</a:t>
            </a:r>
            <a:endParaRPr lang="en-US" sz="2000" dirty="0"/>
          </a:p>
        </p:txBody>
      </p:sp>
      <p:pic>
        <p:nvPicPr>
          <p:cNvPr id="12" name="Image 4" descr="preencoded.png"/>
          <p:cNvPicPr>
            <a:picLocks noChangeAspect="1"/>
          </p:cNvPicPr>
          <p:nvPr/>
        </p:nvPicPr>
        <p:blipFill>
          <a:blip r:embed="rId5"/>
          <a:stretch>
            <a:fillRect/>
          </a:stretch>
        </p:blipFill>
        <p:spPr>
          <a:xfrm>
            <a:off x="896112" y="3364992"/>
            <a:ext cx="1097280" cy="45720"/>
          </a:xfrm>
          <a:prstGeom prst="rect">
            <a:avLst/>
          </a:prstGeom>
        </p:spPr>
      </p:pic>
      <p:sp>
        <p:nvSpPr>
          <p:cNvPr id="13" name="Text 6"/>
          <p:cNvSpPr/>
          <p:nvPr/>
        </p:nvSpPr>
        <p:spPr>
          <a:xfrm>
            <a:off x="896112" y="3566160"/>
            <a:ext cx="3008376" cy="2377440"/>
          </a:xfrm>
          <a:prstGeom prst="rect">
            <a:avLst/>
          </a:prstGeom>
          <a:noFill/>
          <a:ln/>
        </p:spPr>
        <p:txBody>
          <a:bodyPr wrap="square" lIns="0" tIns="0" rIns="0" bIns="0" rtlCol="0" anchor="t"/>
          <a:lstStyle/>
          <a:p>
            <a:pPr marL="203200" indent="-203200">
              <a:spcAft>
                <a:spcPts val="1000"/>
              </a:spcAft>
              <a:buSzPct val="100000"/>
              <a:buChar char="•"/>
            </a:pPr>
            <a:r>
              <a:rPr lang="en-US" sz="1300" dirty="0">
                <a:solidFill>
                  <a:srgbClr val="C3CEDE"/>
                </a:solidFill>
                <a:latin typeface="Calibri" pitchFamily="34" charset="0"/>
                <a:ea typeface="Calibri" pitchFamily="34" charset="-122"/>
                <a:cs typeface="Calibri" pitchFamily="34" charset="-120"/>
              </a:rPr>
              <a:t>Explora el feed y busca</a:t>
            </a:r>
            <a:endParaRPr lang="en-US" sz="1300" dirty="0"/>
          </a:p>
          <a:p>
            <a:pPr marL="203200" indent="-203200">
              <a:spcAft>
                <a:spcPts val="1000"/>
              </a:spcAft>
              <a:buSzPct val="100000"/>
              <a:buChar char="•"/>
            </a:pPr>
            <a:r>
              <a:rPr lang="en-US" sz="1300" dirty="0">
                <a:solidFill>
                  <a:srgbClr val="C3CEDE"/>
                </a:solidFill>
                <a:latin typeface="Calibri" pitchFamily="34" charset="0"/>
                <a:ea typeface="Calibri" pitchFamily="34" charset="-122"/>
                <a:cs typeface="Calibri" pitchFamily="34" charset="-120"/>
              </a:rPr>
              <a:t>Ve el detalle de la oferta</a:t>
            </a:r>
            <a:endParaRPr lang="en-US" sz="1300" dirty="0"/>
          </a:p>
          <a:p>
            <a:pPr marL="203200" indent="-203200">
              <a:spcAft>
                <a:spcPts val="1000"/>
              </a:spcAft>
              <a:buSzPct val="100000"/>
              <a:buChar char="•"/>
            </a:pPr>
            <a:r>
              <a:rPr lang="en-US" sz="1300" dirty="0">
                <a:solidFill>
                  <a:srgbClr val="C3CEDE"/>
                </a:solidFill>
                <a:latin typeface="Calibri" pitchFamily="34" charset="0"/>
                <a:ea typeface="Calibri" pitchFamily="34" charset="-122"/>
                <a:cs typeface="Calibri" pitchFamily="34" charset="-120"/>
              </a:rPr>
              <a:t>Histórico de precios (Keepa)</a:t>
            </a:r>
            <a:endParaRPr lang="en-US" sz="1300" dirty="0"/>
          </a:p>
          <a:p>
            <a:pPr marL="203200" indent="-203200">
              <a:spcAft>
                <a:spcPts val="1000"/>
              </a:spcAft>
              <a:buSzPct val="100000"/>
              <a:buChar char="•"/>
            </a:pPr>
            <a:r>
              <a:rPr lang="en-US" sz="1300" dirty="0">
                <a:solidFill>
                  <a:srgbClr val="C3CEDE"/>
                </a:solidFill>
                <a:latin typeface="Calibri" pitchFamily="34" charset="0"/>
                <a:ea typeface="Calibri" pitchFamily="34" charset="-122"/>
                <a:cs typeface="Calibri" pitchFamily="34" charset="-120"/>
              </a:rPr>
              <a:t>Clic al enlace de afiliado</a:t>
            </a:r>
            <a:endParaRPr lang="en-US" sz="1300" dirty="0"/>
          </a:p>
        </p:txBody>
      </p:sp>
      <p:sp>
        <p:nvSpPr>
          <p:cNvPr id="14" name="Shape 7"/>
          <p:cNvSpPr/>
          <p:nvPr/>
        </p:nvSpPr>
        <p:spPr>
          <a:xfrm>
            <a:off x="4462272" y="1645920"/>
            <a:ext cx="3602736" cy="448056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5" name="Image 5" descr="preencoded.png"/>
          <p:cNvPicPr>
            <a:picLocks noChangeAspect="1"/>
          </p:cNvPicPr>
          <p:nvPr/>
        </p:nvPicPr>
        <p:blipFill>
          <a:blip r:embed="rId5"/>
          <a:stretch>
            <a:fillRect/>
          </a:stretch>
        </p:blipFill>
        <p:spPr>
          <a:xfrm>
            <a:off x="4462272" y="1645920"/>
            <a:ext cx="3602736" cy="73152"/>
          </a:xfrm>
          <a:prstGeom prst="rect">
            <a:avLst/>
          </a:prstGeom>
        </p:spPr>
      </p:pic>
      <p:pic>
        <p:nvPicPr>
          <p:cNvPr id="16" name="Image 6" descr="preencoded.png"/>
          <p:cNvPicPr>
            <a:picLocks noChangeAspect="1"/>
          </p:cNvPicPr>
          <p:nvPr/>
        </p:nvPicPr>
        <p:blipFill>
          <a:blip r:embed="rId8"/>
          <a:stretch>
            <a:fillRect/>
          </a:stretch>
        </p:blipFill>
        <p:spPr>
          <a:xfrm>
            <a:off x="4142232" y="1325880"/>
            <a:ext cx="2011680" cy="2011680"/>
          </a:xfrm>
          <a:prstGeom prst="rect">
            <a:avLst/>
          </a:prstGeom>
        </p:spPr>
      </p:pic>
      <p:sp>
        <p:nvSpPr>
          <p:cNvPr id="17" name="Shape 8"/>
          <p:cNvSpPr/>
          <p:nvPr/>
        </p:nvSpPr>
        <p:spPr>
          <a:xfrm>
            <a:off x="4782312" y="1920240"/>
            <a:ext cx="822960" cy="822960"/>
          </a:xfrm>
          <a:prstGeom prst="ellipse">
            <a:avLst/>
          </a:prstGeom>
          <a:solidFill>
            <a:srgbClr val="FF6A2B"/>
          </a:solidFill>
          <a:ln/>
        </p:spPr>
        <p:txBody>
          <a:bodyPr/>
          <a:lstStyle/>
          <a:p>
            <a:endParaRPr lang="es-ES"/>
          </a:p>
        </p:txBody>
      </p:sp>
      <p:pic>
        <p:nvPicPr>
          <p:cNvPr id="18" name="Image 7" descr="preencoded.png"/>
          <p:cNvPicPr>
            <a:picLocks noChangeAspect="1"/>
          </p:cNvPicPr>
          <p:nvPr/>
        </p:nvPicPr>
        <p:blipFill>
          <a:blip r:embed="rId9"/>
          <a:stretch>
            <a:fillRect/>
          </a:stretch>
        </p:blipFill>
        <p:spPr>
          <a:xfrm>
            <a:off x="4983480" y="2121408"/>
            <a:ext cx="420624" cy="420624"/>
          </a:xfrm>
          <a:prstGeom prst="rect">
            <a:avLst/>
          </a:prstGeom>
        </p:spPr>
      </p:pic>
      <p:sp>
        <p:nvSpPr>
          <p:cNvPr id="19" name="Text 9"/>
          <p:cNvSpPr/>
          <p:nvPr/>
        </p:nvSpPr>
        <p:spPr>
          <a:xfrm>
            <a:off x="4782312" y="2880360"/>
            <a:ext cx="2962656" cy="457200"/>
          </a:xfrm>
          <a:prstGeom prst="rect">
            <a:avLst/>
          </a:prstGeom>
          <a:noFill/>
          <a:ln/>
        </p:spPr>
        <p:txBody>
          <a:bodyPr wrap="square" lIns="0" tIns="0" rIns="0" bIns="0" rtlCol="0" anchor="ctr"/>
          <a:lstStyle/>
          <a:p>
            <a:pPr marL="0" indent="0">
              <a:buNone/>
            </a:pPr>
            <a:r>
              <a:rPr lang="en-US" sz="2000" b="1" dirty="0">
                <a:solidFill>
                  <a:srgbClr val="F3F7FD"/>
                </a:solidFill>
                <a:latin typeface="Georgia" pitchFamily="34" charset="0"/>
                <a:ea typeface="Georgia" pitchFamily="34" charset="-122"/>
                <a:cs typeface="Georgia" pitchFamily="34" charset="-120"/>
              </a:rPr>
              <a:t>Registrado (Google)</a:t>
            </a:r>
            <a:endParaRPr lang="en-US" sz="2000" dirty="0"/>
          </a:p>
        </p:txBody>
      </p:sp>
      <p:pic>
        <p:nvPicPr>
          <p:cNvPr id="20" name="Image 8" descr="preencoded.png"/>
          <p:cNvPicPr>
            <a:picLocks noChangeAspect="1"/>
          </p:cNvPicPr>
          <p:nvPr/>
        </p:nvPicPr>
        <p:blipFill>
          <a:blip r:embed="rId5"/>
          <a:stretch>
            <a:fillRect/>
          </a:stretch>
        </p:blipFill>
        <p:spPr>
          <a:xfrm>
            <a:off x="4791456" y="3364992"/>
            <a:ext cx="1097280" cy="45720"/>
          </a:xfrm>
          <a:prstGeom prst="rect">
            <a:avLst/>
          </a:prstGeom>
        </p:spPr>
      </p:pic>
      <p:sp>
        <p:nvSpPr>
          <p:cNvPr id="21" name="Text 10"/>
          <p:cNvSpPr/>
          <p:nvPr/>
        </p:nvSpPr>
        <p:spPr>
          <a:xfrm>
            <a:off x="4791456" y="3566160"/>
            <a:ext cx="3008376" cy="2377440"/>
          </a:xfrm>
          <a:prstGeom prst="rect">
            <a:avLst/>
          </a:prstGeom>
          <a:noFill/>
          <a:ln/>
        </p:spPr>
        <p:txBody>
          <a:bodyPr wrap="square" lIns="0" tIns="0" rIns="0" bIns="0" rtlCol="0" anchor="t"/>
          <a:lstStyle/>
          <a:p>
            <a:pPr marL="203200" indent="-203200">
              <a:spcAft>
                <a:spcPts val="1000"/>
              </a:spcAft>
              <a:buSzPct val="100000"/>
              <a:buChar char="•"/>
            </a:pPr>
            <a:r>
              <a:rPr lang="en-US" sz="1300" dirty="0">
                <a:solidFill>
                  <a:srgbClr val="C3CEDE"/>
                </a:solidFill>
                <a:latin typeface="Calibri" pitchFamily="34" charset="0"/>
                <a:ea typeface="Calibri" pitchFamily="34" charset="-122"/>
                <a:cs typeface="Calibri" pitchFamily="34" charset="-120"/>
              </a:rPr>
              <a:t>Vota, comenta y marca favoritos</a:t>
            </a:r>
            <a:endParaRPr lang="en-US" sz="1300" dirty="0"/>
          </a:p>
          <a:p>
            <a:pPr marL="203200" indent="-203200">
              <a:spcAft>
                <a:spcPts val="1000"/>
              </a:spcAft>
              <a:buSzPct val="100000"/>
              <a:buChar char="•"/>
            </a:pPr>
            <a:r>
              <a:rPr lang="en-US" sz="1300" dirty="0">
                <a:solidFill>
                  <a:srgbClr val="C3CEDE"/>
                </a:solidFill>
                <a:latin typeface="Calibri" pitchFamily="34" charset="0"/>
                <a:ea typeface="Calibri" pitchFamily="34" charset="-122"/>
                <a:cs typeface="Calibri" pitchFamily="34" charset="-120"/>
              </a:rPr>
              <a:t>Crea alertas personalizadas</a:t>
            </a:r>
            <a:endParaRPr lang="en-US" sz="1300" dirty="0"/>
          </a:p>
          <a:p>
            <a:pPr marL="203200" indent="-203200">
              <a:spcAft>
                <a:spcPts val="1000"/>
              </a:spcAft>
              <a:buSzPct val="100000"/>
              <a:buChar char="•"/>
            </a:pPr>
            <a:r>
              <a:rPr lang="en-US" sz="1300" dirty="0">
                <a:solidFill>
                  <a:srgbClr val="C3CEDE"/>
                </a:solidFill>
                <a:latin typeface="Calibri" pitchFamily="34" charset="0"/>
                <a:ea typeface="Calibri" pitchFamily="34" charset="-122"/>
                <a:cs typeface="Calibri" pitchFamily="34" charset="-120"/>
              </a:rPr>
              <a:t>Notificaciones in-app</a:t>
            </a:r>
            <a:endParaRPr lang="en-US" sz="1300" dirty="0"/>
          </a:p>
          <a:p>
            <a:pPr marL="203200" indent="-203200">
              <a:spcAft>
                <a:spcPts val="1000"/>
              </a:spcAft>
              <a:buSzPct val="100000"/>
              <a:buChar char="•"/>
            </a:pPr>
            <a:r>
              <a:rPr lang="en-US" sz="1300" dirty="0">
                <a:solidFill>
                  <a:srgbClr val="C3CEDE"/>
                </a:solidFill>
                <a:latin typeface="Calibri" pitchFamily="34" charset="0"/>
                <a:ea typeface="Calibri" pitchFamily="34" charset="-122"/>
                <a:cs typeface="Calibri" pitchFamily="34" charset="-120"/>
              </a:rPr>
              <a:t>Por palabra, categoría, precio…</a:t>
            </a:r>
            <a:endParaRPr lang="en-US" sz="1300" dirty="0"/>
          </a:p>
        </p:txBody>
      </p:sp>
      <p:sp>
        <p:nvSpPr>
          <p:cNvPr id="22" name="Shape 11"/>
          <p:cNvSpPr/>
          <p:nvPr/>
        </p:nvSpPr>
        <p:spPr>
          <a:xfrm>
            <a:off x="8357616" y="1645920"/>
            <a:ext cx="3602736" cy="448056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23" name="Image 9" descr="preencoded.png"/>
          <p:cNvPicPr>
            <a:picLocks noChangeAspect="1"/>
          </p:cNvPicPr>
          <p:nvPr/>
        </p:nvPicPr>
        <p:blipFill>
          <a:blip r:embed="rId5"/>
          <a:stretch>
            <a:fillRect/>
          </a:stretch>
        </p:blipFill>
        <p:spPr>
          <a:xfrm>
            <a:off x="8357616" y="1645920"/>
            <a:ext cx="3602736" cy="73152"/>
          </a:xfrm>
          <a:prstGeom prst="rect">
            <a:avLst/>
          </a:prstGeom>
        </p:spPr>
      </p:pic>
      <p:pic>
        <p:nvPicPr>
          <p:cNvPr id="24" name="Image 10" descr="preencoded.png"/>
          <p:cNvPicPr>
            <a:picLocks noChangeAspect="1"/>
          </p:cNvPicPr>
          <p:nvPr/>
        </p:nvPicPr>
        <p:blipFill>
          <a:blip r:embed="rId8"/>
          <a:stretch>
            <a:fillRect/>
          </a:stretch>
        </p:blipFill>
        <p:spPr>
          <a:xfrm>
            <a:off x="8037576" y="1325880"/>
            <a:ext cx="2011680" cy="2011680"/>
          </a:xfrm>
          <a:prstGeom prst="rect">
            <a:avLst/>
          </a:prstGeom>
        </p:spPr>
      </p:pic>
      <p:sp>
        <p:nvSpPr>
          <p:cNvPr id="25" name="Shape 12"/>
          <p:cNvSpPr/>
          <p:nvPr/>
        </p:nvSpPr>
        <p:spPr>
          <a:xfrm>
            <a:off x="8677656" y="1920240"/>
            <a:ext cx="822960" cy="822960"/>
          </a:xfrm>
          <a:prstGeom prst="ellipse">
            <a:avLst/>
          </a:prstGeom>
          <a:solidFill>
            <a:srgbClr val="FFB43B"/>
          </a:solidFill>
          <a:ln/>
        </p:spPr>
        <p:txBody>
          <a:bodyPr/>
          <a:lstStyle/>
          <a:p>
            <a:endParaRPr lang="es-ES"/>
          </a:p>
        </p:txBody>
      </p:sp>
      <p:pic>
        <p:nvPicPr>
          <p:cNvPr id="26" name="Image 11" descr="preencoded.png"/>
          <p:cNvPicPr>
            <a:picLocks noChangeAspect="1"/>
          </p:cNvPicPr>
          <p:nvPr/>
        </p:nvPicPr>
        <p:blipFill>
          <a:blip r:embed="rId10"/>
          <a:stretch>
            <a:fillRect/>
          </a:stretch>
        </p:blipFill>
        <p:spPr>
          <a:xfrm>
            <a:off x="8878824" y="2121408"/>
            <a:ext cx="420624" cy="420624"/>
          </a:xfrm>
          <a:prstGeom prst="rect">
            <a:avLst/>
          </a:prstGeom>
        </p:spPr>
      </p:pic>
      <p:sp>
        <p:nvSpPr>
          <p:cNvPr id="27" name="Text 13"/>
          <p:cNvSpPr/>
          <p:nvPr/>
        </p:nvSpPr>
        <p:spPr>
          <a:xfrm>
            <a:off x="8677656" y="2880360"/>
            <a:ext cx="2962656" cy="457200"/>
          </a:xfrm>
          <a:prstGeom prst="rect">
            <a:avLst/>
          </a:prstGeom>
          <a:noFill/>
          <a:ln/>
        </p:spPr>
        <p:txBody>
          <a:bodyPr wrap="square" lIns="0" tIns="0" rIns="0" bIns="0" rtlCol="0" anchor="ctr"/>
          <a:lstStyle/>
          <a:p>
            <a:pPr marL="0" indent="0">
              <a:buNone/>
            </a:pPr>
            <a:r>
              <a:rPr lang="en-US" sz="2000" b="1" dirty="0">
                <a:solidFill>
                  <a:srgbClr val="F3F7FD"/>
                </a:solidFill>
                <a:latin typeface="Georgia" pitchFamily="34" charset="0"/>
                <a:ea typeface="Georgia" pitchFamily="34" charset="-122"/>
                <a:cs typeface="Georgia" pitchFamily="34" charset="-120"/>
              </a:rPr>
              <a:t>Admin</a:t>
            </a:r>
            <a:endParaRPr lang="en-US" sz="2000" dirty="0"/>
          </a:p>
        </p:txBody>
      </p:sp>
      <p:pic>
        <p:nvPicPr>
          <p:cNvPr id="28" name="Image 12" descr="preencoded.png"/>
          <p:cNvPicPr>
            <a:picLocks noChangeAspect="1"/>
          </p:cNvPicPr>
          <p:nvPr/>
        </p:nvPicPr>
        <p:blipFill>
          <a:blip r:embed="rId5"/>
          <a:stretch>
            <a:fillRect/>
          </a:stretch>
        </p:blipFill>
        <p:spPr>
          <a:xfrm>
            <a:off x="8686800" y="3364992"/>
            <a:ext cx="1097280" cy="45720"/>
          </a:xfrm>
          <a:prstGeom prst="rect">
            <a:avLst/>
          </a:prstGeom>
        </p:spPr>
      </p:pic>
      <p:sp>
        <p:nvSpPr>
          <p:cNvPr id="29" name="Text 14"/>
          <p:cNvSpPr/>
          <p:nvPr/>
        </p:nvSpPr>
        <p:spPr>
          <a:xfrm>
            <a:off x="8686800" y="3566160"/>
            <a:ext cx="3008376" cy="2377440"/>
          </a:xfrm>
          <a:prstGeom prst="rect">
            <a:avLst/>
          </a:prstGeom>
          <a:noFill/>
          <a:ln/>
        </p:spPr>
        <p:txBody>
          <a:bodyPr wrap="square" lIns="0" tIns="0" rIns="0" bIns="0" rtlCol="0" anchor="t"/>
          <a:lstStyle/>
          <a:p>
            <a:pPr marL="203200" indent="-203200">
              <a:spcAft>
                <a:spcPts val="1000"/>
              </a:spcAft>
              <a:buSzPct val="100000"/>
              <a:buChar char="•"/>
            </a:pPr>
            <a:r>
              <a:rPr lang="en-US" sz="1300" dirty="0">
                <a:solidFill>
                  <a:srgbClr val="C3CEDE"/>
                </a:solidFill>
                <a:latin typeface="Calibri" pitchFamily="34" charset="0"/>
                <a:ea typeface="Calibri" pitchFamily="34" charset="-122"/>
                <a:cs typeface="Calibri" pitchFamily="34" charset="-120"/>
              </a:rPr>
              <a:t>CRUD de chollos, categorías, tiendas</a:t>
            </a:r>
            <a:endParaRPr lang="en-US" sz="1300" dirty="0"/>
          </a:p>
          <a:p>
            <a:pPr marL="203200" indent="-203200">
              <a:spcAft>
                <a:spcPts val="1000"/>
              </a:spcAft>
              <a:buSzPct val="100000"/>
              <a:buChar char="•"/>
            </a:pPr>
            <a:r>
              <a:rPr lang="en-US" sz="1300" dirty="0">
                <a:solidFill>
                  <a:srgbClr val="C3CEDE"/>
                </a:solidFill>
                <a:latin typeface="Calibri" pitchFamily="34" charset="0"/>
                <a:ea typeface="Calibri" pitchFamily="34" charset="-122"/>
                <a:cs typeface="Calibri" pitchFamily="34" charset="-120"/>
              </a:rPr>
              <a:t>Autocompletar desde URL Amazon</a:t>
            </a:r>
            <a:endParaRPr lang="en-US" sz="1300" dirty="0"/>
          </a:p>
          <a:p>
            <a:pPr marL="203200" indent="-203200">
              <a:spcAft>
                <a:spcPts val="1000"/>
              </a:spcAft>
              <a:buSzPct val="100000"/>
              <a:buChar char="•"/>
            </a:pPr>
            <a:r>
              <a:rPr lang="en-US" sz="1300" dirty="0">
                <a:solidFill>
                  <a:srgbClr val="C3CEDE"/>
                </a:solidFill>
                <a:latin typeface="Calibri" pitchFamily="34" charset="0"/>
                <a:ea typeface="Calibri" pitchFamily="34" charset="-122"/>
                <a:cs typeface="Calibri" pitchFamily="34" charset="-120"/>
              </a:rPr>
              <a:t>Publicar en Telegram</a:t>
            </a:r>
            <a:endParaRPr lang="en-US" sz="1300" dirty="0"/>
          </a:p>
          <a:p>
            <a:pPr marL="203200" indent="-203200">
              <a:spcAft>
                <a:spcPts val="1000"/>
              </a:spcAft>
              <a:buSzPct val="100000"/>
              <a:buChar char="•"/>
            </a:pPr>
            <a:r>
              <a:rPr lang="en-US" sz="1300" dirty="0">
                <a:solidFill>
                  <a:srgbClr val="C3CEDE"/>
                </a:solidFill>
                <a:latin typeface="Calibri" pitchFamily="34" charset="0"/>
                <a:ea typeface="Calibri" pitchFamily="34" charset="-122"/>
                <a:cs typeface="Calibri" pitchFamily="34" charset="-120"/>
              </a:rPr>
              <a:t>Audit log de cada acción</a:t>
            </a:r>
            <a:endParaRPr lang="en-US" sz="1300" dirty="0"/>
          </a:p>
        </p:txBody>
      </p:sp>
      <p:sp>
        <p:nvSpPr>
          <p:cNvPr id="31" name="Text 15"/>
          <p:cNvSpPr/>
          <p:nvPr/>
        </p:nvSpPr>
        <p:spPr>
          <a:xfrm>
            <a:off x="566928" y="6446520"/>
            <a:ext cx="8229600" cy="292608"/>
          </a:xfrm>
          <a:prstGeom prst="rect">
            <a:avLst/>
          </a:prstGeom>
          <a:noFill/>
          <a:ln/>
        </p:spPr>
        <p:txBody>
          <a:bodyPr wrap="square" lIns="0" tIns="0" rIns="0" bIns="0" rtlCol="0" anchor="ctr"/>
          <a:lstStyle/>
          <a:p>
            <a:pPr marL="0" indent="0">
              <a:buNone/>
            </a:pPr>
            <a:r>
              <a:rPr lang="en-US" sz="900" dirty="0">
                <a:solidFill>
                  <a:srgbClr val="8492A6"/>
                </a:solidFill>
                <a:latin typeface="Calibri" pitchFamily="34" charset="0"/>
                <a:ea typeface="Calibri" pitchFamily="34" charset="-122"/>
                <a:cs typeface="Calibri" pitchFamily="34" charset="-120"/>
              </a:rPr>
              <a:t>BuenCholloTech · TFM Máster en Desarrollo con IA 2025</a:t>
            </a:r>
            <a:endParaRPr lang="en-US" sz="900" dirty="0"/>
          </a:p>
        </p:txBody>
      </p:sp>
      <p:sp>
        <p:nvSpPr>
          <p:cNvPr id="32" name="Text 16"/>
          <p:cNvSpPr/>
          <p:nvPr/>
        </p:nvSpPr>
        <p:spPr>
          <a:xfrm>
            <a:off x="10527487" y="6446520"/>
            <a:ext cx="1097280" cy="292608"/>
          </a:xfrm>
          <a:prstGeom prst="rect">
            <a:avLst/>
          </a:prstGeom>
          <a:noFill/>
          <a:ln/>
        </p:spPr>
        <p:txBody>
          <a:bodyPr wrap="square" lIns="0" tIns="0" rIns="0" bIns="0"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04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928" y="457200"/>
            <a:ext cx="2114093" cy="310896"/>
          </a:xfrm>
          <a:prstGeom prst="roundRect">
            <a:avLst>
              <a:gd name="adj" fmla="val 50000"/>
            </a:avLst>
          </a:prstGeom>
          <a:solidFill>
            <a:srgbClr val="FF6A2B"/>
          </a:solidFill>
          <a:ln/>
        </p:spPr>
        <p:txBody>
          <a:bodyPr/>
          <a:lstStyle/>
          <a:p>
            <a:endParaRPr lang="es-ES"/>
          </a:p>
        </p:txBody>
      </p:sp>
      <p:sp>
        <p:nvSpPr>
          <p:cNvPr id="3" name="Text 1"/>
          <p:cNvSpPr/>
          <p:nvPr/>
        </p:nvSpPr>
        <p:spPr>
          <a:xfrm>
            <a:off x="566928" y="457200"/>
            <a:ext cx="2114093" cy="310896"/>
          </a:xfrm>
          <a:prstGeom prst="rect">
            <a:avLst/>
          </a:prstGeom>
          <a:noFill/>
          <a:ln/>
        </p:spPr>
        <p:txBody>
          <a:bodyPr wrap="square" lIns="0" tIns="0" rIns="0" bIns="0" rtlCol="0" anchor="ctr"/>
          <a:lstStyle/>
          <a:p>
            <a:pPr marL="0" indent="0" algn="ctr">
              <a:buNone/>
            </a:pPr>
            <a:r>
              <a:rPr lang="en-US" sz="1050" b="1" kern="0" spc="100" dirty="0">
                <a:solidFill>
                  <a:srgbClr val="0A0F1A"/>
                </a:solidFill>
                <a:latin typeface="Calibri" pitchFamily="34" charset="0"/>
                <a:ea typeface="Calibri" pitchFamily="34" charset="-122"/>
                <a:cs typeface="Calibri" pitchFamily="34" charset="-120"/>
              </a:rPr>
              <a:t>FEATURE ESTRELLA</a:t>
            </a:r>
            <a:endParaRPr lang="en-US" sz="1050" dirty="0"/>
          </a:p>
        </p:txBody>
      </p:sp>
      <p:pic>
        <p:nvPicPr>
          <p:cNvPr id="4" name="Image 0" descr="preencoded.png"/>
          <p:cNvPicPr>
            <a:picLocks noChangeAspect="1"/>
          </p:cNvPicPr>
          <p:nvPr/>
        </p:nvPicPr>
        <p:blipFill>
          <a:blip r:embed="rId4"/>
          <a:stretch>
            <a:fillRect/>
          </a:stretch>
        </p:blipFill>
        <p:spPr>
          <a:xfrm>
            <a:off x="11057839" y="384048"/>
            <a:ext cx="457200" cy="457200"/>
          </a:xfrm>
          <a:prstGeom prst="rect">
            <a:avLst/>
          </a:prstGeom>
        </p:spPr>
      </p:pic>
      <p:sp>
        <p:nvSpPr>
          <p:cNvPr id="5" name="Text 2"/>
          <p:cNvSpPr/>
          <p:nvPr/>
        </p:nvSpPr>
        <p:spPr>
          <a:xfrm>
            <a:off x="566928" y="841248"/>
            <a:ext cx="10554919" cy="640080"/>
          </a:xfrm>
          <a:prstGeom prst="rect">
            <a:avLst/>
          </a:prstGeom>
          <a:noFill/>
          <a:ln/>
        </p:spPr>
        <p:txBody>
          <a:bodyPr wrap="square" lIns="0" tIns="0" rIns="0" bIns="0" rtlCol="0" anchor="ctr"/>
          <a:lstStyle/>
          <a:p>
            <a:pPr marL="0" indent="0">
              <a:buNone/>
            </a:pPr>
            <a:r>
              <a:rPr lang="en-US" sz="2700" b="1" dirty="0">
                <a:solidFill>
                  <a:srgbClr val="F3F7FD"/>
                </a:solidFill>
                <a:latin typeface="Georgia" pitchFamily="34" charset="0"/>
                <a:ea typeface="Georgia" pitchFamily="34" charset="-122"/>
                <a:cs typeface="Georgia" pitchFamily="34" charset="-120"/>
              </a:rPr>
              <a:t>De una URL de Amazon a Telegram en &lt; 30 s</a:t>
            </a:r>
            <a:endParaRPr lang="en-US" sz="2700" dirty="0"/>
          </a:p>
        </p:txBody>
      </p:sp>
      <p:sp>
        <p:nvSpPr>
          <p:cNvPr id="6" name="Shape 3"/>
          <p:cNvSpPr/>
          <p:nvPr/>
        </p:nvSpPr>
        <p:spPr>
          <a:xfrm>
            <a:off x="499720" y="2103120"/>
            <a:ext cx="2084832" cy="237744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7" name="Image 1" descr="preencoded.png"/>
          <p:cNvPicPr>
            <a:picLocks noChangeAspect="1"/>
          </p:cNvPicPr>
          <p:nvPr/>
        </p:nvPicPr>
        <p:blipFill>
          <a:blip r:embed="rId5"/>
          <a:stretch>
            <a:fillRect/>
          </a:stretch>
        </p:blipFill>
        <p:spPr>
          <a:xfrm>
            <a:off x="499720" y="2103120"/>
            <a:ext cx="2084832" cy="73152"/>
          </a:xfrm>
          <a:prstGeom prst="rect">
            <a:avLst/>
          </a:prstGeom>
        </p:spPr>
      </p:pic>
      <p:sp>
        <p:nvSpPr>
          <p:cNvPr id="8" name="Text 4"/>
          <p:cNvSpPr/>
          <p:nvPr/>
        </p:nvSpPr>
        <p:spPr>
          <a:xfrm>
            <a:off x="646024" y="2194560"/>
            <a:ext cx="640080" cy="502920"/>
          </a:xfrm>
          <a:prstGeom prst="rect">
            <a:avLst/>
          </a:prstGeom>
          <a:noFill/>
          <a:ln/>
        </p:spPr>
        <p:txBody>
          <a:bodyPr wrap="square" lIns="0" tIns="0" rIns="0" bIns="0" rtlCol="0" anchor="ctr"/>
          <a:lstStyle/>
          <a:p>
            <a:pPr marL="0" indent="0">
              <a:buNone/>
            </a:pPr>
            <a:r>
              <a:rPr lang="en-US" sz="2600" b="1" dirty="0">
                <a:solidFill>
                  <a:srgbClr val="2A3A5C"/>
                </a:solidFill>
                <a:latin typeface="Georgia" pitchFamily="34" charset="0"/>
                <a:ea typeface="Georgia" pitchFamily="34" charset="-122"/>
                <a:cs typeface="Georgia" pitchFamily="34" charset="-120"/>
              </a:rPr>
              <a:t>1</a:t>
            </a:r>
            <a:endParaRPr lang="en-US" sz="2600" dirty="0"/>
          </a:p>
        </p:txBody>
      </p:sp>
      <p:pic>
        <p:nvPicPr>
          <p:cNvPr id="9" name="Image 2" descr="preencoded.png"/>
          <p:cNvPicPr>
            <a:picLocks noChangeAspect="1"/>
          </p:cNvPicPr>
          <p:nvPr/>
        </p:nvPicPr>
        <p:blipFill>
          <a:blip r:embed="rId6"/>
          <a:stretch>
            <a:fillRect/>
          </a:stretch>
        </p:blipFill>
        <p:spPr>
          <a:xfrm>
            <a:off x="764896" y="2194560"/>
            <a:ext cx="1554480" cy="1554480"/>
          </a:xfrm>
          <a:prstGeom prst="rect">
            <a:avLst/>
          </a:prstGeom>
        </p:spPr>
      </p:pic>
      <p:sp>
        <p:nvSpPr>
          <p:cNvPr id="10" name="Shape 5"/>
          <p:cNvSpPr/>
          <p:nvPr/>
        </p:nvSpPr>
        <p:spPr>
          <a:xfrm>
            <a:off x="1148944" y="2578608"/>
            <a:ext cx="786384" cy="786384"/>
          </a:xfrm>
          <a:prstGeom prst="ellipse">
            <a:avLst/>
          </a:prstGeom>
          <a:solidFill>
            <a:srgbClr val="37D6C3"/>
          </a:solidFill>
          <a:ln/>
        </p:spPr>
        <p:txBody>
          <a:bodyPr/>
          <a:lstStyle/>
          <a:p>
            <a:endParaRPr lang="es-ES"/>
          </a:p>
        </p:txBody>
      </p:sp>
      <p:pic>
        <p:nvPicPr>
          <p:cNvPr id="11" name="Image 3" descr="preencoded.png"/>
          <p:cNvPicPr>
            <a:picLocks noChangeAspect="1"/>
          </p:cNvPicPr>
          <p:nvPr/>
        </p:nvPicPr>
        <p:blipFill>
          <a:blip r:embed="rId7"/>
          <a:stretch>
            <a:fillRect/>
          </a:stretch>
        </p:blipFill>
        <p:spPr>
          <a:xfrm>
            <a:off x="1331824" y="2761488"/>
            <a:ext cx="420624" cy="420624"/>
          </a:xfrm>
          <a:prstGeom prst="rect">
            <a:avLst/>
          </a:prstGeom>
        </p:spPr>
      </p:pic>
      <p:sp>
        <p:nvSpPr>
          <p:cNvPr id="12" name="Text 6"/>
          <p:cNvSpPr/>
          <p:nvPr/>
        </p:nvSpPr>
        <p:spPr>
          <a:xfrm>
            <a:off x="591160" y="3493008"/>
            <a:ext cx="1901952" cy="365760"/>
          </a:xfrm>
          <a:prstGeom prst="rect">
            <a:avLst/>
          </a:prstGeom>
          <a:noFill/>
          <a:ln/>
        </p:spPr>
        <p:txBody>
          <a:bodyPr wrap="square" lIns="0" tIns="0" rIns="0" bIns="0" rtlCol="0" anchor="ctr"/>
          <a:lstStyle/>
          <a:p>
            <a:pPr marL="0" indent="0" algn="ctr">
              <a:buNone/>
            </a:pPr>
            <a:r>
              <a:rPr lang="en-US" sz="1500" b="1" dirty="0">
                <a:solidFill>
                  <a:srgbClr val="F3F7FD"/>
                </a:solidFill>
                <a:latin typeface="Georgia" pitchFamily="34" charset="0"/>
                <a:ea typeface="Georgia" pitchFamily="34" charset="-122"/>
                <a:cs typeface="Georgia" pitchFamily="34" charset="-120"/>
              </a:rPr>
              <a:t>Pegar URL</a:t>
            </a:r>
            <a:endParaRPr lang="en-US" sz="1500" dirty="0"/>
          </a:p>
        </p:txBody>
      </p:sp>
      <p:sp>
        <p:nvSpPr>
          <p:cNvPr id="13" name="Text 7"/>
          <p:cNvSpPr/>
          <p:nvPr/>
        </p:nvSpPr>
        <p:spPr>
          <a:xfrm>
            <a:off x="646024" y="3858768"/>
            <a:ext cx="1792224" cy="548640"/>
          </a:xfrm>
          <a:prstGeom prst="rect">
            <a:avLst/>
          </a:prstGeom>
          <a:noFill/>
          <a:ln/>
        </p:spPr>
        <p:txBody>
          <a:bodyPr wrap="square" lIns="0" tIns="0" rIns="0" bIns="0" rtlCol="0" anchor="ctr"/>
          <a:lstStyle/>
          <a:p>
            <a:pPr marL="0" indent="0" algn="ctr">
              <a:lnSpc>
                <a:spcPct val="105000"/>
              </a:lnSpc>
              <a:buNone/>
            </a:pPr>
            <a:r>
              <a:rPr lang="en-US" sz="1100" dirty="0">
                <a:solidFill>
                  <a:srgbClr val="C3CEDE"/>
                </a:solidFill>
                <a:latin typeface="Calibri" pitchFamily="34" charset="0"/>
                <a:ea typeface="Calibri" pitchFamily="34" charset="-122"/>
                <a:cs typeface="Calibri" pitchFamily="34" charset="-120"/>
              </a:rPr>
              <a:t>El admin pega la URL de Amazon</a:t>
            </a:r>
            <a:endParaRPr lang="en-US" sz="1100" dirty="0"/>
          </a:p>
        </p:txBody>
      </p:sp>
      <p:sp>
        <p:nvSpPr>
          <p:cNvPr id="14" name="Text 8"/>
          <p:cNvSpPr/>
          <p:nvPr/>
        </p:nvSpPr>
        <p:spPr>
          <a:xfrm>
            <a:off x="2566264" y="2761488"/>
            <a:ext cx="228600" cy="548640"/>
          </a:xfrm>
          <a:prstGeom prst="rect">
            <a:avLst/>
          </a:prstGeom>
          <a:noFill/>
          <a:ln/>
        </p:spPr>
        <p:txBody>
          <a:bodyPr wrap="square" lIns="0" tIns="0" rIns="0" bIns="0" rtlCol="0" anchor="ctr"/>
          <a:lstStyle/>
          <a:p>
            <a:pPr marL="0" indent="0" algn="ctr">
              <a:buNone/>
            </a:pPr>
            <a:r>
              <a:rPr lang="en-US" sz="3000" b="1" dirty="0">
                <a:solidFill>
                  <a:srgbClr val="FF6A2B"/>
                </a:solidFill>
                <a:latin typeface="Calibri" pitchFamily="34" charset="0"/>
                <a:ea typeface="Calibri" pitchFamily="34" charset="-122"/>
                <a:cs typeface="Calibri" pitchFamily="34" charset="-120"/>
              </a:rPr>
              <a:t>›</a:t>
            </a:r>
            <a:endParaRPr lang="en-US" sz="3000" dirty="0"/>
          </a:p>
        </p:txBody>
      </p:sp>
      <p:sp>
        <p:nvSpPr>
          <p:cNvPr id="15" name="Shape 9"/>
          <p:cNvSpPr/>
          <p:nvPr/>
        </p:nvSpPr>
        <p:spPr>
          <a:xfrm>
            <a:off x="2776576" y="2103120"/>
            <a:ext cx="2084832" cy="237744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6" name="Image 4" descr="preencoded.png"/>
          <p:cNvPicPr>
            <a:picLocks noChangeAspect="1"/>
          </p:cNvPicPr>
          <p:nvPr/>
        </p:nvPicPr>
        <p:blipFill>
          <a:blip r:embed="rId5"/>
          <a:stretch>
            <a:fillRect/>
          </a:stretch>
        </p:blipFill>
        <p:spPr>
          <a:xfrm>
            <a:off x="2776576" y="2103120"/>
            <a:ext cx="2084832" cy="73152"/>
          </a:xfrm>
          <a:prstGeom prst="rect">
            <a:avLst/>
          </a:prstGeom>
        </p:spPr>
      </p:pic>
      <p:sp>
        <p:nvSpPr>
          <p:cNvPr id="17" name="Text 10"/>
          <p:cNvSpPr/>
          <p:nvPr/>
        </p:nvSpPr>
        <p:spPr>
          <a:xfrm>
            <a:off x="2922880" y="2194560"/>
            <a:ext cx="640080" cy="502920"/>
          </a:xfrm>
          <a:prstGeom prst="rect">
            <a:avLst/>
          </a:prstGeom>
          <a:noFill/>
          <a:ln/>
        </p:spPr>
        <p:txBody>
          <a:bodyPr wrap="square" lIns="0" tIns="0" rIns="0" bIns="0" rtlCol="0" anchor="ctr"/>
          <a:lstStyle/>
          <a:p>
            <a:pPr marL="0" indent="0">
              <a:buNone/>
            </a:pPr>
            <a:r>
              <a:rPr lang="en-US" sz="2600" b="1" dirty="0">
                <a:solidFill>
                  <a:srgbClr val="2A3A5C"/>
                </a:solidFill>
                <a:latin typeface="Georgia" pitchFamily="34" charset="0"/>
                <a:ea typeface="Georgia" pitchFamily="34" charset="-122"/>
                <a:cs typeface="Georgia" pitchFamily="34" charset="-120"/>
              </a:rPr>
              <a:t>2</a:t>
            </a:r>
            <a:endParaRPr lang="en-US" sz="2600" dirty="0"/>
          </a:p>
        </p:txBody>
      </p:sp>
      <p:pic>
        <p:nvPicPr>
          <p:cNvPr id="18" name="Image 5" descr="preencoded.png"/>
          <p:cNvPicPr>
            <a:picLocks noChangeAspect="1"/>
          </p:cNvPicPr>
          <p:nvPr/>
        </p:nvPicPr>
        <p:blipFill>
          <a:blip r:embed="rId6"/>
          <a:stretch>
            <a:fillRect/>
          </a:stretch>
        </p:blipFill>
        <p:spPr>
          <a:xfrm>
            <a:off x="3041752" y="2194560"/>
            <a:ext cx="1554480" cy="1554480"/>
          </a:xfrm>
          <a:prstGeom prst="rect">
            <a:avLst/>
          </a:prstGeom>
        </p:spPr>
      </p:pic>
      <p:sp>
        <p:nvSpPr>
          <p:cNvPr id="19" name="Shape 11"/>
          <p:cNvSpPr/>
          <p:nvPr/>
        </p:nvSpPr>
        <p:spPr>
          <a:xfrm>
            <a:off x="3425800" y="2578608"/>
            <a:ext cx="786384" cy="786384"/>
          </a:xfrm>
          <a:prstGeom prst="ellipse">
            <a:avLst/>
          </a:prstGeom>
          <a:solidFill>
            <a:srgbClr val="37D6C3"/>
          </a:solidFill>
          <a:ln/>
        </p:spPr>
        <p:txBody>
          <a:bodyPr/>
          <a:lstStyle/>
          <a:p>
            <a:endParaRPr lang="es-ES"/>
          </a:p>
        </p:txBody>
      </p:sp>
      <p:pic>
        <p:nvPicPr>
          <p:cNvPr id="20" name="Image 6" descr="preencoded.png"/>
          <p:cNvPicPr>
            <a:picLocks noChangeAspect="1"/>
          </p:cNvPicPr>
          <p:nvPr/>
        </p:nvPicPr>
        <p:blipFill>
          <a:blip r:embed="rId8"/>
          <a:stretch>
            <a:fillRect/>
          </a:stretch>
        </p:blipFill>
        <p:spPr>
          <a:xfrm>
            <a:off x="3608680" y="2761488"/>
            <a:ext cx="420624" cy="420624"/>
          </a:xfrm>
          <a:prstGeom prst="rect">
            <a:avLst/>
          </a:prstGeom>
        </p:spPr>
      </p:pic>
      <p:sp>
        <p:nvSpPr>
          <p:cNvPr id="21" name="Text 12"/>
          <p:cNvSpPr/>
          <p:nvPr/>
        </p:nvSpPr>
        <p:spPr>
          <a:xfrm>
            <a:off x="2868016" y="3493008"/>
            <a:ext cx="1901952" cy="365760"/>
          </a:xfrm>
          <a:prstGeom prst="rect">
            <a:avLst/>
          </a:prstGeom>
          <a:noFill/>
          <a:ln/>
        </p:spPr>
        <p:txBody>
          <a:bodyPr wrap="square" lIns="0" tIns="0" rIns="0" bIns="0" rtlCol="0" anchor="ctr"/>
          <a:lstStyle/>
          <a:p>
            <a:pPr marL="0" indent="0" algn="ctr">
              <a:buNone/>
            </a:pPr>
            <a:r>
              <a:rPr lang="en-US" sz="1500" b="1" dirty="0">
                <a:solidFill>
                  <a:srgbClr val="F3F7FD"/>
                </a:solidFill>
                <a:latin typeface="Georgia" pitchFamily="34" charset="0"/>
                <a:ea typeface="Georgia" pitchFamily="34" charset="-122"/>
                <a:cs typeface="Georgia" pitchFamily="34" charset="-120"/>
              </a:rPr>
              <a:t>Extraer datos</a:t>
            </a:r>
            <a:endParaRPr lang="en-US" sz="1500" dirty="0"/>
          </a:p>
        </p:txBody>
      </p:sp>
      <p:sp>
        <p:nvSpPr>
          <p:cNvPr id="22" name="Text 13"/>
          <p:cNvSpPr/>
          <p:nvPr/>
        </p:nvSpPr>
        <p:spPr>
          <a:xfrm>
            <a:off x="2922880" y="3858768"/>
            <a:ext cx="1792224" cy="548640"/>
          </a:xfrm>
          <a:prstGeom prst="rect">
            <a:avLst/>
          </a:prstGeom>
          <a:noFill/>
          <a:ln/>
        </p:spPr>
        <p:txBody>
          <a:bodyPr wrap="square" lIns="0" tIns="0" rIns="0" bIns="0" rtlCol="0" anchor="ctr"/>
          <a:lstStyle/>
          <a:p>
            <a:pPr marL="0" indent="0" algn="ctr">
              <a:lnSpc>
                <a:spcPct val="105000"/>
              </a:lnSpc>
              <a:buNone/>
            </a:pPr>
            <a:r>
              <a:rPr lang="en-US" sz="1100" dirty="0">
                <a:solidFill>
                  <a:srgbClr val="C3CEDE"/>
                </a:solidFill>
                <a:latin typeface="Calibri" pitchFamily="34" charset="0"/>
                <a:ea typeface="Calibri" pitchFamily="34" charset="-122"/>
                <a:cs typeface="Calibri" pitchFamily="34" charset="-120"/>
              </a:rPr>
              <a:t>ASIN, título, precio e imagen</a:t>
            </a:r>
            <a:endParaRPr lang="en-US" sz="1100" dirty="0"/>
          </a:p>
        </p:txBody>
      </p:sp>
      <p:sp>
        <p:nvSpPr>
          <p:cNvPr id="23" name="Text 14"/>
          <p:cNvSpPr/>
          <p:nvPr/>
        </p:nvSpPr>
        <p:spPr>
          <a:xfrm>
            <a:off x="4843120" y="2761488"/>
            <a:ext cx="228600" cy="548640"/>
          </a:xfrm>
          <a:prstGeom prst="rect">
            <a:avLst/>
          </a:prstGeom>
          <a:noFill/>
          <a:ln/>
        </p:spPr>
        <p:txBody>
          <a:bodyPr wrap="square" lIns="0" tIns="0" rIns="0" bIns="0" rtlCol="0" anchor="ctr"/>
          <a:lstStyle/>
          <a:p>
            <a:pPr marL="0" indent="0" algn="ctr">
              <a:buNone/>
            </a:pPr>
            <a:r>
              <a:rPr lang="en-US" sz="3000" b="1" dirty="0">
                <a:solidFill>
                  <a:srgbClr val="FF6A2B"/>
                </a:solidFill>
                <a:latin typeface="Calibri" pitchFamily="34" charset="0"/>
                <a:ea typeface="Calibri" pitchFamily="34" charset="-122"/>
                <a:cs typeface="Calibri" pitchFamily="34" charset="-120"/>
              </a:rPr>
              <a:t>›</a:t>
            </a:r>
            <a:endParaRPr lang="en-US" sz="3000" dirty="0"/>
          </a:p>
        </p:txBody>
      </p:sp>
      <p:sp>
        <p:nvSpPr>
          <p:cNvPr id="24" name="Shape 15"/>
          <p:cNvSpPr/>
          <p:nvPr/>
        </p:nvSpPr>
        <p:spPr>
          <a:xfrm>
            <a:off x="5053432" y="2103120"/>
            <a:ext cx="2084832" cy="237744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25" name="Image 7" descr="preencoded.png"/>
          <p:cNvPicPr>
            <a:picLocks noChangeAspect="1"/>
          </p:cNvPicPr>
          <p:nvPr/>
        </p:nvPicPr>
        <p:blipFill>
          <a:blip r:embed="rId5"/>
          <a:stretch>
            <a:fillRect/>
          </a:stretch>
        </p:blipFill>
        <p:spPr>
          <a:xfrm>
            <a:off x="5053432" y="2103120"/>
            <a:ext cx="2084832" cy="73152"/>
          </a:xfrm>
          <a:prstGeom prst="rect">
            <a:avLst/>
          </a:prstGeom>
        </p:spPr>
      </p:pic>
      <p:sp>
        <p:nvSpPr>
          <p:cNvPr id="26" name="Text 16"/>
          <p:cNvSpPr/>
          <p:nvPr/>
        </p:nvSpPr>
        <p:spPr>
          <a:xfrm>
            <a:off x="5199736" y="2194560"/>
            <a:ext cx="640080" cy="502920"/>
          </a:xfrm>
          <a:prstGeom prst="rect">
            <a:avLst/>
          </a:prstGeom>
          <a:noFill/>
          <a:ln/>
        </p:spPr>
        <p:txBody>
          <a:bodyPr wrap="square" lIns="0" tIns="0" rIns="0" bIns="0" rtlCol="0" anchor="ctr"/>
          <a:lstStyle/>
          <a:p>
            <a:pPr marL="0" indent="0">
              <a:buNone/>
            </a:pPr>
            <a:r>
              <a:rPr lang="en-US" sz="2600" b="1" dirty="0">
                <a:solidFill>
                  <a:srgbClr val="2A3A5C"/>
                </a:solidFill>
                <a:latin typeface="Georgia" pitchFamily="34" charset="0"/>
                <a:ea typeface="Georgia" pitchFamily="34" charset="-122"/>
                <a:cs typeface="Georgia" pitchFamily="34" charset="-120"/>
              </a:rPr>
              <a:t>3</a:t>
            </a:r>
            <a:endParaRPr lang="en-US" sz="2600" dirty="0"/>
          </a:p>
        </p:txBody>
      </p:sp>
      <p:pic>
        <p:nvPicPr>
          <p:cNvPr id="27" name="Image 8" descr="preencoded.png"/>
          <p:cNvPicPr>
            <a:picLocks noChangeAspect="1"/>
          </p:cNvPicPr>
          <p:nvPr/>
        </p:nvPicPr>
        <p:blipFill>
          <a:blip r:embed="rId9"/>
          <a:stretch>
            <a:fillRect/>
          </a:stretch>
        </p:blipFill>
        <p:spPr>
          <a:xfrm>
            <a:off x="5318608" y="2194560"/>
            <a:ext cx="1554480" cy="1554480"/>
          </a:xfrm>
          <a:prstGeom prst="rect">
            <a:avLst/>
          </a:prstGeom>
        </p:spPr>
      </p:pic>
      <p:sp>
        <p:nvSpPr>
          <p:cNvPr id="28" name="Shape 17"/>
          <p:cNvSpPr/>
          <p:nvPr/>
        </p:nvSpPr>
        <p:spPr>
          <a:xfrm>
            <a:off x="5702656" y="2578608"/>
            <a:ext cx="786384" cy="786384"/>
          </a:xfrm>
          <a:prstGeom prst="ellipse">
            <a:avLst/>
          </a:prstGeom>
          <a:solidFill>
            <a:srgbClr val="FF6A2B"/>
          </a:solidFill>
          <a:ln/>
        </p:spPr>
        <p:txBody>
          <a:bodyPr/>
          <a:lstStyle/>
          <a:p>
            <a:endParaRPr lang="es-ES"/>
          </a:p>
        </p:txBody>
      </p:sp>
      <p:pic>
        <p:nvPicPr>
          <p:cNvPr id="29" name="Image 9" descr="preencoded.png"/>
          <p:cNvPicPr>
            <a:picLocks noChangeAspect="1"/>
          </p:cNvPicPr>
          <p:nvPr/>
        </p:nvPicPr>
        <p:blipFill>
          <a:blip r:embed="rId10"/>
          <a:stretch>
            <a:fillRect/>
          </a:stretch>
        </p:blipFill>
        <p:spPr>
          <a:xfrm>
            <a:off x="5885536" y="2761488"/>
            <a:ext cx="420624" cy="420624"/>
          </a:xfrm>
          <a:prstGeom prst="rect">
            <a:avLst/>
          </a:prstGeom>
        </p:spPr>
      </p:pic>
      <p:sp>
        <p:nvSpPr>
          <p:cNvPr id="30" name="Text 18"/>
          <p:cNvSpPr/>
          <p:nvPr/>
        </p:nvSpPr>
        <p:spPr>
          <a:xfrm>
            <a:off x="5144872" y="3493008"/>
            <a:ext cx="1901952" cy="365760"/>
          </a:xfrm>
          <a:prstGeom prst="rect">
            <a:avLst/>
          </a:prstGeom>
          <a:noFill/>
          <a:ln/>
        </p:spPr>
        <p:txBody>
          <a:bodyPr wrap="square" lIns="0" tIns="0" rIns="0" bIns="0" rtlCol="0" anchor="ctr"/>
          <a:lstStyle/>
          <a:p>
            <a:pPr marL="0" indent="0" algn="ctr">
              <a:buNone/>
            </a:pPr>
            <a:r>
              <a:rPr lang="en-US" sz="1500" b="1" dirty="0">
                <a:solidFill>
                  <a:srgbClr val="F3F7FD"/>
                </a:solidFill>
                <a:latin typeface="Georgia" pitchFamily="34" charset="0"/>
                <a:ea typeface="Georgia" pitchFamily="34" charset="-122"/>
                <a:cs typeface="Georgia" pitchFamily="34" charset="-120"/>
              </a:rPr>
              <a:t>IA genera copy</a:t>
            </a:r>
            <a:endParaRPr lang="en-US" sz="1500" dirty="0"/>
          </a:p>
        </p:txBody>
      </p:sp>
      <p:sp>
        <p:nvSpPr>
          <p:cNvPr id="31" name="Text 19"/>
          <p:cNvSpPr/>
          <p:nvPr/>
        </p:nvSpPr>
        <p:spPr>
          <a:xfrm>
            <a:off x="5199736" y="3858768"/>
            <a:ext cx="1792224" cy="548640"/>
          </a:xfrm>
          <a:prstGeom prst="rect">
            <a:avLst/>
          </a:prstGeom>
          <a:noFill/>
          <a:ln/>
        </p:spPr>
        <p:txBody>
          <a:bodyPr wrap="square" lIns="0" tIns="0" rIns="0" bIns="0" rtlCol="0" anchor="ctr"/>
          <a:lstStyle/>
          <a:p>
            <a:pPr marL="0" indent="0" algn="ctr">
              <a:lnSpc>
                <a:spcPct val="105000"/>
              </a:lnSpc>
              <a:buNone/>
            </a:pPr>
            <a:r>
              <a:rPr lang="en-US" sz="1100" dirty="0">
                <a:solidFill>
                  <a:srgbClr val="C3CEDE"/>
                </a:solidFill>
                <a:latin typeface="Calibri" pitchFamily="34" charset="0"/>
                <a:ea typeface="Calibri" pitchFamily="34" charset="-122"/>
                <a:cs typeface="Calibri" pitchFamily="34" charset="-120"/>
              </a:rPr>
              <a:t>GPT-4o redacta y categoriza</a:t>
            </a:r>
            <a:endParaRPr lang="en-US" sz="1100" dirty="0"/>
          </a:p>
        </p:txBody>
      </p:sp>
      <p:sp>
        <p:nvSpPr>
          <p:cNvPr id="32" name="Text 20"/>
          <p:cNvSpPr/>
          <p:nvPr/>
        </p:nvSpPr>
        <p:spPr>
          <a:xfrm>
            <a:off x="7119976" y="2761488"/>
            <a:ext cx="228600" cy="548640"/>
          </a:xfrm>
          <a:prstGeom prst="rect">
            <a:avLst/>
          </a:prstGeom>
          <a:noFill/>
          <a:ln/>
        </p:spPr>
        <p:txBody>
          <a:bodyPr wrap="square" lIns="0" tIns="0" rIns="0" bIns="0" rtlCol="0" anchor="ctr"/>
          <a:lstStyle/>
          <a:p>
            <a:pPr marL="0" indent="0" algn="ctr">
              <a:buNone/>
            </a:pPr>
            <a:r>
              <a:rPr lang="en-US" sz="3000" b="1" dirty="0">
                <a:solidFill>
                  <a:srgbClr val="FF6A2B"/>
                </a:solidFill>
                <a:latin typeface="Calibri" pitchFamily="34" charset="0"/>
                <a:ea typeface="Calibri" pitchFamily="34" charset="-122"/>
                <a:cs typeface="Calibri" pitchFamily="34" charset="-120"/>
              </a:rPr>
              <a:t>›</a:t>
            </a:r>
            <a:endParaRPr lang="en-US" sz="3000" dirty="0"/>
          </a:p>
        </p:txBody>
      </p:sp>
      <p:sp>
        <p:nvSpPr>
          <p:cNvPr id="33" name="Shape 21"/>
          <p:cNvSpPr/>
          <p:nvPr/>
        </p:nvSpPr>
        <p:spPr>
          <a:xfrm>
            <a:off x="7330288" y="2103120"/>
            <a:ext cx="2084832" cy="237744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34" name="Image 10" descr="preencoded.png"/>
          <p:cNvPicPr>
            <a:picLocks noChangeAspect="1"/>
          </p:cNvPicPr>
          <p:nvPr/>
        </p:nvPicPr>
        <p:blipFill>
          <a:blip r:embed="rId5"/>
          <a:stretch>
            <a:fillRect/>
          </a:stretch>
        </p:blipFill>
        <p:spPr>
          <a:xfrm>
            <a:off x="7330288" y="2103120"/>
            <a:ext cx="2084832" cy="73152"/>
          </a:xfrm>
          <a:prstGeom prst="rect">
            <a:avLst/>
          </a:prstGeom>
        </p:spPr>
      </p:pic>
      <p:sp>
        <p:nvSpPr>
          <p:cNvPr id="35" name="Text 22"/>
          <p:cNvSpPr/>
          <p:nvPr/>
        </p:nvSpPr>
        <p:spPr>
          <a:xfrm>
            <a:off x="7476592" y="2194560"/>
            <a:ext cx="640080" cy="502920"/>
          </a:xfrm>
          <a:prstGeom prst="rect">
            <a:avLst/>
          </a:prstGeom>
          <a:noFill/>
          <a:ln/>
        </p:spPr>
        <p:txBody>
          <a:bodyPr wrap="square" lIns="0" tIns="0" rIns="0" bIns="0" rtlCol="0" anchor="ctr"/>
          <a:lstStyle/>
          <a:p>
            <a:pPr marL="0" indent="0">
              <a:buNone/>
            </a:pPr>
            <a:r>
              <a:rPr lang="en-US" sz="2600" b="1" dirty="0">
                <a:solidFill>
                  <a:srgbClr val="2A3A5C"/>
                </a:solidFill>
                <a:latin typeface="Georgia" pitchFamily="34" charset="0"/>
                <a:ea typeface="Georgia" pitchFamily="34" charset="-122"/>
                <a:cs typeface="Georgia" pitchFamily="34" charset="-120"/>
              </a:rPr>
              <a:t>4</a:t>
            </a:r>
            <a:endParaRPr lang="en-US" sz="2600" dirty="0"/>
          </a:p>
        </p:txBody>
      </p:sp>
      <p:pic>
        <p:nvPicPr>
          <p:cNvPr id="36" name="Image 11" descr="preencoded.png"/>
          <p:cNvPicPr>
            <a:picLocks noChangeAspect="1"/>
          </p:cNvPicPr>
          <p:nvPr/>
        </p:nvPicPr>
        <p:blipFill>
          <a:blip r:embed="rId6"/>
          <a:stretch>
            <a:fillRect/>
          </a:stretch>
        </p:blipFill>
        <p:spPr>
          <a:xfrm>
            <a:off x="7595464" y="2194560"/>
            <a:ext cx="1554480" cy="1554480"/>
          </a:xfrm>
          <a:prstGeom prst="rect">
            <a:avLst/>
          </a:prstGeom>
        </p:spPr>
      </p:pic>
      <p:sp>
        <p:nvSpPr>
          <p:cNvPr id="37" name="Shape 23"/>
          <p:cNvSpPr/>
          <p:nvPr/>
        </p:nvSpPr>
        <p:spPr>
          <a:xfrm>
            <a:off x="7979512" y="2578608"/>
            <a:ext cx="786384" cy="786384"/>
          </a:xfrm>
          <a:prstGeom prst="ellipse">
            <a:avLst/>
          </a:prstGeom>
          <a:solidFill>
            <a:srgbClr val="37D6C3"/>
          </a:solidFill>
          <a:ln/>
        </p:spPr>
        <p:txBody>
          <a:bodyPr/>
          <a:lstStyle/>
          <a:p>
            <a:endParaRPr lang="es-ES"/>
          </a:p>
        </p:txBody>
      </p:sp>
      <p:pic>
        <p:nvPicPr>
          <p:cNvPr id="38" name="Image 12" descr="preencoded.png"/>
          <p:cNvPicPr>
            <a:picLocks noChangeAspect="1"/>
          </p:cNvPicPr>
          <p:nvPr/>
        </p:nvPicPr>
        <p:blipFill>
          <a:blip r:embed="rId11"/>
          <a:stretch>
            <a:fillRect/>
          </a:stretch>
        </p:blipFill>
        <p:spPr>
          <a:xfrm>
            <a:off x="8162392" y="2761488"/>
            <a:ext cx="420624" cy="420624"/>
          </a:xfrm>
          <a:prstGeom prst="rect">
            <a:avLst/>
          </a:prstGeom>
        </p:spPr>
      </p:pic>
      <p:sp>
        <p:nvSpPr>
          <p:cNvPr id="39" name="Text 24"/>
          <p:cNvSpPr/>
          <p:nvPr/>
        </p:nvSpPr>
        <p:spPr>
          <a:xfrm>
            <a:off x="7421728" y="3493008"/>
            <a:ext cx="1901952" cy="365760"/>
          </a:xfrm>
          <a:prstGeom prst="rect">
            <a:avLst/>
          </a:prstGeom>
          <a:noFill/>
          <a:ln/>
        </p:spPr>
        <p:txBody>
          <a:bodyPr wrap="square" lIns="0" tIns="0" rIns="0" bIns="0" rtlCol="0" anchor="ctr"/>
          <a:lstStyle/>
          <a:p>
            <a:pPr marL="0" indent="0" algn="ctr">
              <a:buNone/>
            </a:pPr>
            <a:r>
              <a:rPr lang="en-US" sz="1500" b="1" dirty="0">
                <a:solidFill>
                  <a:srgbClr val="F3F7FD"/>
                </a:solidFill>
                <a:latin typeface="Georgia" pitchFamily="34" charset="0"/>
                <a:ea typeface="Georgia" pitchFamily="34" charset="-122"/>
                <a:cs typeface="Georgia" pitchFamily="34" charset="-120"/>
              </a:rPr>
              <a:t>Alertas</a:t>
            </a:r>
            <a:endParaRPr lang="en-US" sz="1500" dirty="0"/>
          </a:p>
        </p:txBody>
      </p:sp>
      <p:sp>
        <p:nvSpPr>
          <p:cNvPr id="40" name="Text 25"/>
          <p:cNvSpPr/>
          <p:nvPr/>
        </p:nvSpPr>
        <p:spPr>
          <a:xfrm>
            <a:off x="7476592" y="3858768"/>
            <a:ext cx="1792224" cy="548640"/>
          </a:xfrm>
          <a:prstGeom prst="rect">
            <a:avLst/>
          </a:prstGeom>
          <a:noFill/>
          <a:ln/>
        </p:spPr>
        <p:txBody>
          <a:bodyPr wrap="square" lIns="0" tIns="0" rIns="0" bIns="0" rtlCol="0" anchor="ctr"/>
          <a:lstStyle/>
          <a:p>
            <a:pPr marL="0" indent="0" algn="ctr">
              <a:lnSpc>
                <a:spcPct val="105000"/>
              </a:lnSpc>
              <a:buNone/>
            </a:pPr>
            <a:r>
              <a:rPr lang="en-US" sz="1100" dirty="0">
                <a:solidFill>
                  <a:srgbClr val="C3CEDE"/>
                </a:solidFill>
                <a:latin typeface="Calibri" pitchFamily="34" charset="0"/>
                <a:ea typeface="Calibri" pitchFamily="34" charset="-122"/>
                <a:cs typeface="Calibri" pitchFamily="34" charset="-120"/>
              </a:rPr>
              <a:t>AlertMatcher avisa a suscriptores</a:t>
            </a:r>
            <a:endParaRPr lang="en-US" sz="1100" dirty="0"/>
          </a:p>
        </p:txBody>
      </p:sp>
      <p:sp>
        <p:nvSpPr>
          <p:cNvPr id="41" name="Text 26"/>
          <p:cNvSpPr/>
          <p:nvPr/>
        </p:nvSpPr>
        <p:spPr>
          <a:xfrm>
            <a:off x="9396832" y="2761488"/>
            <a:ext cx="228600" cy="548640"/>
          </a:xfrm>
          <a:prstGeom prst="rect">
            <a:avLst/>
          </a:prstGeom>
          <a:noFill/>
          <a:ln/>
        </p:spPr>
        <p:txBody>
          <a:bodyPr wrap="square" lIns="0" tIns="0" rIns="0" bIns="0" rtlCol="0" anchor="ctr"/>
          <a:lstStyle/>
          <a:p>
            <a:pPr marL="0" indent="0" algn="ctr">
              <a:buNone/>
            </a:pPr>
            <a:r>
              <a:rPr lang="en-US" sz="3000" b="1" dirty="0">
                <a:solidFill>
                  <a:srgbClr val="FF6A2B"/>
                </a:solidFill>
                <a:latin typeface="Calibri" pitchFamily="34" charset="0"/>
                <a:ea typeface="Calibri" pitchFamily="34" charset="-122"/>
                <a:cs typeface="Calibri" pitchFamily="34" charset="-120"/>
              </a:rPr>
              <a:t>›</a:t>
            </a:r>
            <a:endParaRPr lang="en-US" sz="3000" dirty="0"/>
          </a:p>
        </p:txBody>
      </p:sp>
      <p:sp>
        <p:nvSpPr>
          <p:cNvPr id="42" name="Shape 27"/>
          <p:cNvSpPr/>
          <p:nvPr/>
        </p:nvSpPr>
        <p:spPr>
          <a:xfrm>
            <a:off x="9607144" y="2103120"/>
            <a:ext cx="2084832" cy="237744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43" name="Image 13" descr="preencoded.png"/>
          <p:cNvPicPr>
            <a:picLocks noChangeAspect="1"/>
          </p:cNvPicPr>
          <p:nvPr/>
        </p:nvPicPr>
        <p:blipFill>
          <a:blip r:embed="rId5"/>
          <a:stretch>
            <a:fillRect/>
          </a:stretch>
        </p:blipFill>
        <p:spPr>
          <a:xfrm>
            <a:off x="9607144" y="2103120"/>
            <a:ext cx="2084832" cy="73152"/>
          </a:xfrm>
          <a:prstGeom prst="rect">
            <a:avLst/>
          </a:prstGeom>
        </p:spPr>
      </p:pic>
      <p:sp>
        <p:nvSpPr>
          <p:cNvPr id="44" name="Text 28"/>
          <p:cNvSpPr/>
          <p:nvPr/>
        </p:nvSpPr>
        <p:spPr>
          <a:xfrm>
            <a:off x="9753448" y="2194560"/>
            <a:ext cx="640080" cy="502920"/>
          </a:xfrm>
          <a:prstGeom prst="rect">
            <a:avLst/>
          </a:prstGeom>
          <a:noFill/>
          <a:ln/>
        </p:spPr>
        <p:txBody>
          <a:bodyPr wrap="square" lIns="0" tIns="0" rIns="0" bIns="0" rtlCol="0" anchor="ctr"/>
          <a:lstStyle/>
          <a:p>
            <a:pPr marL="0" indent="0">
              <a:buNone/>
            </a:pPr>
            <a:r>
              <a:rPr lang="en-US" sz="2600" b="1" dirty="0">
                <a:solidFill>
                  <a:srgbClr val="2A3A5C"/>
                </a:solidFill>
                <a:latin typeface="Georgia" pitchFamily="34" charset="0"/>
                <a:ea typeface="Georgia" pitchFamily="34" charset="-122"/>
                <a:cs typeface="Georgia" pitchFamily="34" charset="-120"/>
              </a:rPr>
              <a:t>5</a:t>
            </a:r>
            <a:endParaRPr lang="en-US" sz="2600" dirty="0"/>
          </a:p>
        </p:txBody>
      </p:sp>
      <p:pic>
        <p:nvPicPr>
          <p:cNvPr id="45" name="Image 14" descr="preencoded.png"/>
          <p:cNvPicPr>
            <a:picLocks noChangeAspect="1"/>
          </p:cNvPicPr>
          <p:nvPr/>
        </p:nvPicPr>
        <p:blipFill>
          <a:blip r:embed="rId9"/>
          <a:stretch>
            <a:fillRect/>
          </a:stretch>
        </p:blipFill>
        <p:spPr>
          <a:xfrm>
            <a:off x="9872320" y="2194560"/>
            <a:ext cx="1554480" cy="1554480"/>
          </a:xfrm>
          <a:prstGeom prst="rect">
            <a:avLst/>
          </a:prstGeom>
        </p:spPr>
      </p:pic>
      <p:sp>
        <p:nvSpPr>
          <p:cNvPr id="46" name="Shape 29"/>
          <p:cNvSpPr/>
          <p:nvPr/>
        </p:nvSpPr>
        <p:spPr>
          <a:xfrm>
            <a:off x="10256368" y="2578608"/>
            <a:ext cx="786384" cy="786384"/>
          </a:xfrm>
          <a:prstGeom prst="ellipse">
            <a:avLst/>
          </a:prstGeom>
          <a:solidFill>
            <a:srgbClr val="FFB43B"/>
          </a:solidFill>
          <a:ln/>
        </p:spPr>
        <p:txBody>
          <a:bodyPr/>
          <a:lstStyle/>
          <a:p>
            <a:endParaRPr lang="es-ES"/>
          </a:p>
        </p:txBody>
      </p:sp>
      <p:pic>
        <p:nvPicPr>
          <p:cNvPr id="47" name="Image 15" descr="preencoded.png"/>
          <p:cNvPicPr>
            <a:picLocks noChangeAspect="1"/>
          </p:cNvPicPr>
          <p:nvPr/>
        </p:nvPicPr>
        <p:blipFill>
          <a:blip r:embed="rId12"/>
          <a:stretch>
            <a:fillRect/>
          </a:stretch>
        </p:blipFill>
        <p:spPr>
          <a:xfrm>
            <a:off x="10439248" y="2761488"/>
            <a:ext cx="420624" cy="420624"/>
          </a:xfrm>
          <a:prstGeom prst="rect">
            <a:avLst/>
          </a:prstGeom>
        </p:spPr>
      </p:pic>
      <p:sp>
        <p:nvSpPr>
          <p:cNvPr id="48" name="Text 30"/>
          <p:cNvSpPr/>
          <p:nvPr/>
        </p:nvSpPr>
        <p:spPr>
          <a:xfrm>
            <a:off x="9698584" y="3493008"/>
            <a:ext cx="1901952" cy="365760"/>
          </a:xfrm>
          <a:prstGeom prst="rect">
            <a:avLst/>
          </a:prstGeom>
          <a:noFill/>
          <a:ln/>
        </p:spPr>
        <p:txBody>
          <a:bodyPr wrap="square" lIns="0" tIns="0" rIns="0" bIns="0" rtlCol="0" anchor="ctr"/>
          <a:lstStyle/>
          <a:p>
            <a:pPr marL="0" indent="0" algn="ctr">
              <a:buNone/>
            </a:pPr>
            <a:r>
              <a:rPr lang="en-US" sz="1500" b="1" dirty="0">
                <a:solidFill>
                  <a:srgbClr val="F3F7FD"/>
                </a:solidFill>
                <a:latin typeface="Georgia" pitchFamily="34" charset="0"/>
                <a:ea typeface="Georgia" pitchFamily="34" charset="-122"/>
                <a:cs typeface="Georgia" pitchFamily="34" charset="-120"/>
              </a:rPr>
              <a:t>Publicar</a:t>
            </a:r>
            <a:endParaRPr lang="en-US" sz="1500" dirty="0"/>
          </a:p>
        </p:txBody>
      </p:sp>
      <p:sp>
        <p:nvSpPr>
          <p:cNvPr id="49" name="Text 31"/>
          <p:cNvSpPr/>
          <p:nvPr/>
        </p:nvSpPr>
        <p:spPr>
          <a:xfrm>
            <a:off x="9753448" y="3858768"/>
            <a:ext cx="1792224" cy="548640"/>
          </a:xfrm>
          <a:prstGeom prst="rect">
            <a:avLst/>
          </a:prstGeom>
          <a:noFill/>
          <a:ln/>
        </p:spPr>
        <p:txBody>
          <a:bodyPr wrap="square" lIns="0" tIns="0" rIns="0" bIns="0" rtlCol="0" anchor="ctr"/>
          <a:lstStyle/>
          <a:p>
            <a:pPr marL="0" indent="0" algn="ctr">
              <a:lnSpc>
                <a:spcPct val="105000"/>
              </a:lnSpc>
              <a:buNone/>
            </a:pPr>
            <a:r>
              <a:rPr lang="en-US" sz="1100" dirty="0">
                <a:solidFill>
                  <a:srgbClr val="C3CEDE"/>
                </a:solidFill>
                <a:latin typeface="Calibri" pitchFamily="34" charset="0"/>
                <a:ea typeface="Calibri" pitchFamily="34" charset="-122"/>
                <a:cs typeface="Calibri" pitchFamily="34" charset="-120"/>
              </a:rPr>
              <a:t>Se publica en el canal de Telegram</a:t>
            </a:r>
            <a:endParaRPr lang="en-US" sz="1100" dirty="0"/>
          </a:p>
        </p:txBody>
      </p:sp>
      <p:sp>
        <p:nvSpPr>
          <p:cNvPr id="50" name="Shape 32"/>
          <p:cNvSpPr/>
          <p:nvPr/>
        </p:nvSpPr>
        <p:spPr>
          <a:xfrm>
            <a:off x="566928" y="4892040"/>
            <a:ext cx="11057839" cy="1051560"/>
          </a:xfrm>
          <a:prstGeom prst="rect">
            <a:avLst/>
          </a:prstGeom>
          <a:solidFill>
            <a:srgbClr val="0E1830"/>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51" name="Image 16" descr="preencoded.png"/>
          <p:cNvPicPr>
            <a:picLocks noChangeAspect="1"/>
          </p:cNvPicPr>
          <p:nvPr/>
        </p:nvPicPr>
        <p:blipFill>
          <a:blip r:embed="rId13"/>
          <a:stretch>
            <a:fillRect/>
          </a:stretch>
        </p:blipFill>
        <p:spPr>
          <a:xfrm>
            <a:off x="566928" y="4892040"/>
            <a:ext cx="82296" cy="1051560"/>
          </a:xfrm>
          <a:prstGeom prst="rect">
            <a:avLst/>
          </a:prstGeom>
        </p:spPr>
      </p:pic>
      <p:pic>
        <p:nvPicPr>
          <p:cNvPr id="52" name="Image 17" descr="preencoded.png"/>
          <p:cNvPicPr>
            <a:picLocks noChangeAspect="1"/>
          </p:cNvPicPr>
          <p:nvPr/>
        </p:nvPicPr>
        <p:blipFill>
          <a:blip r:embed="rId14"/>
          <a:stretch>
            <a:fillRect/>
          </a:stretch>
        </p:blipFill>
        <p:spPr>
          <a:xfrm>
            <a:off x="859536" y="5138928"/>
            <a:ext cx="502920" cy="502920"/>
          </a:xfrm>
          <a:prstGeom prst="rect">
            <a:avLst/>
          </a:prstGeom>
        </p:spPr>
      </p:pic>
      <p:sp>
        <p:nvSpPr>
          <p:cNvPr id="53" name="Text 33"/>
          <p:cNvSpPr/>
          <p:nvPr/>
        </p:nvSpPr>
        <p:spPr>
          <a:xfrm>
            <a:off x="1527048" y="4892040"/>
            <a:ext cx="10058400" cy="1051560"/>
          </a:xfrm>
          <a:prstGeom prst="rect">
            <a:avLst/>
          </a:prstGeom>
          <a:noFill/>
          <a:ln/>
        </p:spPr>
        <p:txBody>
          <a:bodyPr wrap="square" lIns="0" tIns="0" rIns="0" bIns="0" rtlCol="0" anchor="ctr"/>
          <a:lstStyle/>
          <a:p>
            <a:pPr marL="0" indent="0">
              <a:buNone/>
            </a:pPr>
            <a:r>
              <a:rPr lang="en-US" sz="1400" b="1" dirty="0">
                <a:solidFill>
                  <a:srgbClr val="F3F7FD"/>
                </a:solidFill>
                <a:latin typeface="Calibri" pitchFamily="34" charset="0"/>
                <a:ea typeface="Calibri" pitchFamily="34" charset="-122"/>
                <a:cs typeface="Calibri" pitchFamily="34" charset="-120"/>
              </a:rPr>
              <a:t>Detección de duplicados por ASIN</a:t>
            </a:r>
            <a:r>
              <a:rPr lang="en-US" sz="1400" dirty="0">
                <a:solidFill>
                  <a:srgbClr val="FF6A2B"/>
                </a:solidFill>
                <a:latin typeface="Calibri" pitchFamily="34" charset="0"/>
                <a:ea typeface="Calibri" pitchFamily="34" charset="-122"/>
                <a:cs typeface="Calibri" pitchFamily="34" charset="-120"/>
              </a:rPr>
              <a:t>    ·    </a:t>
            </a:r>
            <a:r>
              <a:rPr lang="en-US" sz="1400" b="1" dirty="0">
                <a:solidFill>
                  <a:srgbClr val="F3F7FD"/>
                </a:solidFill>
                <a:latin typeface="Calibri" pitchFamily="34" charset="0"/>
                <a:ea typeface="Calibri" pitchFamily="34" charset="-122"/>
                <a:cs typeface="Calibri" pitchFamily="34" charset="-120"/>
              </a:rPr>
              <a:t>preview web concurrente</a:t>
            </a:r>
            <a:r>
              <a:rPr lang="en-US" sz="1400" dirty="0">
                <a:solidFill>
                  <a:srgbClr val="FF6A2B"/>
                </a:solidFill>
                <a:latin typeface="Calibri" pitchFamily="34" charset="0"/>
                <a:ea typeface="Calibri" pitchFamily="34" charset="-122"/>
                <a:cs typeface="Calibri" pitchFamily="34" charset="-120"/>
              </a:rPr>
              <a:t>    ·    </a:t>
            </a:r>
            <a:r>
              <a:rPr lang="en-US" sz="1400" b="1" dirty="0">
                <a:solidFill>
                  <a:srgbClr val="F3F7FD"/>
                </a:solidFill>
                <a:latin typeface="Calibri" pitchFamily="34" charset="0"/>
                <a:ea typeface="Calibri" pitchFamily="34" charset="-122"/>
                <a:cs typeface="Calibri" pitchFamily="34" charset="-120"/>
              </a:rPr>
              <a:t>todo queda en el audit log</a:t>
            </a:r>
            <a:endParaRPr lang="en-US" sz="1400" dirty="0"/>
          </a:p>
        </p:txBody>
      </p:sp>
      <p:sp>
        <p:nvSpPr>
          <p:cNvPr id="55" name="Text 34"/>
          <p:cNvSpPr/>
          <p:nvPr/>
        </p:nvSpPr>
        <p:spPr>
          <a:xfrm>
            <a:off x="566928" y="6446520"/>
            <a:ext cx="8229600" cy="292608"/>
          </a:xfrm>
          <a:prstGeom prst="rect">
            <a:avLst/>
          </a:prstGeom>
          <a:noFill/>
          <a:ln/>
        </p:spPr>
        <p:txBody>
          <a:bodyPr wrap="square" lIns="0" tIns="0" rIns="0" bIns="0" rtlCol="0" anchor="ctr"/>
          <a:lstStyle/>
          <a:p>
            <a:pPr marL="0" indent="0">
              <a:buNone/>
            </a:pPr>
            <a:r>
              <a:rPr lang="en-US" sz="900" dirty="0">
                <a:solidFill>
                  <a:srgbClr val="8492A6"/>
                </a:solidFill>
                <a:latin typeface="Calibri" pitchFamily="34" charset="0"/>
                <a:ea typeface="Calibri" pitchFamily="34" charset="-122"/>
                <a:cs typeface="Calibri" pitchFamily="34" charset="-120"/>
              </a:rPr>
              <a:t>BuenCholloTech · TFM Máster en Desarrollo con IA 2025</a:t>
            </a:r>
            <a:endParaRPr lang="en-US" sz="900" dirty="0"/>
          </a:p>
        </p:txBody>
      </p:sp>
      <p:sp>
        <p:nvSpPr>
          <p:cNvPr id="56" name="Text 35"/>
          <p:cNvSpPr/>
          <p:nvPr/>
        </p:nvSpPr>
        <p:spPr>
          <a:xfrm>
            <a:off x="10527487" y="6446520"/>
            <a:ext cx="1097280" cy="292608"/>
          </a:xfrm>
          <a:prstGeom prst="rect">
            <a:avLst/>
          </a:prstGeom>
          <a:noFill/>
          <a:ln/>
        </p:spPr>
        <p:txBody>
          <a:bodyPr wrap="square" lIns="0" tIns="0" rIns="0" bIns="0"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05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928" y="457200"/>
            <a:ext cx="1667866" cy="310896"/>
          </a:xfrm>
          <a:prstGeom prst="roundRect">
            <a:avLst>
              <a:gd name="adj" fmla="val 50000"/>
            </a:avLst>
          </a:prstGeom>
          <a:solidFill>
            <a:srgbClr val="FF6A2B"/>
          </a:solidFill>
          <a:ln/>
        </p:spPr>
        <p:txBody>
          <a:bodyPr/>
          <a:lstStyle/>
          <a:p>
            <a:endParaRPr lang="es-ES"/>
          </a:p>
        </p:txBody>
      </p:sp>
      <p:sp>
        <p:nvSpPr>
          <p:cNvPr id="3" name="Text 1"/>
          <p:cNvSpPr/>
          <p:nvPr/>
        </p:nvSpPr>
        <p:spPr>
          <a:xfrm>
            <a:off x="566928" y="457200"/>
            <a:ext cx="1667866" cy="310896"/>
          </a:xfrm>
          <a:prstGeom prst="rect">
            <a:avLst/>
          </a:prstGeom>
          <a:noFill/>
          <a:ln/>
        </p:spPr>
        <p:txBody>
          <a:bodyPr wrap="square" lIns="0" tIns="0" rIns="0" bIns="0" rtlCol="0" anchor="ctr"/>
          <a:lstStyle/>
          <a:p>
            <a:pPr marL="0" indent="0" algn="ctr">
              <a:buNone/>
            </a:pPr>
            <a:r>
              <a:rPr lang="en-US" sz="1050" b="1" kern="0" spc="100" dirty="0">
                <a:solidFill>
                  <a:srgbClr val="0A0F1A"/>
                </a:solidFill>
                <a:latin typeface="Calibri" pitchFamily="34" charset="0"/>
                <a:ea typeface="Calibri" pitchFamily="34" charset="-122"/>
                <a:cs typeface="Calibri" pitchFamily="34" charset="-120"/>
              </a:rPr>
              <a:t>ARQUITECTURA</a:t>
            </a:r>
            <a:endParaRPr lang="en-US" sz="1050" dirty="0"/>
          </a:p>
        </p:txBody>
      </p:sp>
      <p:pic>
        <p:nvPicPr>
          <p:cNvPr id="4" name="Image 0" descr="preencoded.png"/>
          <p:cNvPicPr>
            <a:picLocks noChangeAspect="1"/>
          </p:cNvPicPr>
          <p:nvPr/>
        </p:nvPicPr>
        <p:blipFill>
          <a:blip r:embed="rId4"/>
          <a:stretch>
            <a:fillRect/>
          </a:stretch>
        </p:blipFill>
        <p:spPr>
          <a:xfrm>
            <a:off x="11057839" y="384048"/>
            <a:ext cx="457200" cy="457200"/>
          </a:xfrm>
          <a:prstGeom prst="rect">
            <a:avLst/>
          </a:prstGeom>
        </p:spPr>
      </p:pic>
      <p:sp>
        <p:nvSpPr>
          <p:cNvPr id="5" name="Text 2"/>
          <p:cNvSpPr/>
          <p:nvPr/>
        </p:nvSpPr>
        <p:spPr>
          <a:xfrm>
            <a:off x="566928" y="841248"/>
            <a:ext cx="10554919" cy="640080"/>
          </a:xfrm>
          <a:prstGeom prst="rect">
            <a:avLst/>
          </a:prstGeom>
          <a:noFill/>
          <a:ln/>
        </p:spPr>
        <p:txBody>
          <a:bodyPr wrap="square" lIns="0" tIns="0" rIns="0" bIns="0" rtlCol="0" anchor="ctr"/>
          <a:lstStyle/>
          <a:p>
            <a:pPr marL="0" indent="0">
              <a:buNone/>
            </a:pPr>
            <a:r>
              <a:rPr lang="en-US" sz="2700" b="1" dirty="0">
                <a:solidFill>
                  <a:srgbClr val="F3F7FD"/>
                </a:solidFill>
                <a:latin typeface="Georgia" pitchFamily="34" charset="0"/>
                <a:ea typeface="Georgia" pitchFamily="34" charset="-122"/>
                <a:cs typeface="Georgia" pitchFamily="34" charset="-120"/>
              </a:rPr>
              <a:t>API Gateway único: el frontend solo habla con la API</a:t>
            </a:r>
            <a:endParaRPr lang="en-US" sz="2700" dirty="0"/>
          </a:p>
        </p:txBody>
      </p:sp>
      <p:sp>
        <p:nvSpPr>
          <p:cNvPr id="6" name="Shape 3"/>
          <p:cNvSpPr/>
          <p:nvPr/>
        </p:nvSpPr>
        <p:spPr>
          <a:xfrm>
            <a:off x="566928" y="2468880"/>
            <a:ext cx="2286000" cy="1371600"/>
          </a:xfrm>
          <a:prstGeom prst="rect">
            <a:avLst/>
          </a:prstGeom>
          <a:solidFill>
            <a:srgbClr val="152138"/>
          </a:solidFill>
          <a:ln w="15875">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sp>
        <p:nvSpPr>
          <p:cNvPr id="7" name="Text 4"/>
          <p:cNvSpPr/>
          <p:nvPr/>
        </p:nvSpPr>
        <p:spPr>
          <a:xfrm>
            <a:off x="658368" y="2468880"/>
            <a:ext cx="2103120" cy="1371600"/>
          </a:xfrm>
          <a:prstGeom prst="rect">
            <a:avLst/>
          </a:prstGeom>
          <a:noFill/>
          <a:ln/>
        </p:spPr>
        <p:txBody>
          <a:bodyPr wrap="square" lIns="0" tIns="0" rIns="0" bIns="0" rtlCol="0" anchor="ctr"/>
          <a:lstStyle/>
          <a:p>
            <a:pPr marL="0" indent="0" algn="ctr">
              <a:lnSpc>
                <a:spcPct val="105000"/>
              </a:lnSpc>
              <a:buNone/>
            </a:pPr>
            <a:r>
              <a:rPr lang="en-US" sz="1400" b="1" dirty="0">
                <a:solidFill>
                  <a:srgbClr val="F3F7FD"/>
                </a:solidFill>
                <a:latin typeface="Calibri" pitchFamily="34" charset="0"/>
                <a:ea typeface="Calibri" pitchFamily="34" charset="-122"/>
                <a:cs typeface="Calibri" pitchFamily="34" charset="-120"/>
              </a:rPr>
              <a:t>Navegador</a:t>
            </a:r>
            <a:endParaRPr lang="en-US" sz="1400" dirty="0"/>
          </a:p>
          <a:p>
            <a:pPr marL="0" indent="0" algn="ctr">
              <a:lnSpc>
                <a:spcPct val="105000"/>
              </a:lnSpc>
              <a:buNone/>
            </a:pPr>
            <a:r>
              <a:rPr lang="en-US" sz="1050" dirty="0">
                <a:solidFill>
                  <a:srgbClr val="C3CEDE"/>
                </a:solidFill>
                <a:latin typeface="Calibri" pitchFamily="34" charset="0"/>
                <a:ea typeface="Calibri" pitchFamily="34" charset="-122"/>
                <a:cs typeface="Calibri" pitchFamily="34" charset="-120"/>
              </a:rPr>
              <a:t>React 19 · TypeScript</a:t>
            </a:r>
            <a:endParaRPr lang="en-US" sz="1400" dirty="0"/>
          </a:p>
          <a:p>
            <a:pPr marL="0" indent="0" algn="ctr">
              <a:lnSpc>
                <a:spcPct val="105000"/>
              </a:lnSpc>
              <a:buNone/>
            </a:pPr>
            <a:r>
              <a:rPr lang="en-US" sz="1050" dirty="0">
                <a:solidFill>
                  <a:srgbClr val="C3CEDE"/>
                </a:solidFill>
                <a:latin typeface="Calibri" pitchFamily="34" charset="0"/>
                <a:ea typeface="Calibri" pitchFamily="34" charset="-122"/>
                <a:cs typeface="Calibri" pitchFamily="34" charset="-120"/>
              </a:rPr>
              <a:t>TanStack · Vite</a:t>
            </a:r>
            <a:endParaRPr lang="en-US" sz="1400" dirty="0"/>
          </a:p>
        </p:txBody>
      </p:sp>
      <p:sp>
        <p:nvSpPr>
          <p:cNvPr id="8" name="Shape 5"/>
          <p:cNvSpPr/>
          <p:nvPr/>
        </p:nvSpPr>
        <p:spPr>
          <a:xfrm>
            <a:off x="4526280" y="2331720"/>
            <a:ext cx="3063240" cy="1645920"/>
          </a:xfrm>
          <a:prstGeom prst="rect">
            <a:avLst/>
          </a:prstGeom>
          <a:solidFill>
            <a:srgbClr val="0E1830"/>
          </a:solidFill>
          <a:ln w="19050">
            <a:solidFill>
              <a:srgbClr val="FF6A2B"/>
            </a:solidFill>
            <a:prstDash val="solid"/>
          </a:ln>
          <a:effectLst>
            <a:outerShdw blurRad="152400" dist="50800" dir="5400000" algn="bl" rotWithShape="0">
              <a:srgbClr val="000000">
                <a:alpha val="35000"/>
              </a:srgbClr>
            </a:outerShdw>
          </a:effectLst>
        </p:spPr>
        <p:txBody>
          <a:bodyPr/>
          <a:lstStyle/>
          <a:p>
            <a:endParaRPr lang="es-ES"/>
          </a:p>
        </p:txBody>
      </p:sp>
      <p:pic>
        <p:nvPicPr>
          <p:cNvPr id="9" name="Image 1" descr="preencoded.png"/>
          <p:cNvPicPr>
            <a:picLocks noChangeAspect="1"/>
          </p:cNvPicPr>
          <p:nvPr/>
        </p:nvPicPr>
        <p:blipFill>
          <a:blip r:embed="rId5"/>
          <a:stretch>
            <a:fillRect/>
          </a:stretch>
        </p:blipFill>
        <p:spPr>
          <a:xfrm>
            <a:off x="4526280" y="2331720"/>
            <a:ext cx="3063240" cy="73152"/>
          </a:xfrm>
          <a:prstGeom prst="rect">
            <a:avLst/>
          </a:prstGeom>
        </p:spPr>
      </p:pic>
      <p:pic>
        <p:nvPicPr>
          <p:cNvPr id="10" name="Image 2" descr="preencoded.png"/>
          <p:cNvPicPr>
            <a:picLocks noChangeAspect="1"/>
          </p:cNvPicPr>
          <p:nvPr/>
        </p:nvPicPr>
        <p:blipFill>
          <a:blip r:embed="rId6"/>
          <a:stretch>
            <a:fillRect/>
          </a:stretch>
        </p:blipFill>
        <p:spPr>
          <a:xfrm>
            <a:off x="4864608" y="1965960"/>
            <a:ext cx="2377440" cy="2377440"/>
          </a:xfrm>
          <a:prstGeom prst="rect">
            <a:avLst/>
          </a:prstGeom>
        </p:spPr>
      </p:pic>
      <p:sp>
        <p:nvSpPr>
          <p:cNvPr id="11" name="Text 6"/>
          <p:cNvSpPr/>
          <p:nvPr/>
        </p:nvSpPr>
        <p:spPr>
          <a:xfrm>
            <a:off x="4526280" y="2331720"/>
            <a:ext cx="3063240" cy="1645920"/>
          </a:xfrm>
          <a:prstGeom prst="rect">
            <a:avLst/>
          </a:prstGeom>
          <a:noFill/>
          <a:ln/>
        </p:spPr>
        <p:txBody>
          <a:bodyPr wrap="square" lIns="0" tIns="0" rIns="0" bIns="0" rtlCol="0" anchor="ctr"/>
          <a:lstStyle/>
          <a:p>
            <a:pPr marL="0" indent="0" algn="ctr">
              <a:lnSpc>
                <a:spcPct val="105000"/>
              </a:lnSpc>
              <a:buNone/>
            </a:pPr>
            <a:r>
              <a:rPr lang="en-US" sz="1500" b="1" dirty="0">
                <a:solidFill>
                  <a:srgbClr val="F3F7FD"/>
                </a:solidFill>
                <a:latin typeface="Calibri" pitchFamily="34" charset="0"/>
                <a:ea typeface="Calibri" pitchFamily="34" charset="-122"/>
                <a:cs typeface="Calibri" pitchFamily="34" charset="-120"/>
              </a:rPr>
              <a:t>FastAPI — API Gateway</a:t>
            </a:r>
            <a:endParaRPr lang="en-US" sz="1500" dirty="0"/>
          </a:p>
          <a:p>
            <a:pPr marL="0" indent="0" algn="ctr">
              <a:lnSpc>
                <a:spcPct val="105000"/>
              </a:lnSpc>
              <a:buNone/>
            </a:pPr>
            <a:r>
              <a:rPr lang="en-US" sz="1100" dirty="0">
                <a:solidFill>
                  <a:srgbClr val="C3CEDE"/>
                </a:solidFill>
                <a:latin typeface="Calibri" pitchFamily="34" charset="0"/>
                <a:ea typeface="Calibri" pitchFamily="34" charset="-122"/>
                <a:cs typeface="Calibri" pitchFamily="34" charset="-120"/>
              </a:rPr>
              <a:t>Monolito modular</a:t>
            </a:r>
            <a:endParaRPr lang="en-US" sz="1500" dirty="0"/>
          </a:p>
          <a:p>
            <a:pPr marL="0" indent="0" algn="ctr">
              <a:lnSpc>
                <a:spcPct val="105000"/>
              </a:lnSpc>
              <a:buNone/>
            </a:pPr>
            <a:r>
              <a:rPr lang="en-US" sz="1100" dirty="0">
                <a:solidFill>
                  <a:srgbClr val="C3CEDE"/>
                </a:solidFill>
                <a:latin typeface="Calibri" pitchFamily="34" charset="0"/>
                <a:ea typeface="Calibri" pitchFamily="34" charset="-122"/>
                <a:cs typeface="Calibri" pitchFamily="34" charset="-120"/>
              </a:rPr>
              <a:t>Clean Architecture</a:t>
            </a:r>
            <a:endParaRPr lang="en-US" sz="1500" dirty="0"/>
          </a:p>
        </p:txBody>
      </p:sp>
      <p:sp>
        <p:nvSpPr>
          <p:cNvPr id="12" name="Shape 7"/>
          <p:cNvSpPr/>
          <p:nvPr/>
        </p:nvSpPr>
        <p:spPr>
          <a:xfrm>
            <a:off x="2852928" y="3154680"/>
            <a:ext cx="1673352" cy="0"/>
          </a:xfrm>
          <a:prstGeom prst="line">
            <a:avLst/>
          </a:prstGeom>
          <a:noFill/>
          <a:ln w="31750">
            <a:solidFill>
              <a:srgbClr val="FF6A2B"/>
            </a:solidFill>
            <a:prstDash val="solid"/>
            <a:tailEnd type="triangle"/>
          </a:ln>
        </p:spPr>
        <p:txBody>
          <a:bodyPr/>
          <a:lstStyle/>
          <a:p>
            <a:endParaRPr lang="es-ES"/>
          </a:p>
        </p:txBody>
      </p:sp>
      <p:sp>
        <p:nvSpPr>
          <p:cNvPr id="13" name="Text 8"/>
          <p:cNvSpPr/>
          <p:nvPr/>
        </p:nvSpPr>
        <p:spPr>
          <a:xfrm>
            <a:off x="2852928" y="2743200"/>
            <a:ext cx="1673352" cy="320040"/>
          </a:xfrm>
          <a:prstGeom prst="rect">
            <a:avLst/>
          </a:prstGeom>
          <a:noFill/>
          <a:ln/>
        </p:spPr>
        <p:txBody>
          <a:bodyPr wrap="square" lIns="0" tIns="0" rIns="0" bIns="0" rtlCol="0" anchor="ctr"/>
          <a:lstStyle/>
          <a:p>
            <a:pPr marL="0" indent="0" algn="ctr">
              <a:buNone/>
            </a:pPr>
            <a:r>
              <a:rPr lang="en-US" sz="1000" i="1" dirty="0">
                <a:solidFill>
                  <a:srgbClr val="8492A6"/>
                </a:solidFill>
                <a:latin typeface="Calibri" pitchFamily="34" charset="0"/>
                <a:ea typeface="Calibri" pitchFamily="34" charset="-122"/>
                <a:cs typeface="Calibri" pitchFamily="34" charset="-120"/>
              </a:rPr>
              <a:t>HTTPS · JWT</a:t>
            </a:r>
            <a:endParaRPr lang="en-US" sz="1000" dirty="0"/>
          </a:p>
        </p:txBody>
      </p:sp>
      <p:sp>
        <p:nvSpPr>
          <p:cNvPr id="14" name="Shape 9"/>
          <p:cNvSpPr/>
          <p:nvPr/>
        </p:nvSpPr>
        <p:spPr>
          <a:xfrm>
            <a:off x="8823960" y="1600200"/>
            <a:ext cx="2798064" cy="9601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5" name="Image 3" descr="preencoded.png"/>
          <p:cNvPicPr>
            <a:picLocks noChangeAspect="1"/>
          </p:cNvPicPr>
          <p:nvPr/>
        </p:nvPicPr>
        <p:blipFill>
          <a:blip r:embed="rId7"/>
          <a:stretch>
            <a:fillRect/>
          </a:stretch>
        </p:blipFill>
        <p:spPr>
          <a:xfrm>
            <a:off x="8823960" y="1600200"/>
            <a:ext cx="64008" cy="960120"/>
          </a:xfrm>
          <a:prstGeom prst="rect">
            <a:avLst/>
          </a:prstGeom>
        </p:spPr>
      </p:pic>
      <p:pic>
        <p:nvPicPr>
          <p:cNvPr id="16" name="Image 4" descr="preencoded.png"/>
          <p:cNvPicPr>
            <a:picLocks noChangeAspect="1"/>
          </p:cNvPicPr>
          <p:nvPr/>
        </p:nvPicPr>
        <p:blipFill>
          <a:blip r:embed="rId8"/>
          <a:stretch>
            <a:fillRect/>
          </a:stretch>
        </p:blipFill>
        <p:spPr>
          <a:xfrm>
            <a:off x="9006840" y="1883664"/>
            <a:ext cx="384048" cy="384048"/>
          </a:xfrm>
          <a:prstGeom prst="rect">
            <a:avLst/>
          </a:prstGeom>
        </p:spPr>
      </p:pic>
      <p:sp>
        <p:nvSpPr>
          <p:cNvPr id="17" name="Text 10"/>
          <p:cNvSpPr/>
          <p:nvPr/>
        </p:nvSpPr>
        <p:spPr>
          <a:xfrm>
            <a:off x="9528048" y="1600200"/>
            <a:ext cx="2011680" cy="960120"/>
          </a:xfrm>
          <a:prstGeom prst="rect">
            <a:avLst/>
          </a:prstGeom>
          <a:noFill/>
          <a:ln/>
        </p:spPr>
        <p:txBody>
          <a:bodyPr wrap="square" lIns="0" tIns="0" rIns="0" bIns="0" rtlCol="0" anchor="ctr"/>
          <a:lstStyle/>
          <a:p>
            <a:pPr marL="0" indent="0">
              <a:buNone/>
            </a:pPr>
            <a:r>
              <a:rPr lang="en-US" sz="1250" b="1" dirty="0">
                <a:solidFill>
                  <a:srgbClr val="F3F7FD"/>
                </a:solidFill>
                <a:latin typeface="Calibri" pitchFamily="34" charset="0"/>
                <a:ea typeface="Calibri" pitchFamily="34" charset="-122"/>
                <a:cs typeface="Calibri" pitchFamily="34" charset="-120"/>
              </a:rPr>
              <a:t>Supabase</a:t>
            </a:r>
            <a:endParaRPr lang="en-US" sz="1250" dirty="0"/>
          </a:p>
          <a:p>
            <a:pPr marL="0" indent="0">
              <a:buNone/>
            </a:pPr>
            <a:r>
              <a:rPr lang="en-US" sz="1050" dirty="0">
                <a:solidFill>
                  <a:srgbClr val="C3CEDE"/>
                </a:solidFill>
                <a:latin typeface="Calibri" pitchFamily="34" charset="0"/>
                <a:ea typeface="Calibri" pitchFamily="34" charset="-122"/>
                <a:cs typeface="Calibri" pitchFamily="34" charset="-120"/>
              </a:rPr>
              <a:t>PostgreSQL · Auth · Storage</a:t>
            </a:r>
            <a:endParaRPr lang="en-US" sz="1250" dirty="0"/>
          </a:p>
        </p:txBody>
      </p:sp>
      <p:sp>
        <p:nvSpPr>
          <p:cNvPr id="18" name="Shape 11"/>
          <p:cNvSpPr/>
          <p:nvPr/>
        </p:nvSpPr>
        <p:spPr>
          <a:xfrm flipV="1">
            <a:off x="7589520" y="2057400"/>
            <a:ext cx="1234440" cy="1097280"/>
          </a:xfrm>
          <a:prstGeom prst="line">
            <a:avLst/>
          </a:prstGeom>
          <a:noFill/>
          <a:ln w="19050">
            <a:solidFill>
              <a:srgbClr val="37D6C3"/>
            </a:solidFill>
            <a:prstDash val="solid"/>
            <a:tailEnd type="triangle"/>
          </a:ln>
        </p:spPr>
        <p:txBody>
          <a:bodyPr/>
          <a:lstStyle/>
          <a:p>
            <a:endParaRPr lang="es-ES"/>
          </a:p>
        </p:txBody>
      </p:sp>
      <p:sp>
        <p:nvSpPr>
          <p:cNvPr id="19" name="Shape 12"/>
          <p:cNvSpPr/>
          <p:nvPr/>
        </p:nvSpPr>
        <p:spPr>
          <a:xfrm>
            <a:off x="8823960" y="2697480"/>
            <a:ext cx="2798064" cy="9601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20" name="Image 5" descr="preencoded.png"/>
          <p:cNvPicPr>
            <a:picLocks noChangeAspect="1"/>
          </p:cNvPicPr>
          <p:nvPr/>
        </p:nvPicPr>
        <p:blipFill>
          <a:blip r:embed="rId7"/>
          <a:stretch>
            <a:fillRect/>
          </a:stretch>
        </p:blipFill>
        <p:spPr>
          <a:xfrm>
            <a:off x="8823960" y="2697480"/>
            <a:ext cx="64008" cy="960120"/>
          </a:xfrm>
          <a:prstGeom prst="rect">
            <a:avLst/>
          </a:prstGeom>
        </p:spPr>
      </p:pic>
      <p:pic>
        <p:nvPicPr>
          <p:cNvPr id="21" name="Image 6" descr="preencoded.png"/>
          <p:cNvPicPr>
            <a:picLocks noChangeAspect="1"/>
          </p:cNvPicPr>
          <p:nvPr/>
        </p:nvPicPr>
        <p:blipFill>
          <a:blip r:embed="rId9"/>
          <a:stretch>
            <a:fillRect/>
          </a:stretch>
        </p:blipFill>
        <p:spPr>
          <a:xfrm>
            <a:off x="9006840" y="2980944"/>
            <a:ext cx="384048" cy="384048"/>
          </a:xfrm>
          <a:prstGeom prst="rect">
            <a:avLst/>
          </a:prstGeom>
        </p:spPr>
      </p:pic>
      <p:sp>
        <p:nvSpPr>
          <p:cNvPr id="22" name="Text 13"/>
          <p:cNvSpPr/>
          <p:nvPr/>
        </p:nvSpPr>
        <p:spPr>
          <a:xfrm>
            <a:off x="9528048" y="2697480"/>
            <a:ext cx="2011680" cy="960120"/>
          </a:xfrm>
          <a:prstGeom prst="rect">
            <a:avLst/>
          </a:prstGeom>
          <a:noFill/>
          <a:ln/>
        </p:spPr>
        <p:txBody>
          <a:bodyPr wrap="square" lIns="0" tIns="0" rIns="0" bIns="0" rtlCol="0" anchor="ctr"/>
          <a:lstStyle/>
          <a:p>
            <a:pPr marL="0" indent="0">
              <a:buNone/>
            </a:pPr>
            <a:r>
              <a:rPr lang="en-US" sz="1250" b="1" dirty="0">
                <a:solidFill>
                  <a:srgbClr val="F3F7FD"/>
                </a:solidFill>
                <a:latin typeface="Calibri" pitchFamily="34" charset="0"/>
                <a:ea typeface="Calibri" pitchFamily="34" charset="-122"/>
                <a:cs typeface="Calibri" pitchFamily="34" charset="-120"/>
              </a:rPr>
              <a:t>Amazon Creators API</a:t>
            </a:r>
            <a:endParaRPr lang="en-US" sz="1250" dirty="0"/>
          </a:p>
          <a:p>
            <a:pPr marL="0" indent="0">
              <a:buNone/>
            </a:pPr>
            <a:r>
              <a:rPr lang="en-US" sz="1050" dirty="0">
                <a:solidFill>
                  <a:srgbClr val="C3CEDE"/>
                </a:solidFill>
                <a:latin typeface="Calibri" pitchFamily="34" charset="0"/>
                <a:ea typeface="Calibri" pitchFamily="34" charset="-122"/>
                <a:cs typeface="Calibri" pitchFamily="34" charset="-120"/>
              </a:rPr>
              <a:t>Datos de producto</a:t>
            </a:r>
            <a:endParaRPr lang="en-US" sz="1250" dirty="0"/>
          </a:p>
        </p:txBody>
      </p:sp>
      <p:sp>
        <p:nvSpPr>
          <p:cNvPr id="23" name="Shape 14"/>
          <p:cNvSpPr/>
          <p:nvPr/>
        </p:nvSpPr>
        <p:spPr>
          <a:xfrm>
            <a:off x="7589520" y="3154680"/>
            <a:ext cx="1234440" cy="0"/>
          </a:xfrm>
          <a:prstGeom prst="line">
            <a:avLst/>
          </a:prstGeom>
          <a:noFill/>
          <a:ln w="19050">
            <a:solidFill>
              <a:srgbClr val="37D6C3"/>
            </a:solidFill>
            <a:prstDash val="solid"/>
            <a:tailEnd type="triangle"/>
          </a:ln>
        </p:spPr>
        <p:txBody>
          <a:bodyPr/>
          <a:lstStyle/>
          <a:p>
            <a:endParaRPr lang="es-ES"/>
          </a:p>
        </p:txBody>
      </p:sp>
      <p:sp>
        <p:nvSpPr>
          <p:cNvPr id="24" name="Shape 15"/>
          <p:cNvSpPr/>
          <p:nvPr/>
        </p:nvSpPr>
        <p:spPr>
          <a:xfrm>
            <a:off x="8823960" y="3794760"/>
            <a:ext cx="2798064" cy="9601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25" name="Image 7" descr="preencoded.png"/>
          <p:cNvPicPr>
            <a:picLocks noChangeAspect="1"/>
          </p:cNvPicPr>
          <p:nvPr/>
        </p:nvPicPr>
        <p:blipFill>
          <a:blip r:embed="rId7"/>
          <a:stretch>
            <a:fillRect/>
          </a:stretch>
        </p:blipFill>
        <p:spPr>
          <a:xfrm>
            <a:off x="8823960" y="3794760"/>
            <a:ext cx="64008" cy="960120"/>
          </a:xfrm>
          <a:prstGeom prst="rect">
            <a:avLst/>
          </a:prstGeom>
        </p:spPr>
      </p:pic>
      <p:pic>
        <p:nvPicPr>
          <p:cNvPr id="26" name="Image 8" descr="preencoded.png"/>
          <p:cNvPicPr>
            <a:picLocks noChangeAspect="1"/>
          </p:cNvPicPr>
          <p:nvPr/>
        </p:nvPicPr>
        <p:blipFill>
          <a:blip r:embed="rId10"/>
          <a:stretch>
            <a:fillRect/>
          </a:stretch>
        </p:blipFill>
        <p:spPr>
          <a:xfrm>
            <a:off x="9006840" y="4078224"/>
            <a:ext cx="384048" cy="384048"/>
          </a:xfrm>
          <a:prstGeom prst="rect">
            <a:avLst/>
          </a:prstGeom>
        </p:spPr>
      </p:pic>
      <p:sp>
        <p:nvSpPr>
          <p:cNvPr id="27" name="Text 16"/>
          <p:cNvSpPr/>
          <p:nvPr/>
        </p:nvSpPr>
        <p:spPr>
          <a:xfrm>
            <a:off x="9528048" y="3794760"/>
            <a:ext cx="2011680" cy="960120"/>
          </a:xfrm>
          <a:prstGeom prst="rect">
            <a:avLst/>
          </a:prstGeom>
          <a:noFill/>
          <a:ln/>
        </p:spPr>
        <p:txBody>
          <a:bodyPr wrap="square" lIns="0" tIns="0" rIns="0" bIns="0" rtlCol="0" anchor="ctr"/>
          <a:lstStyle/>
          <a:p>
            <a:pPr marL="0" indent="0">
              <a:buNone/>
            </a:pPr>
            <a:r>
              <a:rPr lang="en-US" sz="1250" b="1" dirty="0">
                <a:solidFill>
                  <a:srgbClr val="F3F7FD"/>
                </a:solidFill>
                <a:latin typeface="Calibri" pitchFamily="34" charset="0"/>
                <a:ea typeface="Calibri" pitchFamily="34" charset="-122"/>
                <a:cs typeface="Calibri" pitchFamily="34" charset="-120"/>
              </a:rPr>
              <a:t>OpenAI GPT-4o</a:t>
            </a:r>
            <a:endParaRPr lang="en-US" sz="1250" dirty="0"/>
          </a:p>
          <a:p>
            <a:pPr marL="0" indent="0">
              <a:buNone/>
            </a:pPr>
            <a:r>
              <a:rPr lang="en-US" sz="1050" dirty="0">
                <a:solidFill>
                  <a:srgbClr val="C3CEDE"/>
                </a:solidFill>
                <a:latin typeface="Calibri" pitchFamily="34" charset="0"/>
                <a:ea typeface="Calibri" pitchFamily="34" charset="-122"/>
                <a:cs typeface="Calibri" pitchFamily="34" charset="-120"/>
              </a:rPr>
              <a:t>Generación de copy</a:t>
            </a:r>
            <a:endParaRPr lang="en-US" sz="1250" dirty="0"/>
          </a:p>
        </p:txBody>
      </p:sp>
      <p:sp>
        <p:nvSpPr>
          <p:cNvPr id="28" name="Shape 17"/>
          <p:cNvSpPr/>
          <p:nvPr/>
        </p:nvSpPr>
        <p:spPr>
          <a:xfrm>
            <a:off x="7589520" y="3154680"/>
            <a:ext cx="1234440" cy="1097280"/>
          </a:xfrm>
          <a:prstGeom prst="line">
            <a:avLst/>
          </a:prstGeom>
          <a:noFill/>
          <a:ln w="19050">
            <a:solidFill>
              <a:srgbClr val="37D6C3"/>
            </a:solidFill>
            <a:prstDash val="solid"/>
            <a:tailEnd type="triangle"/>
          </a:ln>
        </p:spPr>
        <p:txBody>
          <a:bodyPr/>
          <a:lstStyle/>
          <a:p>
            <a:endParaRPr lang="es-ES"/>
          </a:p>
        </p:txBody>
      </p:sp>
      <p:sp>
        <p:nvSpPr>
          <p:cNvPr id="29" name="Shape 18"/>
          <p:cNvSpPr/>
          <p:nvPr/>
        </p:nvSpPr>
        <p:spPr>
          <a:xfrm>
            <a:off x="8823960" y="4892040"/>
            <a:ext cx="2798064" cy="9601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30" name="Image 9" descr="preencoded.png"/>
          <p:cNvPicPr>
            <a:picLocks noChangeAspect="1"/>
          </p:cNvPicPr>
          <p:nvPr/>
        </p:nvPicPr>
        <p:blipFill>
          <a:blip r:embed="rId7"/>
          <a:stretch>
            <a:fillRect/>
          </a:stretch>
        </p:blipFill>
        <p:spPr>
          <a:xfrm>
            <a:off x="8823960" y="4892040"/>
            <a:ext cx="64008" cy="960120"/>
          </a:xfrm>
          <a:prstGeom prst="rect">
            <a:avLst/>
          </a:prstGeom>
        </p:spPr>
      </p:pic>
      <p:pic>
        <p:nvPicPr>
          <p:cNvPr id="31" name="Image 10" descr="preencoded.png"/>
          <p:cNvPicPr>
            <a:picLocks noChangeAspect="1"/>
          </p:cNvPicPr>
          <p:nvPr/>
        </p:nvPicPr>
        <p:blipFill>
          <a:blip r:embed="rId11"/>
          <a:stretch>
            <a:fillRect/>
          </a:stretch>
        </p:blipFill>
        <p:spPr>
          <a:xfrm>
            <a:off x="9006840" y="5175504"/>
            <a:ext cx="384048" cy="384048"/>
          </a:xfrm>
          <a:prstGeom prst="rect">
            <a:avLst/>
          </a:prstGeom>
        </p:spPr>
      </p:pic>
      <p:sp>
        <p:nvSpPr>
          <p:cNvPr id="32" name="Text 19"/>
          <p:cNvSpPr/>
          <p:nvPr/>
        </p:nvSpPr>
        <p:spPr>
          <a:xfrm>
            <a:off x="9528048" y="4892040"/>
            <a:ext cx="2011680" cy="960120"/>
          </a:xfrm>
          <a:prstGeom prst="rect">
            <a:avLst/>
          </a:prstGeom>
          <a:noFill/>
          <a:ln/>
        </p:spPr>
        <p:txBody>
          <a:bodyPr wrap="square" lIns="0" tIns="0" rIns="0" bIns="0" rtlCol="0" anchor="ctr"/>
          <a:lstStyle/>
          <a:p>
            <a:pPr marL="0" indent="0">
              <a:buNone/>
            </a:pPr>
            <a:r>
              <a:rPr lang="en-US" sz="1250" b="1" dirty="0">
                <a:solidFill>
                  <a:srgbClr val="F3F7FD"/>
                </a:solidFill>
                <a:latin typeface="Calibri" pitchFamily="34" charset="0"/>
                <a:ea typeface="Calibri" pitchFamily="34" charset="-122"/>
                <a:cs typeface="Calibri" pitchFamily="34" charset="-120"/>
              </a:rPr>
              <a:t>Telegram Bot</a:t>
            </a:r>
            <a:endParaRPr lang="en-US" sz="1250" dirty="0"/>
          </a:p>
          <a:p>
            <a:pPr marL="0" indent="0">
              <a:buNone/>
            </a:pPr>
            <a:r>
              <a:rPr lang="en-US" sz="1050" dirty="0">
                <a:solidFill>
                  <a:srgbClr val="C3CEDE"/>
                </a:solidFill>
                <a:latin typeface="Calibri" pitchFamily="34" charset="0"/>
                <a:ea typeface="Calibri" pitchFamily="34" charset="-122"/>
                <a:cs typeface="Calibri" pitchFamily="34" charset="-120"/>
              </a:rPr>
              <a:t>Publicación</a:t>
            </a:r>
            <a:endParaRPr lang="en-US" sz="1250" dirty="0"/>
          </a:p>
        </p:txBody>
      </p:sp>
      <p:sp>
        <p:nvSpPr>
          <p:cNvPr id="33" name="Shape 20"/>
          <p:cNvSpPr/>
          <p:nvPr/>
        </p:nvSpPr>
        <p:spPr>
          <a:xfrm>
            <a:off x="7589520" y="3154680"/>
            <a:ext cx="1234440" cy="2194560"/>
          </a:xfrm>
          <a:prstGeom prst="line">
            <a:avLst/>
          </a:prstGeom>
          <a:noFill/>
          <a:ln w="19050">
            <a:solidFill>
              <a:srgbClr val="37D6C3"/>
            </a:solidFill>
            <a:prstDash val="solid"/>
            <a:tailEnd type="triangle"/>
          </a:ln>
        </p:spPr>
        <p:txBody>
          <a:bodyPr/>
          <a:lstStyle/>
          <a:p>
            <a:endParaRPr lang="es-ES"/>
          </a:p>
        </p:txBody>
      </p:sp>
      <p:sp>
        <p:nvSpPr>
          <p:cNvPr id="34" name="Shape 21"/>
          <p:cNvSpPr/>
          <p:nvPr/>
        </p:nvSpPr>
        <p:spPr>
          <a:xfrm>
            <a:off x="566928" y="4617720"/>
            <a:ext cx="7022592" cy="1417320"/>
          </a:xfrm>
          <a:prstGeom prst="rect">
            <a:avLst/>
          </a:prstGeom>
          <a:solidFill>
            <a:srgbClr val="1B2A47"/>
          </a:solidFill>
          <a:ln w="12700">
            <a:solidFill>
              <a:srgbClr val="2A3A5C"/>
            </a:solidFill>
            <a:prstDash val="solid"/>
          </a:ln>
        </p:spPr>
        <p:txBody>
          <a:bodyPr/>
          <a:lstStyle/>
          <a:p>
            <a:endParaRPr lang="es-ES"/>
          </a:p>
        </p:txBody>
      </p:sp>
      <p:sp>
        <p:nvSpPr>
          <p:cNvPr id="35" name="Text 22"/>
          <p:cNvSpPr/>
          <p:nvPr/>
        </p:nvSpPr>
        <p:spPr>
          <a:xfrm>
            <a:off x="841248" y="4773168"/>
            <a:ext cx="6400800" cy="274320"/>
          </a:xfrm>
          <a:prstGeom prst="rect">
            <a:avLst/>
          </a:prstGeom>
          <a:noFill/>
          <a:ln/>
        </p:spPr>
        <p:txBody>
          <a:bodyPr wrap="square" lIns="0" tIns="0" rIns="0" bIns="0" rtlCol="0" anchor="ctr"/>
          <a:lstStyle/>
          <a:p>
            <a:pPr marL="0" indent="0">
              <a:buNone/>
            </a:pPr>
            <a:r>
              <a:rPr lang="en-US" sz="1100" b="1" kern="0" spc="100" dirty="0">
                <a:solidFill>
                  <a:srgbClr val="37D6C3"/>
                </a:solidFill>
                <a:latin typeface="Calibri" pitchFamily="34" charset="0"/>
                <a:ea typeface="Calibri" pitchFamily="34" charset="-122"/>
                <a:cs typeface="Calibri" pitchFamily="34" charset="-120"/>
              </a:rPr>
              <a:t>FLUJO DE DEPENDENCIAS · CLEAN ARCHITECTURE</a:t>
            </a:r>
            <a:endParaRPr lang="en-US" sz="1100" dirty="0"/>
          </a:p>
        </p:txBody>
      </p:sp>
      <p:sp>
        <p:nvSpPr>
          <p:cNvPr id="36" name="Text 23"/>
          <p:cNvSpPr/>
          <p:nvPr/>
        </p:nvSpPr>
        <p:spPr>
          <a:xfrm>
            <a:off x="841248" y="5102352"/>
            <a:ext cx="6583680" cy="457200"/>
          </a:xfrm>
          <a:prstGeom prst="rect">
            <a:avLst/>
          </a:prstGeom>
          <a:noFill/>
          <a:ln/>
        </p:spPr>
        <p:txBody>
          <a:bodyPr wrap="square" lIns="0" tIns="0" rIns="0" bIns="0" rtlCol="0" anchor="ctr"/>
          <a:lstStyle/>
          <a:p>
            <a:pPr marL="0" indent="0">
              <a:buNone/>
            </a:pPr>
            <a:r>
              <a:rPr lang="en-US" sz="1500" b="1" dirty="0">
                <a:solidFill>
                  <a:srgbClr val="FF6A2B"/>
                </a:solidFill>
                <a:latin typeface="Consolas" pitchFamily="34" charset="0"/>
                <a:ea typeface="Consolas" pitchFamily="34" charset="-122"/>
                <a:cs typeface="Consolas" pitchFamily="34" charset="-120"/>
              </a:rPr>
              <a:t>api</a:t>
            </a:r>
            <a:r>
              <a:rPr lang="en-US" sz="1500" dirty="0">
                <a:solidFill>
                  <a:srgbClr val="8492A6"/>
                </a:solidFill>
                <a:latin typeface="Consolas" pitchFamily="34" charset="0"/>
                <a:ea typeface="Consolas" pitchFamily="34" charset="-122"/>
                <a:cs typeface="Consolas" pitchFamily="34" charset="-120"/>
              </a:rPr>
              <a:t>  →  </a:t>
            </a:r>
            <a:r>
              <a:rPr lang="en-US" sz="1500" b="1" dirty="0">
                <a:solidFill>
                  <a:srgbClr val="F3F7FD"/>
                </a:solidFill>
                <a:latin typeface="Consolas" pitchFamily="34" charset="0"/>
                <a:ea typeface="Consolas" pitchFamily="34" charset="-122"/>
                <a:cs typeface="Consolas" pitchFamily="34" charset="-120"/>
              </a:rPr>
              <a:t>application</a:t>
            </a:r>
            <a:r>
              <a:rPr lang="en-US" sz="1500" dirty="0">
                <a:solidFill>
                  <a:srgbClr val="8492A6"/>
                </a:solidFill>
                <a:latin typeface="Consolas" pitchFamily="34" charset="0"/>
                <a:ea typeface="Consolas" pitchFamily="34" charset="-122"/>
                <a:cs typeface="Consolas" pitchFamily="34" charset="-120"/>
              </a:rPr>
              <a:t>  →  </a:t>
            </a:r>
            <a:r>
              <a:rPr lang="en-US" sz="1500" b="1" dirty="0">
                <a:solidFill>
                  <a:srgbClr val="37D6C3"/>
                </a:solidFill>
                <a:latin typeface="Consolas" pitchFamily="34" charset="0"/>
                <a:ea typeface="Consolas" pitchFamily="34" charset="-122"/>
                <a:cs typeface="Consolas" pitchFamily="34" charset="-120"/>
              </a:rPr>
              <a:t>domain</a:t>
            </a:r>
            <a:r>
              <a:rPr lang="en-US" sz="1500" dirty="0">
                <a:solidFill>
                  <a:srgbClr val="8492A6"/>
                </a:solidFill>
                <a:latin typeface="Consolas" pitchFamily="34" charset="0"/>
                <a:ea typeface="Consolas" pitchFamily="34" charset="-122"/>
                <a:cs typeface="Consolas" pitchFamily="34" charset="-120"/>
              </a:rPr>
              <a:t>  ←  </a:t>
            </a:r>
            <a:r>
              <a:rPr lang="en-US" sz="1500" b="1" dirty="0">
                <a:solidFill>
                  <a:srgbClr val="F3F7FD"/>
                </a:solidFill>
                <a:latin typeface="Consolas" pitchFamily="34" charset="0"/>
                <a:ea typeface="Consolas" pitchFamily="34" charset="-122"/>
                <a:cs typeface="Consolas" pitchFamily="34" charset="-120"/>
              </a:rPr>
              <a:t>infrastructure</a:t>
            </a:r>
            <a:endParaRPr lang="en-US" sz="1500" dirty="0"/>
          </a:p>
        </p:txBody>
      </p:sp>
      <p:sp>
        <p:nvSpPr>
          <p:cNvPr id="37" name="Text 24"/>
          <p:cNvSpPr/>
          <p:nvPr/>
        </p:nvSpPr>
        <p:spPr>
          <a:xfrm>
            <a:off x="841248" y="5559552"/>
            <a:ext cx="6583680" cy="411480"/>
          </a:xfrm>
          <a:prstGeom prst="rect">
            <a:avLst/>
          </a:prstGeom>
          <a:noFill/>
          <a:ln/>
        </p:spPr>
        <p:txBody>
          <a:bodyPr wrap="square" lIns="0" tIns="0" rIns="0" bIns="0" rtlCol="0" anchor="ctr"/>
          <a:lstStyle/>
          <a:p>
            <a:pPr marL="0" indent="0">
              <a:buNone/>
            </a:pPr>
            <a:r>
              <a:rPr lang="en-US" sz="1200" i="1" dirty="0">
                <a:solidFill>
                  <a:srgbClr val="C3CEDE"/>
                </a:solidFill>
                <a:latin typeface="Calibri" pitchFamily="34" charset="0"/>
                <a:ea typeface="Calibri" pitchFamily="34" charset="-122"/>
                <a:cs typeface="Calibri" pitchFamily="34" charset="-120"/>
              </a:rPr>
              <a:t>El dominio no depende de FastAPI, SQLAlchemy ni de ningún framework externo.</a:t>
            </a:r>
            <a:endParaRPr lang="en-US" sz="1200" dirty="0"/>
          </a:p>
        </p:txBody>
      </p:sp>
      <p:sp>
        <p:nvSpPr>
          <p:cNvPr id="39" name="Text 25"/>
          <p:cNvSpPr/>
          <p:nvPr/>
        </p:nvSpPr>
        <p:spPr>
          <a:xfrm>
            <a:off x="566928" y="6446520"/>
            <a:ext cx="8229600" cy="292608"/>
          </a:xfrm>
          <a:prstGeom prst="rect">
            <a:avLst/>
          </a:prstGeom>
          <a:noFill/>
          <a:ln/>
        </p:spPr>
        <p:txBody>
          <a:bodyPr wrap="square" lIns="0" tIns="0" rIns="0" bIns="0" rtlCol="0" anchor="ctr"/>
          <a:lstStyle/>
          <a:p>
            <a:pPr marL="0" indent="0">
              <a:buNone/>
            </a:pPr>
            <a:r>
              <a:rPr lang="en-US" sz="900" dirty="0">
                <a:solidFill>
                  <a:srgbClr val="8492A6"/>
                </a:solidFill>
                <a:latin typeface="Calibri" pitchFamily="34" charset="0"/>
                <a:ea typeface="Calibri" pitchFamily="34" charset="-122"/>
                <a:cs typeface="Calibri" pitchFamily="34" charset="-120"/>
              </a:rPr>
              <a:t>BuenCholloTech · TFM Máster en Desarrollo con IA 2025</a:t>
            </a:r>
            <a:endParaRPr lang="en-US" sz="900" dirty="0"/>
          </a:p>
        </p:txBody>
      </p:sp>
      <p:sp>
        <p:nvSpPr>
          <p:cNvPr id="40" name="Text 26"/>
          <p:cNvSpPr/>
          <p:nvPr/>
        </p:nvSpPr>
        <p:spPr>
          <a:xfrm>
            <a:off x="10527487" y="6446520"/>
            <a:ext cx="1097280" cy="292608"/>
          </a:xfrm>
          <a:prstGeom prst="rect">
            <a:avLst/>
          </a:prstGeom>
          <a:noFill/>
          <a:ln/>
        </p:spPr>
        <p:txBody>
          <a:bodyPr wrap="square" lIns="0" tIns="0" rIns="0" bIns="0"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06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928" y="457200"/>
            <a:ext cx="3229661" cy="310896"/>
          </a:xfrm>
          <a:prstGeom prst="roundRect">
            <a:avLst>
              <a:gd name="adj" fmla="val 50000"/>
            </a:avLst>
          </a:prstGeom>
          <a:solidFill>
            <a:srgbClr val="FF6A2B"/>
          </a:solidFill>
          <a:ln/>
        </p:spPr>
        <p:txBody>
          <a:bodyPr/>
          <a:lstStyle/>
          <a:p>
            <a:endParaRPr lang="es-ES"/>
          </a:p>
        </p:txBody>
      </p:sp>
      <p:sp>
        <p:nvSpPr>
          <p:cNvPr id="3" name="Text 1"/>
          <p:cNvSpPr/>
          <p:nvPr/>
        </p:nvSpPr>
        <p:spPr>
          <a:xfrm>
            <a:off x="566928" y="457200"/>
            <a:ext cx="3229661" cy="310896"/>
          </a:xfrm>
          <a:prstGeom prst="rect">
            <a:avLst/>
          </a:prstGeom>
          <a:noFill/>
          <a:ln/>
        </p:spPr>
        <p:txBody>
          <a:bodyPr wrap="square" lIns="0" tIns="0" rIns="0" bIns="0" rtlCol="0" anchor="ctr"/>
          <a:lstStyle/>
          <a:p>
            <a:pPr marL="0" indent="0" algn="ctr">
              <a:buNone/>
            </a:pPr>
            <a:r>
              <a:rPr lang="en-US" sz="1050" b="1" kern="0" spc="100" dirty="0">
                <a:solidFill>
                  <a:srgbClr val="0A0F1A"/>
                </a:solidFill>
                <a:latin typeface="Calibri" pitchFamily="34" charset="0"/>
                <a:ea typeface="Calibri" pitchFamily="34" charset="-122"/>
                <a:cs typeface="Calibri" pitchFamily="34" charset="-120"/>
              </a:rPr>
              <a:t>DECISIONES DE ARQUITECTURA</a:t>
            </a:r>
            <a:endParaRPr lang="en-US" sz="1050" dirty="0"/>
          </a:p>
        </p:txBody>
      </p:sp>
      <p:pic>
        <p:nvPicPr>
          <p:cNvPr id="4" name="Image 0" descr="preencoded.png"/>
          <p:cNvPicPr>
            <a:picLocks noChangeAspect="1"/>
          </p:cNvPicPr>
          <p:nvPr/>
        </p:nvPicPr>
        <p:blipFill>
          <a:blip r:embed="rId4"/>
          <a:stretch>
            <a:fillRect/>
          </a:stretch>
        </p:blipFill>
        <p:spPr>
          <a:xfrm>
            <a:off x="11057839" y="384048"/>
            <a:ext cx="457200" cy="457200"/>
          </a:xfrm>
          <a:prstGeom prst="rect">
            <a:avLst/>
          </a:prstGeom>
        </p:spPr>
      </p:pic>
      <p:sp>
        <p:nvSpPr>
          <p:cNvPr id="5" name="Text 2"/>
          <p:cNvSpPr/>
          <p:nvPr/>
        </p:nvSpPr>
        <p:spPr>
          <a:xfrm>
            <a:off x="566928" y="841248"/>
            <a:ext cx="10554919" cy="640080"/>
          </a:xfrm>
          <a:prstGeom prst="rect">
            <a:avLst/>
          </a:prstGeom>
          <a:noFill/>
          <a:ln/>
        </p:spPr>
        <p:txBody>
          <a:bodyPr wrap="square" lIns="0" tIns="0" rIns="0" bIns="0" rtlCol="0" anchor="ctr"/>
          <a:lstStyle/>
          <a:p>
            <a:pPr marL="0" indent="0">
              <a:buNone/>
            </a:pPr>
            <a:r>
              <a:rPr lang="en-US" sz="2700" b="1" dirty="0">
                <a:solidFill>
                  <a:srgbClr val="F3F7FD"/>
                </a:solidFill>
                <a:latin typeface="Georgia" pitchFamily="34" charset="0"/>
                <a:ea typeface="Georgia" pitchFamily="34" charset="-122"/>
                <a:cs typeface="Georgia" pitchFamily="34" charset="-120"/>
              </a:rPr>
              <a:t>Monolito modular y migración a API Gateway</a:t>
            </a:r>
            <a:endParaRPr lang="en-US" sz="2700" dirty="0"/>
          </a:p>
        </p:txBody>
      </p:sp>
      <p:sp>
        <p:nvSpPr>
          <p:cNvPr id="6" name="Shape 3"/>
          <p:cNvSpPr/>
          <p:nvPr/>
        </p:nvSpPr>
        <p:spPr>
          <a:xfrm>
            <a:off x="566928" y="1600200"/>
            <a:ext cx="5349240" cy="452628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7" name="Image 1" descr="preencoded.png"/>
          <p:cNvPicPr>
            <a:picLocks noChangeAspect="1"/>
          </p:cNvPicPr>
          <p:nvPr/>
        </p:nvPicPr>
        <p:blipFill>
          <a:blip r:embed="rId5"/>
          <a:stretch>
            <a:fillRect/>
          </a:stretch>
        </p:blipFill>
        <p:spPr>
          <a:xfrm>
            <a:off x="566928" y="1600200"/>
            <a:ext cx="5349240" cy="73152"/>
          </a:xfrm>
          <a:prstGeom prst="rect">
            <a:avLst/>
          </a:prstGeom>
        </p:spPr>
      </p:pic>
      <p:sp>
        <p:nvSpPr>
          <p:cNvPr id="8" name="Text 4"/>
          <p:cNvSpPr/>
          <p:nvPr/>
        </p:nvSpPr>
        <p:spPr>
          <a:xfrm>
            <a:off x="859536" y="1810512"/>
            <a:ext cx="4754880" cy="274320"/>
          </a:xfrm>
          <a:prstGeom prst="rect">
            <a:avLst/>
          </a:prstGeom>
          <a:noFill/>
          <a:ln/>
        </p:spPr>
        <p:txBody>
          <a:bodyPr wrap="square" lIns="0" tIns="0" rIns="0" bIns="0" rtlCol="0" anchor="ctr"/>
          <a:lstStyle/>
          <a:p>
            <a:pPr marL="0" indent="0">
              <a:buNone/>
            </a:pPr>
            <a:r>
              <a:rPr lang="en-US" sz="1300" b="1" dirty="0">
                <a:solidFill>
                  <a:srgbClr val="FF6A2B"/>
                </a:solidFill>
                <a:latin typeface="Calibri" pitchFamily="34" charset="0"/>
                <a:ea typeface="Calibri" pitchFamily="34" charset="-122"/>
                <a:cs typeface="Calibri" pitchFamily="34" charset="-120"/>
              </a:rPr>
              <a:t>ADR-001</a:t>
            </a:r>
            <a:endParaRPr lang="en-US" sz="1300" dirty="0"/>
          </a:p>
        </p:txBody>
      </p:sp>
      <p:sp>
        <p:nvSpPr>
          <p:cNvPr id="9" name="Text 5"/>
          <p:cNvSpPr/>
          <p:nvPr/>
        </p:nvSpPr>
        <p:spPr>
          <a:xfrm>
            <a:off x="859536" y="2084832"/>
            <a:ext cx="4754880" cy="548640"/>
          </a:xfrm>
          <a:prstGeom prst="rect">
            <a:avLst/>
          </a:prstGeom>
          <a:noFill/>
          <a:ln/>
        </p:spPr>
        <p:txBody>
          <a:bodyPr wrap="square" lIns="0" tIns="0" rIns="0" bIns="0" rtlCol="0" anchor="ctr"/>
          <a:lstStyle/>
          <a:p>
            <a:pPr marL="0" indent="0">
              <a:buNone/>
            </a:pPr>
            <a:r>
              <a:rPr lang="en-US" sz="1900" b="1" dirty="0">
                <a:solidFill>
                  <a:srgbClr val="F3F7FD"/>
                </a:solidFill>
                <a:latin typeface="Georgia" pitchFamily="34" charset="0"/>
                <a:ea typeface="Georgia" pitchFamily="34" charset="-122"/>
                <a:cs typeface="Georgia" pitchFamily="34" charset="-120"/>
              </a:rPr>
              <a:t>Monolito modular, no microservicios</a:t>
            </a:r>
            <a:endParaRPr lang="en-US" sz="1900" dirty="0"/>
          </a:p>
        </p:txBody>
      </p:sp>
      <p:sp>
        <p:nvSpPr>
          <p:cNvPr id="10" name="Text 6"/>
          <p:cNvSpPr/>
          <p:nvPr/>
        </p:nvSpPr>
        <p:spPr>
          <a:xfrm>
            <a:off x="859536" y="2743200"/>
            <a:ext cx="4846320" cy="3200400"/>
          </a:xfrm>
          <a:prstGeom prst="rect">
            <a:avLst/>
          </a:prstGeom>
          <a:noFill/>
          <a:ln/>
        </p:spPr>
        <p:txBody>
          <a:bodyPr wrap="square" lIns="0" tIns="0" rIns="0" bIns="0" rtlCol="0" anchor="t"/>
          <a:lstStyle/>
          <a:p>
            <a:pPr marL="203200" indent="-203200">
              <a:spcAft>
                <a:spcPts val="900"/>
              </a:spcAft>
              <a:buSzPct val="100000"/>
              <a:buChar char="•"/>
            </a:pPr>
            <a:r>
              <a:rPr lang="en-US" sz="1300" dirty="0">
                <a:solidFill>
                  <a:srgbClr val="C3CEDE"/>
                </a:solidFill>
                <a:latin typeface="Calibri" pitchFamily="34" charset="0"/>
                <a:ea typeface="Calibri" pitchFamily="34" charset="-122"/>
                <a:cs typeface="Calibri" pitchFamily="34" charset="-120"/>
              </a:rPr>
              <a:t>Equipo de 1 persona: los microservicios multiplican el coste de operación sin justificación.</a:t>
            </a:r>
            <a:endParaRPr lang="en-US" sz="1300" dirty="0"/>
          </a:p>
          <a:p>
            <a:pPr marL="203200" indent="-203200">
              <a:spcAft>
                <a:spcPts val="900"/>
              </a:spcAft>
              <a:buSzPct val="100000"/>
              <a:buChar char="•"/>
            </a:pPr>
            <a:r>
              <a:rPr lang="en-US" sz="1300" dirty="0">
                <a:solidFill>
                  <a:srgbClr val="C3CEDE"/>
                </a:solidFill>
                <a:latin typeface="Calibri" pitchFamily="34" charset="0"/>
                <a:ea typeface="Calibri" pitchFamily="34" charset="-122"/>
                <a:cs typeface="Calibri" pitchFamily="34" charset="-120"/>
              </a:rPr>
              <a:t>Dominio cohesionado: ~60% del modelo de datos es compartido.</a:t>
            </a:r>
            <a:endParaRPr lang="en-US" sz="1300" dirty="0"/>
          </a:p>
          <a:p>
            <a:pPr marL="203200" indent="-203200">
              <a:spcAft>
                <a:spcPts val="900"/>
              </a:spcAft>
              <a:buSzPct val="100000"/>
              <a:buChar char="•"/>
            </a:pPr>
            <a:r>
              <a:rPr lang="en-US" sz="1300" dirty="0">
                <a:solidFill>
                  <a:srgbClr val="C3CEDE"/>
                </a:solidFill>
                <a:latin typeface="Calibri" pitchFamily="34" charset="0"/>
                <a:ea typeface="Calibri" pitchFamily="34" charset="-122"/>
                <a:cs typeface="Calibri" pitchFamily="34" charset="-120"/>
              </a:rPr>
              <a:t>Volumen pequeño: un único contenedor en el NAS sobra.</a:t>
            </a:r>
            <a:endParaRPr lang="en-US" sz="1300" dirty="0"/>
          </a:p>
          <a:p>
            <a:pPr marL="203200" indent="-203200">
              <a:spcAft>
                <a:spcPts val="900"/>
              </a:spcAft>
              <a:buSzPct val="100000"/>
              <a:buChar char="•"/>
            </a:pPr>
            <a:r>
              <a:rPr lang="en-US" sz="1300" dirty="0">
                <a:solidFill>
                  <a:srgbClr val="C3CEDE"/>
                </a:solidFill>
                <a:latin typeface="Calibri" pitchFamily="34" charset="0"/>
                <a:ea typeface="Calibri" pitchFamily="34" charset="-122"/>
                <a:cs typeface="Calibri" pitchFamily="34" charset="-120"/>
              </a:rPr>
              <a:t>Refactor barato: mover una función entre módulos es un import, no un endpoint nuevo.</a:t>
            </a:r>
            <a:endParaRPr lang="en-US" sz="1300" dirty="0"/>
          </a:p>
          <a:p>
            <a:pPr marL="203200" indent="-203200">
              <a:spcAft>
                <a:spcPts val="900"/>
              </a:spcAft>
              <a:buSzPct val="100000"/>
              <a:buChar char="•"/>
            </a:pPr>
            <a:r>
              <a:rPr lang="en-US" sz="1300" dirty="0">
                <a:solidFill>
                  <a:srgbClr val="C3CEDE"/>
                </a:solidFill>
                <a:latin typeface="Calibri" pitchFamily="34" charset="0"/>
                <a:ea typeface="Calibri" pitchFamily="34" charset="-122"/>
                <a:cs typeface="Calibri" pitchFamily="34" charset="-120"/>
              </a:rPr>
              <a:t>A prueba de futuro: extraer un microservicio luego sigue siendo posible.</a:t>
            </a:r>
            <a:endParaRPr lang="en-US" sz="1300" dirty="0"/>
          </a:p>
        </p:txBody>
      </p:sp>
      <p:sp>
        <p:nvSpPr>
          <p:cNvPr id="11" name="Shape 7"/>
          <p:cNvSpPr/>
          <p:nvPr/>
        </p:nvSpPr>
        <p:spPr>
          <a:xfrm>
            <a:off x="6263640" y="1600200"/>
            <a:ext cx="5358384" cy="452628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2" name="Image 2" descr="preencoded.png"/>
          <p:cNvPicPr>
            <a:picLocks noChangeAspect="1"/>
          </p:cNvPicPr>
          <p:nvPr/>
        </p:nvPicPr>
        <p:blipFill>
          <a:blip r:embed="rId5"/>
          <a:stretch>
            <a:fillRect/>
          </a:stretch>
        </p:blipFill>
        <p:spPr>
          <a:xfrm>
            <a:off x="6263640" y="1600200"/>
            <a:ext cx="5358384" cy="73152"/>
          </a:xfrm>
          <a:prstGeom prst="rect">
            <a:avLst/>
          </a:prstGeom>
        </p:spPr>
      </p:pic>
      <p:sp>
        <p:nvSpPr>
          <p:cNvPr id="13" name="Text 8"/>
          <p:cNvSpPr/>
          <p:nvPr/>
        </p:nvSpPr>
        <p:spPr>
          <a:xfrm>
            <a:off x="6556248" y="1810512"/>
            <a:ext cx="4754880" cy="274320"/>
          </a:xfrm>
          <a:prstGeom prst="rect">
            <a:avLst/>
          </a:prstGeom>
          <a:noFill/>
          <a:ln/>
        </p:spPr>
        <p:txBody>
          <a:bodyPr wrap="square" lIns="0" tIns="0" rIns="0" bIns="0" rtlCol="0" anchor="ctr"/>
          <a:lstStyle/>
          <a:p>
            <a:pPr marL="0" indent="0">
              <a:buNone/>
            </a:pPr>
            <a:r>
              <a:rPr lang="en-US" sz="1300" b="1" dirty="0">
                <a:solidFill>
                  <a:srgbClr val="37D6C3"/>
                </a:solidFill>
                <a:latin typeface="Calibri" pitchFamily="34" charset="0"/>
                <a:ea typeface="Calibri" pitchFamily="34" charset="-122"/>
                <a:cs typeface="Calibri" pitchFamily="34" charset="-120"/>
              </a:rPr>
              <a:t>ADR-002</a:t>
            </a:r>
            <a:endParaRPr lang="en-US" sz="1300" dirty="0"/>
          </a:p>
        </p:txBody>
      </p:sp>
      <p:sp>
        <p:nvSpPr>
          <p:cNvPr id="14" name="Text 9"/>
          <p:cNvSpPr/>
          <p:nvPr/>
        </p:nvSpPr>
        <p:spPr>
          <a:xfrm>
            <a:off x="6556248" y="2084832"/>
            <a:ext cx="4754880" cy="548640"/>
          </a:xfrm>
          <a:prstGeom prst="rect">
            <a:avLst/>
          </a:prstGeom>
          <a:noFill/>
          <a:ln/>
        </p:spPr>
        <p:txBody>
          <a:bodyPr wrap="square" lIns="0" tIns="0" rIns="0" bIns="0" rtlCol="0" anchor="ctr"/>
          <a:lstStyle/>
          <a:p>
            <a:pPr marL="0" indent="0">
              <a:buNone/>
            </a:pPr>
            <a:r>
              <a:rPr lang="en-US" sz="1900" b="1" dirty="0">
                <a:solidFill>
                  <a:srgbClr val="F3F7FD"/>
                </a:solidFill>
                <a:latin typeface="Georgia" pitchFamily="34" charset="0"/>
                <a:ea typeface="Georgia" pitchFamily="34" charset="-122"/>
                <a:cs typeface="Georgia" pitchFamily="34" charset="-120"/>
              </a:rPr>
              <a:t>De BaaS directo a API Gateway</a:t>
            </a:r>
            <a:endParaRPr lang="en-US" sz="1900" dirty="0"/>
          </a:p>
        </p:txBody>
      </p:sp>
      <p:sp>
        <p:nvSpPr>
          <p:cNvPr id="15" name="Shape 10"/>
          <p:cNvSpPr/>
          <p:nvPr/>
        </p:nvSpPr>
        <p:spPr>
          <a:xfrm>
            <a:off x="6556248" y="2816352"/>
            <a:ext cx="4800600" cy="822960"/>
          </a:xfrm>
          <a:prstGeom prst="rect">
            <a:avLst/>
          </a:prstGeom>
          <a:solidFill>
            <a:srgbClr val="2A1A12"/>
          </a:solidFill>
          <a:ln w="12700">
            <a:solidFill>
              <a:srgbClr val="5A3018"/>
            </a:solidFill>
            <a:prstDash val="solid"/>
          </a:ln>
        </p:spPr>
        <p:txBody>
          <a:bodyPr/>
          <a:lstStyle/>
          <a:p>
            <a:endParaRPr lang="es-ES"/>
          </a:p>
        </p:txBody>
      </p:sp>
      <p:sp>
        <p:nvSpPr>
          <p:cNvPr id="16" name="Text 11"/>
          <p:cNvSpPr/>
          <p:nvPr/>
        </p:nvSpPr>
        <p:spPr>
          <a:xfrm>
            <a:off x="6739128" y="2816352"/>
            <a:ext cx="4572000" cy="822960"/>
          </a:xfrm>
          <a:prstGeom prst="rect">
            <a:avLst/>
          </a:prstGeom>
          <a:noFill/>
          <a:ln/>
        </p:spPr>
        <p:txBody>
          <a:bodyPr wrap="square" lIns="0" tIns="0" rIns="0" bIns="0" rtlCol="0" anchor="ctr"/>
          <a:lstStyle/>
          <a:p>
            <a:pPr marL="0" indent="0">
              <a:buNone/>
            </a:pPr>
            <a:r>
              <a:rPr lang="en-US" sz="1100" b="1" dirty="0">
                <a:solidFill>
                  <a:srgbClr val="FF6A2B"/>
                </a:solidFill>
                <a:latin typeface="Calibri" pitchFamily="34" charset="0"/>
                <a:ea typeface="Calibri" pitchFamily="34" charset="-122"/>
                <a:cs typeface="Calibri" pitchFamily="34" charset="-120"/>
              </a:rPr>
              <a:t>ANTES   </a:t>
            </a:r>
            <a:r>
              <a:rPr lang="en-US" sz="1200" dirty="0">
                <a:solidFill>
                  <a:srgbClr val="C3CEDE"/>
                </a:solidFill>
                <a:latin typeface="Calibri" pitchFamily="34" charset="0"/>
                <a:ea typeface="Calibri" pitchFamily="34" charset="-122"/>
                <a:cs typeface="Calibri" pitchFamily="34" charset="-120"/>
              </a:rPr>
              <a:t>Navegador → Supabase + FastAPI satélite</a:t>
            </a:r>
            <a:endParaRPr lang="en-US" sz="1100" dirty="0"/>
          </a:p>
        </p:txBody>
      </p:sp>
      <p:sp>
        <p:nvSpPr>
          <p:cNvPr id="17" name="Shape 12"/>
          <p:cNvSpPr/>
          <p:nvPr/>
        </p:nvSpPr>
        <p:spPr>
          <a:xfrm>
            <a:off x="6556248" y="3730752"/>
            <a:ext cx="4800600" cy="822960"/>
          </a:xfrm>
          <a:prstGeom prst="rect">
            <a:avLst/>
          </a:prstGeom>
          <a:solidFill>
            <a:srgbClr val="0E2A26"/>
          </a:solidFill>
          <a:ln w="12700">
            <a:solidFill>
              <a:srgbClr val="1C5249"/>
            </a:solidFill>
            <a:prstDash val="solid"/>
          </a:ln>
        </p:spPr>
        <p:txBody>
          <a:bodyPr/>
          <a:lstStyle/>
          <a:p>
            <a:endParaRPr lang="es-ES"/>
          </a:p>
        </p:txBody>
      </p:sp>
      <p:sp>
        <p:nvSpPr>
          <p:cNvPr id="18" name="Text 13"/>
          <p:cNvSpPr/>
          <p:nvPr/>
        </p:nvSpPr>
        <p:spPr>
          <a:xfrm>
            <a:off x="6739128" y="3730752"/>
            <a:ext cx="4572000" cy="822960"/>
          </a:xfrm>
          <a:prstGeom prst="rect">
            <a:avLst/>
          </a:prstGeom>
          <a:noFill/>
          <a:ln/>
        </p:spPr>
        <p:txBody>
          <a:bodyPr wrap="square" lIns="0" tIns="0" rIns="0" bIns="0" rtlCol="0" anchor="ctr"/>
          <a:lstStyle/>
          <a:p>
            <a:pPr marL="0" indent="0">
              <a:buNone/>
            </a:pPr>
            <a:r>
              <a:rPr lang="en-US" sz="1100" b="1" dirty="0">
                <a:solidFill>
                  <a:srgbClr val="37D6C3"/>
                </a:solidFill>
                <a:latin typeface="Calibri" pitchFamily="34" charset="0"/>
                <a:ea typeface="Calibri" pitchFamily="34" charset="-122"/>
                <a:cs typeface="Calibri" pitchFamily="34" charset="-120"/>
              </a:rPr>
              <a:t>AHORA   </a:t>
            </a:r>
            <a:r>
              <a:rPr lang="en-US" sz="1200" dirty="0">
                <a:solidFill>
                  <a:srgbClr val="C3CEDE"/>
                </a:solidFill>
                <a:latin typeface="Calibri" pitchFamily="34" charset="0"/>
                <a:ea typeface="Calibri" pitchFamily="34" charset="-122"/>
                <a:cs typeface="Calibri" pitchFamily="34" charset="-120"/>
              </a:rPr>
              <a:t>Navegador → FastAPI → Supabase + APIs</a:t>
            </a:r>
            <a:endParaRPr lang="en-US" sz="1100" dirty="0"/>
          </a:p>
        </p:txBody>
      </p:sp>
      <p:sp>
        <p:nvSpPr>
          <p:cNvPr id="19" name="Text 14"/>
          <p:cNvSpPr/>
          <p:nvPr/>
        </p:nvSpPr>
        <p:spPr>
          <a:xfrm>
            <a:off x="6556248" y="4736592"/>
            <a:ext cx="4846320" cy="1280160"/>
          </a:xfrm>
          <a:prstGeom prst="rect">
            <a:avLst/>
          </a:prstGeom>
          <a:noFill/>
          <a:ln/>
        </p:spPr>
        <p:txBody>
          <a:bodyPr wrap="square" lIns="0" tIns="0" rIns="0" bIns="0" rtlCol="0" anchor="t"/>
          <a:lstStyle/>
          <a:p>
            <a:pPr marL="203200" indent="-203200">
              <a:spcAft>
                <a:spcPts val="900"/>
              </a:spcAft>
              <a:buSzPct val="100000"/>
              <a:buChar char="•"/>
            </a:pPr>
            <a:r>
              <a:rPr lang="en-US" sz="1300" dirty="0">
                <a:solidFill>
                  <a:srgbClr val="C3CEDE"/>
                </a:solidFill>
                <a:latin typeface="Calibri" pitchFamily="34" charset="0"/>
                <a:ea typeface="Calibri" pitchFamily="34" charset="-122"/>
                <a:cs typeface="Calibri" pitchFamily="34" charset="-120"/>
              </a:rPr>
              <a:t>Punto único de autenticación y autorización.</a:t>
            </a:r>
            <a:endParaRPr lang="en-US" sz="1300" dirty="0"/>
          </a:p>
          <a:p>
            <a:pPr marL="203200" indent="-203200">
              <a:spcAft>
                <a:spcPts val="900"/>
              </a:spcAft>
              <a:buSzPct val="100000"/>
              <a:buChar char="•"/>
            </a:pPr>
            <a:r>
              <a:rPr lang="en-US" sz="1300" dirty="0">
                <a:solidFill>
                  <a:srgbClr val="C3CEDE"/>
                </a:solidFill>
                <a:latin typeface="Calibri" pitchFamily="34" charset="0"/>
                <a:ea typeface="Calibri" pitchFamily="34" charset="-122"/>
                <a:cs typeface="Calibri" pitchFamily="34" charset="-120"/>
              </a:rPr>
              <a:t>El esquema de BD queda desacoplado del frontend.</a:t>
            </a:r>
            <a:endParaRPr lang="en-US" sz="1300" dirty="0"/>
          </a:p>
          <a:p>
            <a:pPr marL="203200" indent="-203200">
              <a:spcAft>
                <a:spcPts val="900"/>
              </a:spcAft>
              <a:buSzPct val="100000"/>
              <a:buChar char="•"/>
            </a:pPr>
            <a:r>
              <a:rPr lang="en-US" sz="1300" dirty="0">
                <a:solidFill>
                  <a:srgbClr val="C3CEDE"/>
                </a:solidFill>
                <a:latin typeface="Calibri" pitchFamily="34" charset="0"/>
                <a:ea typeface="Calibri" pitchFamily="34" charset="-122"/>
                <a:cs typeface="Calibri" pitchFamily="34" charset="-120"/>
              </a:rPr>
              <a:t>Excepción aprobada: subida directa a Supabase Storage.</a:t>
            </a:r>
            <a:endParaRPr lang="en-US" sz="1300" dirty="0"/>
          </a:p>
        </p:txBody>
      </p:sp>
      <p:sp>
        <p:nvSpPr>
          <p:cNvPr id="21" name="Text 15"/>
          <p:cNvSpPr/>
          <p:nvPr/>
        </p:nvSpPr>
        <p:spPr>
          <a:xfrm>
            <a:off x="566928" y="6446520"/>
            <a:ext cx="8229600" cy="292608"/>
          </a:xfrm>
          <a:prstGeom prst="rect">
            <a:avLst/>
          </a:prstGeom>
          <a:noFill/>
          <a:ln/>
        </p:spPr>
        <p:txBody>
          <a:bodyPr wrap="square" lIns="0" tIns="0" rIns="0" bIns="0" rtlCol="0" anchor="ctr"/>
          <a:lstStyle/>
          <a:p>
            <a:pPr marL="0" indent="0">
              <a:buNone/>
            </a:pPr>
            <a:r>
              <a:rPr lang="en-US" sz="900" dirty="0">
                <a:solidFill>
                  <a:srgbClr val="8492A6"/>
                </a:solidFill>
                <a:latin typeface="Calibri" pitchFamily="34" charset="0"/>
                <a:ea typeface="Calibri" pitchFamily="34" charset="-122"/>
                <a:cs typeface="Calibri" pitchFamily="34" charset="-120"/>
              </a:rPr>
              <a:t>BuenCholloTech · TFM Máster en Desarrollo con IA 2025</a:t>
            </a:r>
            <a:endParaRPr lang="en-US" sz="900" dirty="0"/>
          </a:p>
        </p:txBody>
      </p:sp>
      <p:sp>
        <p:nvSpPr>
          <p:cNvPr id="22" name="Text 16"/>
          <p:cNvSpPr/>
          <p:nvPr/>
        </p:nvSpPr>
        <p:spPr>
          <a:xfrm>
            <a:off x="10527487" y="6446520"/>
            <a:ext cx="1097280" cy="292608"/>
          </a:xfrm>
          <a:prstGeom prst="rect">
            <a:avLst/>
          </a:prstGeom>
          <a:noFill/>
          <a:ln/>
        </p:spPr>
        <p:txBody>
          <a:bodyPr wrap="square" lIns="0" tIns="0" rIns="0" bIns="0"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07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928" y="457200"/>
            <a:ext cx="2225650" cy="310896"/>
          </a:xfrm>
          <a:prstGeom prst="roundRect">
            <a:avLst>
              <a:gd name="adj" fmla="val 50000"/>
            </a:avLst>
          </a:prstGeom>
          <a:solidFill>
            <a:srgbClr val="FF6A2B"/>
          </a:solidFill>
          <a:ln/>
        </p:spPr>
        <p:txBody>
          <a:bodyPr/>
          <a:lstStyle/>
          <a:p>
            <a:endParaRPr lang="es-ES"/>
          </a:p>
        </p:txBody>
      </p:sp>
      <p:sp>
        <p:nvSpPr>
          <p:cNvPr id="3" name="Text 1"/>
          <p:cNvSpPr/>
          <p:nvPr/>
        </p:nvSpPr>
        <p:spPr>
          <a:xfrm>
            <a:off x="566928" y="457200"/>
            <a:ext cx="2225650" cy="310896"/>
          </a:xfrm>
          <a:prstGeom prst="rect">
            <a:avLst/>
          </a:prstGeom>
          <a:noFill/>
          <a:ln/>
        </p:spPr>
        <p:txBody>
          <a:bodyPr wrap="square" lIns="0" tIns="0" rIns="0" bIns="0" rtlCol="0" anchor="ctr"/>
          <a:lstStyle/>
          <a:p>
            <a:pPr marL="0" indent="0" algn="ctr">
              <a:buNone/>
            </a:pPr>
            <a:r>
              <a:rPr lang="en-US" sz="1050" b="1" kern="0" spc="100" dirty="0">
                <a:solidFill>
                  <a:srgbClr val="0A0F1A"/>
                </a:solidFill>
                <a:latin typeface="Calibri" pitchFamily="34" charset="0"/>
                <a:ea typeface="Calibri" pitchFamily="34" charset="-122"/>
                <a:cs typeface="Calibri" pitchFamily="34" charset="-120"/>
              </a:rPr>
              <a:t>STACK TECNOLÓGICO</a:t>
            </a:r>
            <a:endParaRPr lang="en-US" sz="1050" dirty="0"/>
          </a:p>
        </p:txBody>
      </p:sp>
      <p:pic>
        <p:nvPicPr>
          <p:cNvPr id="4" name="Image 0" descr="preencoded.png"/>
          <p:cNvPicPr>
            <a:picLocks noChangeAspect="1"/>
          </p:cNvPicPr>
          <p:nvPr/>
        </p:nvPicPr>
        <p:blipFill>
          <a:blip r:embed="rId4"/>
          <a:stretch>
            <a:fillRect/>
          </a:stretch>
        </p:blipFill>
        <p:spPr>
          <a:xfrm>
            <a:off x="11057839" y="384048"/>
            <a:ext cx="457200" cy="457200"/>
          </a:xfrm>
          <a:prstGeom prst="rect">
            <a:avLst/>
          </a:prstGeom>
        </p:spPr>
      </p:pic>
      <p:sp>
        <p:nvSpPr>
          <p:cNvPr id="5" name="Text 2"/>
          <p:cNvSpPr/>
          <p:nvPr/>
        </p:nvSpPr>
        <p:spPr>
          <a:xfrm>
            <a:off x="566928" y="841248"/>
            <a:ext cx="10554919" cy="640080"/>
          </a:xfrm>
          <a:prstGeom prst="rect">
            <a:avLst/>
          </a:prstGeom>
          <a:noFill/>
          <a:ln/>
        </p:spPr>
        <p:txBody>
          <a:bodyPr wrap="square" lIns="0" tIns="0" rIns="0" bIns="0" rtlCol="0" anchor="ctr"/>
          <a:lstStyle/>
          <a:p>
            <a:pPr marL="0" indent="0">
              <a:buNone/>
            </a:pPr>
            <a:r>
              <a:rPr lang="en-US" sz="2700" b="1" dirty="0">
                <a:solidFill>
                  <a:srgbClr val="F3F7FD"/>
                </a:solidFill>
                <a:latin typeface="Georgia" pitchFamily="34" charset="0"/>
                <a:ea typeface="Georgia" pitchFamily="34" charset="-122"/>
                <a:cs typeface="Georgia" pitchFamily="34" charset="-120"/>
              </a:rPr>
              <a:t>Async-first, tipado estricto y despliegue propio</a:t>
            </a:r>
            <a:endParaRPr lang="en-US" sz="2700" dirty="0"/>
          </a:p>
        </p:txBody>
      </p:sp>
      <p:sp>
        <p:nvSpPr>
          <p:cNvPr id="6" name="Shape 3"/>
          <p:cNvSpPr/>
          <p:nvPr/>
        </p:nvSpPr>
        <p:spPr>
          <a:xfrm>
            <a:off x="566928" y="1645920"/>
            <a:ext cx="3602736" cy="21031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7" name="Image 1" descr="preencoded.png"/>
          <p:cNvPicPr>
            <a:picLocks noChangeAspect="1"/>
          </p:cNvPicPr>
          <p:nvPr/>
        </p:nvPicPr>
        <p:blipFill>
          <a:blip r:embed="rId5"/>
          <a:stretch>
            <a:fillRect/>
          </a:stretch>
        </p:blipFill>
        <p:spPr>
          <a:xfrm>
            <a:off x="566928" y="1645920"/>
            <a:ext cx="3602736" cy="73152"/>
          </a:xfrm>
          <a:prstGeom prst="rect">
            <a:avLst/>
          </a:prstGeom>
        </p:spPr>
      </p:pic>
      <p:sp>
        <p:nvSpPr>
          <p:cNvPr id="8" name="Shape 4"/>
          <p:cNvSpPr/>
          <p:nvPr/>
        </p:nvSpPr>
        <p:spPr>
          <a:xfrm>
            <a:off x="841248" y="1938528"/>
            <a:ext cx="658368" cy="658368"/>
          </a:xfrm>
          <a:prstGeom prst="ellipse">
            <a:avLst/>
          </a:prstGeom>
          <a:solidFill>
            <a:srgbClr val="37D6C3"/>
          </a:solidFill>
          <a:ln/>
        </p:spPr>
        <p:txBody>
          <a:bodyPr/>
          <a:lstStyle/>
          <a:p>
            <a:endParaRPr lang="es-ES"/>
          </a:p>
        </p:txBody>
      </p:sp>
      <p:pic>
        <p:nvPicPr>
          <p:cNvPr id="9" name="Image 2" descr="preencoded.png"/>
          <p:cNvPicPr>
            <a:picLocks noChangeAspect="1"/>
          </p:cNvPicPr>
          <p:nvPr/>
        </p:nvPicPr>
        <p:blipFill>
          <a:blip r:embed="rId6"/>
          <a:stretch>
            <a:fillRect/>
          </a:stretch>
        </p:blipFill>
        <p:spPr>
          <a:xfrm>
            <a:off x="1005840" y="2103120"/>
            <a:ext cx="329184" cy="329184"/>
          </a:xfrm>
          <a:prstGeom prst="rect">
            <a:avLst/>
          </a:prstGeom>
        </p:spPr>
      </p:pic>
      <p:sp>
        <p:nvSpPr>
          <p:cNvPr id="10" name="Text 5"/>
          <p:cNvSpPr/>
          <p:nvPr/>
        </p:nvSpPr>
        <p:spPr>
          <a:xfrm>
            <a:off x="1645920" y="1938528"/>
            <a:ext cx="2322576" cy="658368"/>
          </a:xfrm>
          <a:prstGeom prst="rect">
            <a:avLst/>
          </a:prstGeom>
          <a:noFill/>
          <a:ln/>
        </p:spPr>
        <p:txBody>
          <a:bodyPr wrap="square" lIns="0" tIns="0" rIns="0" bIns="0" rtlCol="0" anchor="ctr"/>
          <a:lstStyle/>
          <a:p>
            <a:pPr marL="0" indent="0">
              <a:buNone/>
            </a:pPr>
            <a:r>
              <a:rPr lang="en-US" sz="1600" b="1" dirty="0">
                <a:solidFill>
                  <a:srgbClr val="F3F7FD"/>
                </a:solidFill>
                <a:latin typeface="Georgia" pitchFamily="34" charset="0"/>
                <a:ea typeface="Georgia" pitchFamily="34" charset="-122"/>
                <a:cs typeface="Georgia" pitchFamily="34" charset="-120"/>
              </a:rPr>
              <a:t>Frontend</a:t>
            </a:r>
            <a:endParaRPr lang="en-US" sz="1600" dirty="0"/>
          </a:p>
        </p:txBody>
      </p:sp>
      <p:sp>
        <p:nvSpPr>
          <p:cNvPr id="11" name="Text 6"/>
          <p:cNvSpPr/>
          <p:nvPr/>
        </p:nvSpPr>
        <p:spPr>
          <a:xfrm>
            <a:off x="841248" y="2724912"/>
            <a:ext cx="3054096" cy="914400"/>
          </a:xfrm>
          <a:prstGeom prst="rect">
            <a:avLst/>
          </a:prstGeom>
          <a:noFill/>
          <a:ln/>
        </p:spPr>
        <p:txBody>
          <a:bodyPr wrap="square" lIns="0" tIns="0" rIns="0" bIns="0" rtlCol="0" anchor="t"/>
          <a:lstStyle/>
          <a:p>
            <a:pPr marL="0" indent="0">
              <a:lnSpc>
                <a:spcPct val="110000"/>
              </a:lnSpc>
              <a:buNone/>
            </a:pPr>
            <a:r>
              <a:rPr lang="en-US" sz="1250" dirty="0">
                <a:solidFill>
                  <a:srgbClr val="C3CEDE"/>
                </a:solidFill>
                <a:latin typeface="Calibri" pitchFamily="34" charset="0"/>
                <a:ea typeface="Calibri" pitchFamily="34" charset="-122"/>
                <a:cs typeface="Calibri" pitchFamily="34" charset="-120"/>
              </a:rPr>
              <a:t>React 19 · TypeScript estricto · Vite · TanStack Router/Query · Tailwind · shadcn/ui</a:t>
            </a:r>
            <a:endParaRPr lang="en-US" sz="1250" dirty="0"/>
          </a:p>
        </p:txBody>
      </p:sp>
      <p:sp>
        <p:nvSpPr>
          <p:cNvPr id="12" name="Shape 7"/>
          <p:cNvSpPr/>
          <p:nvPr/>
        </p:nvSpPr>
        <p:spPr>
          <a:xfrm>
            <a:off x="4462272" y="1645920"/>
            <a:ext cx="3602736" cy="21031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3" name="Image 3" descr="preencoded.png"/>
          <p:cNvPicPr>
            <a:picLocks noChangeAspect="1"/>
          </p:cNvPicPr>
          <p:nvPr/>
        </p:nvPicPr>
        <p:blipFill>
          <a:blip r:embed="rId5"/>
          <a:stretch>
            <a:fillRect/>
          </a:stretch>
        </p:blipFill>
        <p:spPr>
          <a:xfrm>
            <a:off x="4462272" y="1645920"/>
            <a:ext cx="3602736" cy="73152"/>
          </a:xfrm>
          <a:prstGeom prst="rect">
            <a:avLst/>
          </a:prstGeom>
        </p:spPr>
      </p:pic>
      <p:sp>
        <p:nvSpPr>
          <p:cNvPr id="14" name="Shape 8"/>
          <p:cNvSpPr/>
          <p:nvPr/>
        </p:nvSpPr>
        <p:spPr>
          <a:xfrm>
            <a:off x="4736592" y="1938528"/>
            <a:ext cx="658368" cy="658368"/>
          </a:xfrm>
          <a:prstGeom prst="ellipse">
            <a:avLst/>
          </a:prstGeom>
          <a:solidFill>
            <a:srgbClr val="FF6A2B"/>
          </a:solidFill>
          <a:ln/>
        </p:spPr>
        <p:txBody>
          <a:bodyPr/>
          <a:lstStyle/>
          <a:p>
            <a:endParaRPr lang="es-ES"/>
          </a:p>
        </p:txBody>
      </p:sp>
      <p:pic>
        <p:nvPicPr>
          <p:cNvPr id="15" name="Image 4" descr="preencoded.png"/>
          <p:cNvPicPr>
            <a:picLocks noChangeAspect="1"/>
          </p:cNvPicPr>
          <p:nvPr/>
        </p:nvPicPr>
        <p:blipFill>
          <a:blip r:embed="rId7"/>
          <a:stretch>
            <a:fillRect/>
          </a:stretch>
        </p:blipFill>
        <p:spPr>
          <a:xfrm>
            <a:off x="4901184" y="2103120"/>
            <a:ext cx="329184" cy="329184"/>
          </a:xfrm>
          <a:prstGeom prst="rect">
            <a:avLst/>
          </a:prstGeom>
        </p:spPr>
      </p:pic>
      <p:sp>
        <p:nvSpPr>
          <p:cNvPr id="16" name="Text 9"/>
          <p:cNvSpPr/>
          <p:nvPr/>
        </p:nvSpPr>
        <p:spPr>
          <a:xfrm>
            <a:off x="5541264" y="1938528"/>
            <a:ext cx="2322576" cy="658368"/>
          </a:xfrm>
          <a:prstGeom prst="rect">
            <a:avLst/>
          </a:prstGeom>
          <a:noFill/>
          <a:ln/>
        </p:spPr>
        <p:txBody>
          <a:bodyPr wrap="square" lIns="0" tIns="0" rIns="0" bIns="0" rtlCol="0" anchor="ctr"/>
          <a:lstStyle/>
          <a:p>
            <a:pPr marL="0" indent="0">
              <a:buNone/>
            </a:pPr>
            <a:r>
              <a:rPr lang="en-US" sz="1600" b="1" dirty="0">
                <a:solidFill>
                  <a:srgbClr val="F3F7FD"/>
                </a:solidFill>
                <a:latin typeface="Georgia" pitchFamily="34" charset="0"/>
                <a:ea typeface="Georgia" pitchFamily="34" charset="-122"/>
                <a:cs typeface="Georgia" pitchFamily="34" charset="-120"/>
              </a:rPr>
              <a:t>Backend</a:t>
            </a:r>
            <a:endParaRPr lang="en-US" sz="1600" dirty="0"/>
          </a:p>
        </p:txBody>
      </p:sp>
      <p:sp>
        <p:nvSpPr>
          <p:cNvPr id="17" name="Text 10"/>
          <p:cNvSpPr/>
          <p:nvPr/>
        </p:nvSpPr>
        <p:spPr>
          <a:xfrm>
            <a:off x="4736592" y="2724912"/>
            <a:ext cx="3054096" cy="914400"/>
          </a:xfrm>
          <a:prstGeom prst="rect">
            <a:avLst/>
          </a:prstGeom>
          <a:noFill/>
          <a:ln/>
        </p:spPr>
        <p:txBody>
          <a:bodyPr wrap="square" lIns="0" tIns="0" rIns="0" bIns="0" rtlCol="0" anchor="t"/>
          <a:lstStyle/>
          <a:p>
            <a:pPr marL="0" indent="0">
              <a:lnSpc>
                <a:spcPct val="110000"/>
              </a:lnSpc>
              <a:buNone/>
            </a:pPr>
            <a:r>
              <a:rPr lang="en-US" sz="1250" dirty="0">
                <a:solidFill>
                  <a:srgbClr val="C3CEDE"/>
                </a:solidFill>
                <a:latin typeface="Calibri" pitchFamily="34" charset="0"/>
                <a:ea typeface="Calibri" pitchFamily="34" charset="-122"/>
                <a:cs typeface="Calibri" pitchFamily="34" charset="-120"/>
              </a:rPr>
              <a:t>Python 3.11 · FastAPI · SQLAlchemy 2 async · asyncpg · Pydantic v2</a:t>
            </a:r>
            <a:endParaRPr lang="en-US" sz="1250" dirty="0"/>
          </a:p>
        </p:txBody>
      </p:sp>
      <p:sp>
        <p:nvSpPr>
          <p:cNvPr id="18" name="Shape 11"/>
          <p:cNvSpPr/>
          <p:nvPr/>
        </p:nvSpPr>
        <p:spPr>
          <a:xfrm>
            <a:off x="8357616" y="1645920"/>
            <a:ext cx="3602736" cy="21031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9" name="Image 5" descr="preencoded.png"/>
          <p:cNvPicPr>
            <a:picLocks noChangeAspect="1"/>
          </p:cNvPicPr>
          <p:nvPr/>
        </p:nvPicPr>
        <p:blipFill>
          <a:blip r:embed="rId5"/>
          <a:stretch>
            <a:fillRect/>
          </a:stretch>
        </p:blipFill>
        <p:spPr>
          <a:xfrm>
            <a:off x="8357616" y="1645920"/>
            <a:ext cx="3602736" cy="73152"/>
          </a:xfrm>
          <a:prstGeom prst="rect">
            <a:avLst/>
          </a:prstGeom>
        </p:spPr>
      </p:pic>
      <p:sp>
        <p:nvSpPr>
          <p:cNvPr id="20" name="Shape 12"/>
          <p:cNvSpPr/>
          <p:nvPr/>
        </p:nvSpPr>
        <p:spPr>
          <a:xfrm>
            <a:off x="8631936" y="1938528"/>
            <a:ext cx="658368" cy="658368"/>
          </a:xfrm>
          <a:prstGeom prst="ellipse">
            <a:avLst/>
          </a:prstGeom>
          <a:solidFill>
            <a:srgbClr val="37D6C3"/>
          </a:solidFill>
          <a:ln/>
        </p:spPr>
        <p:txBody>
          <a:bodyPr/>
          <a:lstStyle/>
          <a:p>
            <a:endParaRPr lang="es-ES"/>
          </a:p>
        </p:txBody>
      </p:sp>
      <p:pic>
        <p:nvPicPr>
          <p:cNvPr id="21" name="Image 6" descr="preencoded.png"/>
          <p:cNvPicPr>
            <a:picLocks noChangeAspect="1"/>
          </p:cNvPicPr>
          <p:nvPr/>
        </p:nvPicPr>
        <p:blipFill>
          <a:blip r:embed="rId8"/>
          <a:stretch>
            <a:fillRect/>
          </a:stretch>
        </p:blipFill>
        <p:spPr>
          <a:xfrm>
            <a:off x="8796528" y="2103120"/>
            <a:ext cx="329184" cy="329184"/>
          </a:xfrm>
          <a:prstGeom prst="rect">
            <a:avLst/>
          </a:prstGeom>
        </p:spPr>
      </p:pic>
      <p:sp>
        <p:nvSpPr>
          <p:cNvPr id="22" name="Text 13"/>
          <p:cNvSpPr/>
          <p:nvPr/>
        </p:nvSpPr>
        <p:spPr>
          <a:xfrm>
            <a:off x="9436608" y="1938528"/>
            <a:ext cx="2322576" cy="658368"/>
          </a:xfrm>
          <a:prstGeom prst="rect">
            <a:avLst/>
          </a:prstGeom>
          <a:noFill/>
          <a:ln/>
        </p:spPr>
        <p:txBody>
          <a:bodyPr wrap="square" lIns="0" tIns="0" rIns="0" bIns="0" rtlCol="0" anchor="ctr"/>
          <a:lstStyle/>
          <a:p>
            <a:pPr marL="0" indent="0">
              <a:buNone/>
            </a:pPr>
            <a:r>
              <a:rPr lang="en-US" sz="1600" b="1" dirty="0">
                <a:solidFill>
                  <a:srgbClr val="F3F7FD"/>
                </a:solidFill>
                <a:latin typeface="Georgia" pitchFamily="34" charset="0"/>
                <a:ea typeface="Georgia" pitchFamily="34" charset="-122"/>
                <a:cs typeface="Georgia" pitchFamily="34" charset="-120"/>
              </a:rPr>
              <a:t>Datos · Auth · Storage</a:t>
            </a:r>
            <a:endParaRPr lang="en-US" sz="1600" dirty="0"/>
          </a:p>
        </p:txBody>
      </p:sp>
      <p:sp>
        <p:nvSpPr>
          <p:cNvPr id="23" name="Text 14"/>
          <p:cNvSpPr/>
          <p:nvPr/>
        </p:nvSpPr>
        <p:spPr>
          <a:xfrm>
            <a:off x="8631936" y="2724912"/>
            <a:ext cx="3054096" cy="914400"/>
          </a:xfrm>
          <a:prstGeom prst="rect">
            <a:avLst/>
          </a:prstGeom>
          <a:noFill/>
          <a:ln/>
        </p:spPr>
        <p:txBody>
          <a:bodyPr wrap="square" lIns="0" tIns="0" rIns="0" bIns="0" rtlCol="0" anchor="t"/>
          <a:lstStyle/>
          <a:p>
            <a:pPr marL="0" indent="0">
              <a:lnSpc>
                <a:spcPct val="110000"/>
              </a:lnSpc>
              <a:buNone/>
            </a:pPr>
            <a:r>
              <a:rPr lang="en-US" sz="1250" dirty="0">
                <a:solidFill>
                  <a:srgbClr val="C3CEDE"/>
                </a:solidFill>
                <a:latin typeface="Calibri" pitchFamily="34" charset="0"/>
                <a:ea typeface="Calibri" pitchFamily="34" charset="-122"/>
                <a:cs typeface="Calibri" pitchFamily="34" charset="-120"/>
              </a:rPr>
              <a:t>Supabase gestionado (PostgreSQL + Auth Google + Storage) · RLS en 12 tablas</a:t>
            </a:r>
            <a:endParaRPr lang="en-US" sz="1250" dirty="0"/>
          </a:p>
        </p:txBody>
      </p:sp>
      <p:sp>
        <p:nvSpPr>
          <p:cNvPr id="24" name="Shape 15"/>
          <p:cNvSpPr/>
          <p:nvPr/>
        </p:nvSpPr>
        <p:spPr>
          <a:xfrm>
            <a:off x="566928" y="4023360"/>
            <a:ext cx="3602736" cy="21031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25" name="Image 7" descr="preencoded.png"/>
          <p:cNvPicPr>
            <a:picLocks noChangeAspect="1"/>
          </p:cNvPicPr>
          <p:nvPr/>
        </p:nvPicPr>
        <p:blipFill>
          <a:blip r:embed="rId5"/>
          <a:stretch>
            <a:fillRect/>
          </a:stretch>
        </p:blipFill>
        <p:spPr>
          <a:xfrm>
            <a:off x="566928" y="4023360"/>
            <a:ext cx="3602736" cy="73152"/>
          </a:xfrm>
          <a:prstGeom prst="rect">
            <a:avLst/>
          </a:prstGeom>
        </p:spPr>
      </p:pic>
      <p:sp>
        <p:nvSpPr>
          <p:cNvPr id="26" name="Shape 16"/>
          <p:cNvSpPr/>
          <p:nvPr/>
        </p:nvSpPr>
        <p:spPr>
          <a:xfrm>
            <a:off x="841248" y="4315968"/>
            <a:ext cx="658368" cy="658368"/>
          </a:xfrm>
          <a:prstGeom prst="ellipse">
            <a:avLst/>
          </a:prstGeom>
          <a:solidFill>
            <a:srgbClr val="FF6A2B"/>
          </a:solidFill>
          <a:ln/>
        </p:spPr>
        <p:txBody>
          <a:bodyPr/>
          <a:lstStyle/>
          <a:p>
            <a:endParaRPr lang="es-ES"/>
          </a:p>
        </p:txBody>
      </p:sp>
      <p:pic>
        <p:nvPicPr>
          <p:cNvPr id="27" name="Image 8" descr="preencoded.png"/>
          <p:cNvPicPr>
            <a:picLocks noChangeAspect="1"/>
          </p:cNvPicPr>
          <p:nvPr/>
        </p:nvPicPr>
        <p:blipFill>
          <a:blip r:embed="rId9"/>
          <a:stretch>
            <a:fillRect/>
          </a:stretch>
        </p:blipFill>
        <p:spPr>
          <a:xfrm>
            <a:off x="1005840" y="4480560"/>
            <a:ext cx="329184" cy="329184"/>
          </a:xfrm>
          <a:prstGeom prst="rect">
            <a:avLst/>
          </a:prstGeom>
        </p:spPr>
      </p:pic>
      <p:sp>
        <p:nvSpPr>
          <p:cNvPr id="28" name="Text 17"/>
          <p:cNvSpPr/>
          <p:nvPr/>
        </p:nvSpPr>
        <p:spPr>
          <a:xfrm>
            <a:off x="1645920" y="4315968"/>
            <a:ext cx="2322576" cy="658368"/>
          </a:xfrm>
          <a:prstGeom prst="rect">
            <a:avLst/>
          </a:prstGeom>
          <a:noFill/>
          <a:ln/>
        </p:spPr>
        <p:txBody>
          <a:bodyPr wrap="square" lIns="0" tIns="0" rIns="0" bIns="0" rtlCol="0" anchor="ctr"/>
          <a:lstStyle/>
          <a:p>
            <a:pPr marL="0" indent="0">
              <a:buNone/>
            </a:pPr>
            <a:r>
              <a:rPr lang="en-US" sz="1600" b="1" dirty="0">
                <a:solidFill>
                  <a:srgbClr val="F3F7FD"/>
                </a:solidFill>
                <a:latin typeface="Georgia" pitchFamily="34" charset="0"/>
                <a:ea typeface="Georgia" pitchFamily="34" charset="-122"/>
                <a:cs typeface="Georgia" pitchFamily="34" charset="-120"/>
              </a:rPr>
              <a:t>Integraciones</a:t>
            </a:r>
            <a:endParaRPr lang="en-US" sz="1600" dirty="0"/>
          </a:p>
        </p:txBody>
      </p:sp>
      <p:sp>
        <p:nvSpPr>
          <p:cNvPr id="29" name="Text 18"/>
          <p:cNvSpPr/>
          <p:nvPr/>
        </p:nvSpPr>
        <p:spPr>
          <a:xfrm>
            <a:off x="841248" y="5102352"/>
            <a:ext cx="3054096" cy="914400"/>
          </a:xfrm>
          <a:prstGeom prst="rect">
            <a:avLst/>
          </a:prstGeom>
          <a:noFill/>
          <a:ln/>
        </p:spPr>
        <p:txBody>
          <a:bodyPr wrap="square" lIns="0" tIns="0" rIns="0" bIns="0" rtlCol="0" anchor="t"/>
          <a:lstStyle/>
          <a:p>
            <a:pPr marL="0" indent="0">
              <a:lnSpc>
                <a:spcPct val="110000"/>
              </a:lnSpc>
              <a:buNone/>
            </a:pPr>
            <a:r>
              <a:rPr lang="en-US" sz="1250" dirty="0">
                <a:solidFill>
                  <a:srgbClr val="C3CEDE"/>
                </a:solidFill>
                <a:latin typeface="Calibri" pitchFamily="34" charset="0"/>
                <a:ea typeface="Calibri" pitchFamily="34" charset="-122"/>
                <a:cs typeface="Calibri" pitchFamily="34" charset="-120"/>
              </a:rPr>
              <a:t>Amazon Creators API · OpenAI GPT-4o · Telegram Bot · Sentry</a:t>
            </a:r>
            <a:endParaRPr lang="en-US" sz="1250" dirty="0"/>
          </a:p>
        </p:txBody>
      </p:sp>
      <p:sp>
        <p:nvSpPr>
          <p:cNvPr id="30" name="Shape 19"/>
          <p:cNvSpPr/>
          <p:nvPr/>
        </p:nvSpPr>
        <p:spPr>
          <a:xfrm>
            <a:off x="4462272" y="4023360"/>
            <a:ext cx="3602736" cy="21031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31" name="Image 9" descr="preencoded.png"/>
          <p:cNvPicPr>
            <a:picLocks noChangeAspect="1"/>
          </p:cNvPicPr>
          <p:nvPr/>
        </p:nvPicPr>
        <p:blipFill>
          <a:blip r:embed="rId5"/>
          <a:stretch>
            <a:fillRect/>
          </a:stretch>
        </p:blipFill>
        <p:spPr>
          <a:xfrm>
            <a:off x="4462272" y="4023360"/>
            <a:ext cx="3602736" cy="73152"/>
          </a:xfrm>
          <a:prstGeom prst="rect">
            <a:avLst/>
          </a:prstGeom>
        </p:spPr>
      </p:pic>
      <p:sp>
        <p:nvSpPr>
          <p:cNvPr id="32" name="Shape 20"/>
          <p:cNvSpPr/>
          <p:nvPr/>
        </p:nvSpPr>
        <p:spPr>
          <a:xfrm>
            <a:off x="4736592" y="4315968"/>
            <a:ext cx="658368" cy="658368"/>
          </a:xfrm>
          <a:prstGeom prst="ellipse">
            <a:avLst/>
          </a:prstGeom>
          <a:solidFill>
            <a:srgbClr val="37D6C3"/>
          </a:solidFill>
          <a:ln/>
        </p:spPr>
        <p:txBody>
          <a:bodyPr/>
          <a:lstStyle/>
          <a:p>
            <a:endParaRPr lang="es-ES"/>
          </a:p>
        </p:txBody>
      </p:sp>
      <p:pic>
        <p:nvPicPr>
          <p:cNvPr id="33" name="Image 10" descr="preencoded.png"/>
          <p:cNvPicPr>
            <a:picLocks noChangeAspect="1"/>
          </p:cNvPicPr>
          <p:nvPr/>
        </p:nvPicPr>
        <p:blipFill>
          <a:blip r:embed="rId10"/>
          <a:stretch>
            <a:fillRect/>
          </a:stretch>
        </p:blipFill>
        <p:spPr>
          <a:xfrm>
            <a:off x="4901184" y="4480560"/>
            <a:ext cx="329184" cy="329184"/>
          </a:xfrm>
          <a:prstGeom prst="rect">
            <a:avLst/>
          </a:prstGeom>
        </p:spPr>
      </p:pic>
      <p:sp>
        <p:nvSpPr>
          <p:cNvPr id="34" name="Text 21"/>
          <p:cNvSpPr/>
          <p:nvPr/>
        </p:nvSpPr>
        <p:spPr>
          <a:xfrm>
            <a:off x="5541264" y="4315968"/>
            <a:ext cx="2322576" cy="658368"/>
          </a:xfrm>
          <a:prstGeom prst="rect">
            <a:avLst/>
          </a:prstGeom>
          <a:noFill/>
          <a:ln/>
        </p:spPr>
        <p:txBody>
          <a:bodyPr wrap="square" lIns="0" tIns="0" rIns="0" bIns="0" rtlCol="0" anchor="ctr"/>
          <a:lstStyle/>
          <a:p>
            <a:pPr marL="0" indent="0">
              <a:buNone/>
            </a:pPr>
            <a:r>
              <a:rPr lang="en-US" sz="1600" b="1" dirty="0">
                <a:solidFill>
                  <a:srgbClr val="F3F7FD"/>
                </a:solidFill>
                <a:latin typeface="Georgia" pitchFamily="34" charset="0"/>
                <a:ea typeface="Georgia" pitchFamily="34" charset="-122"/>
                <a:cs typeface="Georgia" pitchFamily="34" charset="-120"/>
              </a:rPr>
              <a:t>Despliegue</a:t>
            </a:r>
            <a:endParaRPr lang="en-US" sz="1600" dirty="0"/>
          </a:p>
        </p:txBody>
      </p:sp>
      <p:sp>
        <p:nvSpPr>
          <p:cNvPr id="35" name="Text 22"/>
          <p:cNvSpPr/>
          <p:nvPr/>
        </p:nvSpPr>
        <p:spPr>
          <a:xfrm>
            <a:off x="4736592" y="5102352"/>
            <a:ext cx="3054096" cy="914400"/>
          </a:xfrm>
          <a:prstGeom prst="rect">
            <a:avLst/>
          </a:prstGeom>
          <a:noFill/>
          <a:ln/>
        </p:spPr>
        <p:txBody>
          <a:bodyPr wrap="square" lIns="0" tIns="0" rIns="0" bIns="0" rtlCol="0" anchor="t"/>
          <a:lstStyle/>
          <a:p>
            <a:pPr marL="0" indent="0">
              <a:lnSpc>
                <a:spcPct val="110000"/>
              </a:lnSpc>
              <a:buNone/>
            </a:pPr>
            <a:r>
              <a:rPr lang="en-US" sz="1250" dirty="0">
                <a:solidFill>
                  <a:srgbClr val="C3CEDE"/>
                </a:solidFill>
                <a:latin typeface="Calibri" pitchFamily="34" charset="0"/>
                <a:ea typeface="Calibri" pitchFamily="34" charset="-122"/>
                <a:cs typeface="Calibri" pitchFamily="34" charset="-120"/>
              </a:rPr>
              <a:t>NAS Synology · Docker Compose · Cloudflare Tunnel + Workers</a:t>
            </a:r>
            <a:endParaRPr lang="en-US" sz="1250" dirty="0"/>
          </a:p>
        </p:txBody>
      </p:sp>
      <p:sp>
        <p:nvSpPr>
          <p:cNvPr id="36" name="Shape 23"/>
          <p:cNvSpPr/>
          <p:nvPr/>
        </p:nvSpPr>
        <p:spPr>
          <a:xfrm>
            <a:off x="8357616" y="4023360"/>
            <a:ext cx="3602736" cy="21031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37" name="Image 11" descr="preencoded.png"/>
          <p:cNvPicPr>
            <a:picLocks noChangeAspect="1"/>
          </p:cNvPicPr>
          <p:nvPr/>
        </p:nvPicPr>
        <p:blipFill>
          <a:blip r:embed="rId5"/>
          <a:stretch>
            <a:fillRect/>
          </a:stretch>
        </p:blipFill>
        <p:spPr>
          <a:xfrm>
            <a:off x="8357616" y="4023360"/>
            <a:ext cx="3602736" cy="73152"/>
          </a:xfrm>
          <a:prstGeom prst="rect">
            <a:avLst/>
          </a:prstGeom>
        </p:spPr>
      </p:pic>
      <p:sp>
        <p:nvSpPr>
          <p:cNvPr id="38" name="Shape 24"/>
          <p:cNvSpPr/>
          <p:nvPr/>
        </p:nvSpPr>
        <p:spPr>
          <a:xfrm>
            <a:off x="8631936" y="4315968"/>
            <a:ext cx="658368" cy="658368"/>
          </a:xfrm>
          <a:prstGeom prst="ellipse">
            <a:avLst/>
          </a:prstGeom>
          <a:solidFill>
            <a:srgbClr val="FF6A2B"/>
          </a:solidFill>
          <a:ln/>
        </p:spPr>
        <p:txBody>
          <a:bodyPr/>
          <a:lstStyle/>
          <a:p>
            <a:endParaRPr lang="es-ES"/>
          </a:p>
        </p:txBody>
      </p:sp>
      <p:pic>
        <p:nvPicPr>
          <p:cNvPr id="39" name="Image 12" descr="preencoded.png"/>
          <p:cNvPicPr>
            <a:picLocks noChangeAspect="1"/>
          </p:cNvPicPr>
          <p:nvPr/>
        </p:nvPicPr>
        <p:blipFill>
          <a:blip r:embed="rId11"/>
          <a:stretch>
            <a:fillRect/>
          </a:stretch>
        </p:blipFill>
        <p:spPr>
          <a:xfrm>
            <a:off x="8796528" y="4480560"/>
            <a:ext cx="329184" cy="329184"/>
          </a:xfrm>
          <a:prstGeom prst="rect">
            <a:avLst/>
          </a:prstGeom>
        </p:spPr>
      </p:pic>
      <p:sp>
        <p:nvSpPr>
          <p:cNvPr id="40" name="Text 25"/>
          <p:cNvSpPr/>
          <p:nvPr/>
        </p:nvSpPr>
        <p:spPr>
          <a:xfrm>
            <a:off x="9436608" y="4315968"/>
            <a:ext cx="2322576" cy="658368"/>
          </a:xfrm>
          <a:prstGeom prst="rect">
            <a:avLst/>
          </a:prstGeom>
          <a:noFill/>
          <a:ln/>
        </p:spPr>
        <p:txBody>
          <a:bodyPr wrap="square" lIns="0" tIns="0" rIns="0" bIns="0" rtlCol="0" anchor="ctr"/>
          <a:lstStyle/>
          <a:p>
            <a:pPr marL="0" indent="0">
              <a:buNone/>
            </a:pPr>
            <a:r>
              <a:rPr lang="en-US" sz="1600" b="1" dirty="0">
                <a:solidFill>
                  <a:srgbClr val="F3F7FD"/>
                </a:solidFill>
                <a:latin typeface="Georgia" pitchFamily="34" charset="0"/>
                <a:ea typeface="Georgia" pitchFamily="34" charset="-122"/>
                <a:cs typeface="Georgia" pitchFamily="34" charset="-120"/>
              </a:rPr>
              <a:t>CI/CD · Calidad</a:t>
            </a:r>
            <a:endParaRPr lang="en-US" sz="1600" dirty="0"/>
          </a:p>
        </p:txBody>
      </p:sp>
      <p:sp>
        <p:nvSpPr>
          <p:cNvPr id="41" name="Text 26"/>
          <p:cNvSpPr/>
          <p:nvPr/>
        </p:nvSpPr>
        <p:spPr>
          <a:xfrm>
            <a:off x="8631936" y="5102352"/>
            <a:ext cx="3054096" cy="914400"/>
          </a:xfrm>
          <a:prstGeom prst="rect">
            <a:avLst/>
          </a:prstGeom>
          <a:noFill/>
          <a:ln/>
        </p:spPr>
        <p:txBody>
          <a:bodyPr wrap="square" lIns="0" tIns="0" rIns="0" bIns="0" rtlCol="0" anchor="t"/>
          <a:lstStyle/>
          <a:p>
            <a:pPr marL="0" indent="0">
              <a:lnSpc>
                <a:spcPct val="110000"/>
              </a:lnSpc>
              <a:buNone/>
            </a:pPr>
            <a:r>
              <a:rPr lang="en-US" sz="1250" dirty="0">
                <a:solidFill>
                  <a:srgbClr val="C3CEDE"/>
                </a:solidFill>
                <a:latin typeface="Calibri" pitchFamily="34" charset="0"/>
                <a:ea typeface="Calibri" pitchFamily="34" charset="-122"/>
                <a:cs typeface="Calibri" pitchFamily="34" charset="-120"/>
              </a:rPr>
              <a:t>GitHub Actions (4 jobs) · Husky pre-commit/pre-push · Dependabot</a:t>
            </a:r>
            <a:endParaRPr lang="en-US" sz="1250" dirty="0"/>
          </a:p>
        </p:txBody>
      </p:sp>
      <p:sp>
        <p:nvSpPr>
          <p:cNvPr id="43" name="Text 27"/>
          <p:cNvSpPr/>
          <p:nvPr/>
        </p:nvSpPr>
        <p:spPr>
          <a:xfrm>
            <a:off x="566928" y="6446520"/>
            <a:ext cx="8229600" cy="292608"/>
          </a:xfrm>
          <a:prstGeom prst="rect">
            <a:avLst/>
          </a:prstGeom>
          <a:noFill/>
          <a:ln/>
        </p:spPr>
        <p:txBody>
          <a:bodyPr wrap="square" lIns="0" tIns="0" rIns="0" bIns="0" rtlCol="0" anchor="ctr"/>
          <a:lstStyle/>
          <a:p>
            <a:pPr marL="0" indent="0">
              <a:buNone/>
            </a:pPr>
            <a:r>
              <a:rPr lang="en-US" sz="900" dirty="0">
                <a:solidFill>
                  <a:srgbClr val="8492A6"/>
                </a:solidFill>
                <a:latin typeface="Calibri" pitchFamily="34" charset="0"/>
                <a:ea typeface="Calibri" pitchFamily="34" charset="-122"/>
                <a:cs typeface="Calibri" pitchFamily="34" charset="-120"/>
              </a:rPr>
              <a:t>BuenCholloTech · TFM Máster en Desarrollo con IA 2025</a:t>
            </a:r>
            <a:endParaRPr lang="en-US" sz="900" dirty="0"/>
          </a:p>
        </p:txBody>
      </p:sp>
      <p:sp>
        <p:nvSpPr>
          <p:cNvPr id="44" name="Text 28"/>
          <p:cNvSpPr/>
          <p:nvPr/>
        </p:nvSpPr>
        <p:spPr>
          <a:xfrm>
            <a:off x="10527487" y="6446520"/>
            <a:ext cx="1097280" cy="292608"/>
          </a:xfrm>
          <a:prstGeom prst="rect">
            <a:avLst/>
          </a:prstGeom>
          <a:noFill/>
          <a:ln/>
        </p:spPr>
        <p:txBody>
          <a:bodyPr wrap="square" lIns="0" tIns="0" rIns="0" bIns="0"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08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928" y="457200"/>
            <a:ext cx="2448763" cy="310896"/>
          </a:xfrm>
          <a:prstGeom prst="roundRect">
            <a:avLst>
              <a:gd name="adj" fmla="val 50000"/>
            </a:avLst>
          </a:prstGeom>
          <a:solidFill>
            <a:srgbClr val="FF6A2B"/>
          </a:solidFill>
          <a:ln/>
        </p:spPr>
        <p:txBody>
          <a:bodyPr/>
          <a:lstStyle/>
          <a:p>
            <a:endParaRPr lang="es-ES"/>
          </a:p>
        </p:txBody>
      </p:sp>
      <p:sp>
        <p:nvSpPr>
          <p:cNvPr id="3" name="Text 1"/>
          <p:cNvSpPr/>
          <p:nvPr/>
        </p:nvSpPr>
        <p:spPr>
          <a:xfrm>
            <a:off x="566928" y="457200"/>
            <a:ext cx="2448763" cy="310896"/>
          </a:xfrm>
          <a:prstGeom prst="rect">
            <a:avLst/>
          </a:prstGeom>
          <a:noFill/>
          <a:ln/>
        </p:spPr>
        <p:txBody>
          <a:bodyPr wrap="square" lIns="0" tIns="0" rIns="0" bIns="0" rtlCol="0" anchor="ctr"/>
          <a:lstStyle/>
          <a:p>
            <a:pPr marL="0" indent="0" algn="ctr">
              <a:buNone/>
            </a:pPr>
            <a:r>
              <a:rPr lang="en-US" sz="1050" b="1" kern="0" spc="100" dirty="0">
                <a:solidFill>
                  <a:srgbClr val="0A0F1A"/>
                </a:solidFill>
                <a:latin typeface="Calibri" pitchFamily="34" charset="0"/>
                <a:ea typeface="Calibri" pitchFamily="34" charset="-122"/>
                <a:cs typeface="Calibri" pitchFamily="34" charset="-120"/>
              </a:rPr>
              <a:t>RIGOR DE DECISIONES</a:t>
            </a:r>
            <a:endParaRPr lang="en-US" sz="1050" dirty="0"/>
          </a:p>
        </p:txBody>
      </p:sp>
      <p:pic>
        <p:nvPicPr>
          <p:cNvPr id="4" name="Image 0" descr="preencoded.png"/>
          <p:cNvPicPr>
            <a:picLocks noChangeAspect="1"/>
          </p:cNvPicPr>
          <p:nvPr/>
        </p:nvPicPr>
        <p:blipFill>
          <a:blip r:embed="rId4"/>
          <a:stretch>
            <a:fillRect/>
          </a:stretch>
        </p:blipFill>
        <p:spPr>
          <a:xfrm>
            <a:off x="11057839" y="384048"/>
            <a:ext cx="457200" cy="457200"/>
          </a:xfrm>
          <a:prstGeom prst="rect">
            <a:avLst/>
          </a:prstGeom>
        </p:spPr>
      </p:pic>
      <p:sp>
        <p:nvSpPr>
          <p:cNvPr id="5" name="Text 2"/>
          <p:cNvSpPr/>
          <p:nvPr/>
        </p:nvSpPr>
        <p:spPr>
          <a:xfrm>
            <a:off x="566928" y="841248"/>
            <a:ext cx="10554919" cy="640080"/>
          </a:xfrm>
          <a:prstGeom prst="rect">
            <a:avLst/>
          </a:prstGeom>
          <a:noFill/>
          <a:ln/>
        </p:spPr>
        <p:txBody>
          <a:bodyPr wrap="square" lIns="0" tIns="0" rIns="0" bIns="0" rtlCol="0" anchor="ctr"/>
          <a:lstStyle/>
          <a:p>
            <a:pPr marL="0" indent="0">
              <a:buNone/>
            </a:pPr>
            <a:r>
              <a:rPr lang="en-US" sz="2700" b="1" dirty="0">
                <a:solidFill>
                  <a:srgbClr val="F3F7FD"/>
                </a:solidFill>
                <a:latin typeface="Georgia" pitchFamily="34" charset="0"/>
                <a:ea typeface="Georgia" pitchFamily="34" charset="-122"/>
                <a:cs typeface="Georgia" pitchFamily="34" charset="-120"/>
              </a:rPr>
              <a:t>9 ADRs firmados, fechados y razonados</a:t>
            </a:r>
            <a:endParaRPr lang="en-US" sz="2700" dirty="0"/>
          </a:p>
        </p:txBody>
      </p:sp>
      <p:sp>
        <p:nvSpPr>
          <p:cNvPr id="6" name="Shape 3"/>
          <p:cNvSpPr/>
          <p:nvPr/>
        </p:nvSpPr>
        <p:spPr>
          <a:xfrm>
            <a:off x="566928" y="1572768"/>
            <a:ext cx="3602736" cy="137160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7" name="Image 1" descr="preencoded.png"/>
          <p:cNvPicPr>
            <a:picLocks noChangeAspect="1"/>
          </p:cNvPicPr>
          <p:nvPr/>
        </p:nvPicPr>
        <p:blipFill>
          <a:blip r:embed="rId5"/>
          <a:stretch>
            <a:fillRect/>
          </a:stretch>
        </p:blipFill>
        <p:spPr>
          <a:xfrm>
            <a:off x="566928" y="1572768"/>
            <a:ext cx="82296" cy="1371600"/>
          </a:xfrm>
          <a:prstGeom prst="rect">
            <a:avLst/>
          </a:prstGeom>
        </p:spPr>
      </p:pic>
      <p:sp>
        <p:nvSpPr>
          <p:cNvPr id="8" name="Text 4"/>
          <p:cNvSpPr/>
          <p:nvPr/>
        </p:nvSpPr>
        <p:spPr>
          <a:xfrm>
            <a:off x="841248" y="1773936"/>
            <a:ext cx="3054096" cy="320040"/>
          </a:xfrm>
          <a:prstGeom prst="rect">
            <a:avLst/>
          </a:prstGeom>
          <a:noFill/>
          <a:ln/>
        </p:spPr>
        <p:txBody>
          <a:bodyPr wrap="square" lIns="0" tIns="0" rIns="0" bIns="0" rtlCol="0" anchor="ctr"/>
          <a:lstStyle/>
          <a:p>
            <a:pPr marL="0" indent="0">
              <a:buNone/>
            </a:pPr>
            <a:r>
              <a:rPr lang="en-US" sz="1700" b="1" dirty="0">
                <a:solidFill>
                  <a:srgbClr val="37D6C3"/>
                </a:solidFill>
                <a:latin typeface="Georgia" pitchFamily="34" charset="0"/>
                <a:ea typeface="Georgia" pitchFamily="34" charset="-122"/>
                <a:cs typeface="Georgia" pitchFamily="34" charset="-120"/>
              </a:rPr>
              <a:t>ADR-001</a:t>
            </a:r>
            <a:endParaRPr lang="en-US" sz="1700" dirty="0"/>
          </a:p>
        </p:txBody>
      </p:sp>
      <p:sp>
        <p:nvSpPr>
          <p:cNvPr id="9" name="Text 5"/>
          <p:cNvSpPr/>
          <p:nvPr/>
        </p:nvSpPr>
        <p:spPr>
          <a:xfrm>
            <a:off x="841248" y="2121408"/>
            <a:ext cx="2688336" cy="731520"/>
          </a:xfrm>
          <a:prstGeom prst="rect">
            <a:avLst/>
          </a:prstGeom>
          <a:noFill/>
          <a:ln/>
        </p:spPr>
        <p:txBody>
          <a:bodyPr wrap="square" lIns="0" tIns="0" rIns="0" bIns="0" rtlCol="0" anchor="t"/>
          <a:lstStyle/>
          <a:p>
            <a:pPr marL="0" indent="0">
              <a:lnSpc>
                <a:spcPct val="105000"/>
              </a:lnSpc>
              <a:buNone/>
            </a:pPr>
            <a:r>
              <a:rPr lang="en-US" sz="1300" dirty="0">
                <a:solidFill>
                  <a:srgbClr val="C3CEDE"/>
                </a:solidFill>
                <a:latin typeface="Calibri" pitchFamily="34" charset="0"/>
                <a:ea typeface="Calibri" pitchFamily="34" charset="-122"/>
                <a:cs typeface="Calibri" pitchFamily="34" charset="-120"/>
              </a:rPr>
              <a:t>Monolito modular con FastAPI</a:t>
            </a:r>
            <a:endParaRPr lang="en-US" sz="1300" dirty="0"/>
          </a:p>
        </p:txBody>
      </p:sp>
      <p:pic>
        <p:nvPicPr>
          <p:cNvPr id="10" name="Image 2" descr="preencoded.png"/>
          <p:cNvPicPr>
            <a:picLocks noChangeAspect="1"/>
          </p:cNvPicPr>
          <p:nvPr/>
        </p:nvPicPr>
        <p:blipFill>
          <a:blip r:embed="rId6"/>
          <a:stretch>
            <a:fillRect/>
          </a:stretch>
        </p:blipFill>
        <p:spPr>
          <a:xfrm>
            <a:off x="3602736" y="1755648"/>
            <a:ext cx="329184" cy="329184"/>
          </a:xfrm>
          <a:prstGeom prst="rect">
            <a:avLst/>
          </a:prstGeom>
        </p:spPr>
      </p:pic>
      <p:sp>
        <p:nvSpPr>
          <p:cNvPr id="11" name="Shape 6"/>
          <p:cNvSpPr/>
          <p:nvPr/>
        </p:nvSpPr>
        <p:spPr>
          <a:xfrm>
            <a:off x="4462272" y="1572768"/>
            <a:ext cx="3602736" cy="137160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2" name="Image 3" descr="preencoded.png"/>
          <p:cNvPicPr>
            <a:picLocks noChangeAspect="1"/>
          </p:cNvPicPr>
          <p:nvPr/>
        </p:nvPicPr>
        <p:blipFill>
          <a:blip r:embed="rId5"/>
          <a:stretch>
            <a:fillRect/>
          </a:stretch>
        </p:blipFill>
        <p:spPr>
          <a:xfrm>
            <a:off x="4462272" y="1572768"/>
            <a:ext cx="82296" cy="1371600"/>
          </a:xfrm>
          <a:prstGeom prst="rect">
            <a:avLst/>
          </a:prstGeom>
        </p:spPr>
      </p:pic>
      <p:sp>
        <p:nvSpPr>
          <p:cNvPr id="13" name="Text 7"/>
          <p:cNvSpPr/>
          <p:nvPr/>
        </p:nvSpPr>
        <p:spPr>
          <a:xfrm>
            <a:off x="4736592" y="1773936"/>
            <a:ext cx="3054096" cy="320040"/>
          </a:xfrm>
          <a:prstGeom prst="rect">
            <a:avLst/>
          </a:prstGeom>
          <a:noFill/>
          <a:ln/>
        </p:spPr>
        <p:txBody>
          <a:bodyPr wrap="square" lIns="0" tIns="0" rIns="0" bIns="0" rtlCol="0" anchor="ctr"/>
          <a:lstStyle/>
          <a:p>
            <a:pPr marL="0" indent="0">
              <a:buNone/>
            </a:pPr>
            <a:r>
              <a:rPr lang="en-US" sz="1700" b="1" dirty="0">
                <a:solidFill>
                  <a:srgbClr val="FF6A2B"/>
                </a:solidFill>
                <a:latin typeface="Georgia" pitchFamily="34" charset="0"/>
                <a:ea typeface="Georgia" pitchFamily="34" charset="-122"/>
                <a:cs typeface="Georgia" pitchFamily="34" charset="-120"/>
              </a:rPr>
              <a:t>ADR-002</a:t>
            </a:r>
            <a:endParaRPr lang="en-US" sz="1700" dirty="0"/>
          </a:p>
        </p:txBody>
      </p:sp>
      <p:sp>
        <p:nvSpPr>
          <p:cNvPr id="14" name="Text 8"/>
          <p:cNvSpPr/>
          <p:nvPr/>
        </p:nvSpPr>
        <p:spPr>
          <a:xfrm>
            <a:off x="4736592" y="2121408"/>
            <a:ext cx="2688336" cy="731520"/>
          </a:xfrm>
          <a:prstGeom prst="rect">
            <a:avLst/>
          </a:prstGeom>
          <a:noFill/>
          <a:ln/>
        </p:spPr>
        <p:txBody>
          <a:bodyPr wrap="square" lIns="0" tIns="0" rIns="0" bIns="0" rtlCol="0" anchor="t"/>
          <a:lstStyle/>
          <a:p>
            <a:pPr marL="0" indent="0">
              <a:lnSpc>
                <a:spcPct val="105000"/>
              </a:lnSpc>
              <a:buNone/>
            </a:pPr>
            <a:r>
              <a:rPr lang="en-US" sz="1300" dirty="0">
                <a:solidFill>
                  <a:srgbClr val="C3CEDE"/>
                </a:solidFill>
                <a:latin typeface="Calibri" pitchFamily="34" charset="0"/>
                <a:ea typeface="Calibri" pitchFamily="34" charset="-122"/>
                <a:cs typeface="Calibri" pitchFamily="34" charset="-120"/>
              </a:rPr>
              <a:t>Migración de BaaS a API Gateway</a:t>
            </a:r>
            <a:endParaRPr lang="en-US" sz="1300" dirty="0"/>
          </a:p>
        </p:txBody>
      </p:sp>
      <p:pic>
        <p:nvPicPr>
          <p:cNvPr id="15" name="Image 4" descr="preencoded.png"/>
          <p:cNvPicPr>
            <a:picLocks noChangeAspect="1"/>
          </p:cNvPicPr>
          <p:nvPr/>
        </p:nvPicPr>
        <p:blipFill>
          <a:blip r:embed="rId6"/>
          <a:stretch>
            <a:fillRect/>
          </a:stretch>
        </p:blipFill>
        <p:spPr>
          <a:xfrm>
            <a:off x="7498080" y="1755648"/>
            <a:ext cx="329184" cy="329184"/>
          </a:xfrm>
          <a:prstGeom prst="rect">
            <a:avLst/>
          </a:prstGeom>
        </p:spPr>
      </p:pic>
      <p:sp>
        <p:nvSpPr>
          <p:cNvPr id="16" name="Shape 9"/>
          <p:cNvSpPr/>
          <p:nvPr/>
        </p:nvSpPr>
        <p:spPr>
          <a:xfrm>
            <a:off x="8357616" y="1572768"/>
            <a:ext cx="3602736" cy="137160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7" name="Image 5" descr="preencoded.png"/>
          <p:cNvPicPr>
            <a:picLocks noChangeAspect="1"/>
          </p:cNvPicPr>
          <p:nvPr/>
        </p:nvPicPr>
        <p:blipFill>
          <a:blip r:embed="rId5"/>
          <a:stretch>
            <a:fillRect/>
          </a:stretch>
        </p:blipFill>
        <p:spPr>
          <a:xfrm>
            <a:off x="8357616" y="1572768"/>
            <a:ext cx="82296" cy="1371600"/>
          </a:xfrm>
          <a:prstGeom prst="rect">
            <a:avLst/>
          </a:prstGeom>
        </p:spPr>
      </p:pic>
      <p:sp>
        <p:nvSpPr>
          <p:cNvPr id="18" name="Text 10"/>
          <p:cNvSpPr/>
          <p:nvPr/>
        </p:nvSpPr>
        <p:spPr>
          <a:xfrm>
            <a:off x="8631936" y="1773936"/>
            <a:ext cx="3054096" cy="320040"/>
          </a:xfrm>
          <a:prstGeom prst="rect">
            <a:avLst/>
          </a:prstGeom>
          <a:noFill/>
          <a:ln/>
        </p:spPr>
        <p:txBody>
          <a:bodyPr wrap="square" lIns="0" tIns="0" rIns="0" bIns="0" rtlCol="0" anchor="ctr"/>
          <a:lstStyle/>
          <a:p>
            <a:pPr marL="0" indent="0">
              <a:buNone/>
            </a:pPr>
            <a:r>
              <a:rPr lang="en-US" sz="1700" b="1" dirty="0">
                <a:solidFill>
                  <a:srgbClr val="37D6C3"/>
                </a:solidFill>
                <a:latin typeface="Georgia" pitchFamily="34" charset="0"/>
                <a:ea typeface="Georgia" pitchFamily="34" charset="-122"/>
                <a:cs typeface="Georgia" pitchFamily="34" charset="-120"/>
              </a:rPr>
              <a:t>ADR-003</a:t>
            </a:r>
            <a:endParaRPr lang="en-US" sz="1700" dirty="0"/>
          </a:p>
        </p:txBody>
      </p:sp>
      <p:sp>
        <p:nvSpPr>
          <p:cNvPr id="19" name="Text 11"/>
          <p:cNvSpPr/>
          <p:nvPr/>
        </p:nvSpPr>
        <p:spPr>
          <a:xfrm>
            <a:off x="8631936" y="2121408"/>
            <a:ext cx="2688336" cy="731520"/>
          </a:xfrm>
          <a:prstGeom prst="rect">
            <a:avLst/>
          </a:prstGeom>
          <a:noFill/>
          <a:ln/>
        </p:spPr>
        <p:txBody>
          <a:bodyPr wrap="square" lIns="0" tIns="0" rIns="0" bIns="0" rtlCol="0" anchor="t"/>
          <a:lstStyle/>
          <a:p>
            <a:pPr marL="0" indent="0">
              <a:lnSpc>
                <a:spcPct val="105000"/>
              </a:lnSpc>
              <a:buNone/>
            </a:pPr>
            <a:r>
              <a:rPr lang="en-US" sz="1300" dirty="0">
                <a:solidFill>
                  <a:srgbClr val="C3CEDE"/>
                </a:solidFill>
                <a:latin typeface="Calibri" pitchFamily="34" charset="0"/>
                <a:ea typeface="Calibri" pitchFamily="34" charset="-122"/>
                <a:cs typeface="Calibri" pitchFamily="34" charset="-120"/>
              </a:rPr>
              <a:t>Auth: Supabase + validación JWT</a:t>
            </a:r>
            <a:endParaRPr lang="en-US" sz="1300" dirty="0"/>
          </a:p>
        </p:txBody>
      </p:sp>
      <p:pic>
        <p:nvPicPr>
          <p:cNvPr id="20" name="Image 6" descr="preencoded.png"/>
          <p:cNvPicPr>
            <a:picLocks noChangeAspect="1"/>
          </p:cNvPicPr>
          <p:nvPr/>
        </p:nvPicPr>
        <p:blipFill>
          <a:blip r:embed="rId6"/>
          <a:stretch>
            <a:fillRect/>
          </a:stretch>
        </p:blipFill>
        <p:spPr>
          <a:xfrm>
            <a:off x="11393424" y="1755648"/>
            <a:ext cx="329184" cy="329184"/>
          </a:xfrm>
          <a:prstGeom prst="rect">
            <a:avLst/>
          </a:prstGeom>
        </p:spPr>
      </p:pic>
      <p:sp>
        <p:nvSpPr>
          <p:cNvPr id="21" name="Shape 12"/>
          <p:cNvSpPr/>
          <p:nvPr/>
        </p:nvSpPr>
        <p:spPr>
          <a:xfrm>
            <a:off x="566928" y="3163824"/>
            <a:ext cx="3602736" cy="137160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22" name="Image 7" descr="preencoded.png"/>
          <p:cNvPicPr>
            <a:picLocks noChangeAspect="1"/>
          </p:cNvPicPr>
          <p:nvPr/>
        </p:nvPicPr>
        <p:blipFill>
          <a:blip r:embed="rId5"/>
          <a:stretch>
            <a:fillRect/>
          </a:stretch>
        </p:blipFill>
        <p:spPr>
          <a:xfrm>
            <a:off x="566928" y="3163824"/>
            <a:ext cx="82296" cy="1371600"/>
          </a:xfrm>
          <a:prstGeom prst="rect">
            <a:avLst/>
          </a:prstGeom>
        </p:spPr>
      </p:pic>
      <p:sp>
        <p:nvSpPr>
          <p:cNvPr id="23" name="Text 13"/>
          <p:cNvSpPr/>
          <p:nvPr/>
        </p:nvSpPr>
        <p:spPr>
          <a:xfrm>
            <a:off x="841248" y="3364992"/>
            <a:ext cx="3054096" cy="320040"/>
          </a:xfrm>
          <a:prstGeom prst="rect">
            <a:avLst/>
          </a:prstGeom>
          <a:noFill/>
          <a:ln/>
        </p:spPr>
        <p:txBody>
          <a:bodyPr wrap="square" lIns="0" tIns="0" rIns="0" bIns="0" rtlCol="0" anchor="ctr"/>
          <a:lstStyle/>
          <a:p>
            <a:pPr marL="0" indent="0">
              <a:buNone/>
            </a:pPr>
            <a:r>
              <a:rPr lang="en-US" sz="1700" b="1" dirty="0">
                <a:solidFill>
                  <a:srgbClr val="FF6A2B"/>
                </a:solidFill>
                <a:latin typeface="Georgia" pitchFamily="34" charset="0"/>
                <a:ea typeface="Georgia" pitchFamily="34" charset="-122"/>
                <a:cs typeface="Georgia" pitchFamily="34" charset="-120"/>
              </a:rPr>
              <a:t>ADR-004</a:t>
            </a:r>
            <a:endParaRPr lang="en-US" sz="1700" dirty="0"/>
          </a:p>
        </p:txBody>
      </p:sp>
      <p:sp>
        <p:nvSpPr>
          <p:cNvPr id="24" name="Text 14"/>
          <p:cNvSpPr/>
          <p:nvPr/>
        </p:nvSpPr>
        <p:spPr>
          <a:xfrm>
            <a:off x="841248" y="3712464"/>
            <a:ext cx="2688336" cy="731520"/>
          </a:xfrm>
          <a:prstGeom prst="rect">
            <a:avLst/>
          </a:prstGeom>
          <a:noFill/>
          <a:ln/>
        </p:spPr>
        <p:txBody>
          <a:bodyPr wrap="square" lIns="0" tIns="0" rIns="0" bIns="0" rtlCol="0" anchor="t"/>
          <a:lstStyle/>
          <a:p>
            <a:pPr marL="0" indent="0">
              <a:lnSpc>
                <a:spcPct val="105000"/>
              </a:lnSpc>
              <a:buNone/>
            </a:pPr>
            <a:r>
              <a:rPr lang="en-US" sz="1300" dirty="0">
                <a:solidFill>
                  <a:srgbClr val="C3CEDE"/>
                </a:solidFill>
                <a:latin typeface="Calibri" pitchFamily="34" charset="0"/>
                <a:ea typeface="Calibri" pitchFamily="34" charset="-122"/>
                <a:cs typeface="Calibri" pitchFamily="34" charset="-120"/>
              </a:rPr>
              <a:t>Persistencia: SQLAlchemy async</a:t>
            </a:r>
            <a:endParaRPr lang="en-US" sz="1300" dirty="0"/>
          </a:p>
        </p:txBody>
      </p:sp>
      <p:pic>
        <p:nvPicPr>
          <p:cNvPr id="25" name="Image 8" descr="preencoded.png"/>
          <p:cNvPicPr>
            <a:picLocks noChangeAspect="1"/>
          </p:cNvPicPr>
          <p:nvPr/>
        </p:nvPicPr>
        <p:blipFill>
          <a:blip r:embed="rId6"/>
          <a:stretch>
            <a:fillRect/>
          </a:stretch>
        </p:blipFill>
        <p:spPr>
          <a:xfrm>
            <a:off x="3602736" y="3346704"/>
            <a:ext cx="329184" cy="329184"/>
          </a:xfrm>
          <a:prstGeom prst="rect">
            <a:avLst/>
          </a:prstGeom>
        </p:spPr>
      </p:pic>
      <p:sp>
        <p:nvSpPr>
          <p:cNvPr id="26" name="Shape 15"/>
          <p:cNvSpPr/>
          <p:nvPr/>
        </p:nvSpPr>
        <p:spPr>
          <a:xfrm>
            <a:off x="4462272" y="3163824"/>
            <a:ext cx="3602736" cy="137160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27" name="Image 9" descr="preencoded.png"/>
          <p:cNvPicPr>
            <a:picLocks noChangeAspect="1"/>
          </p:cNvPicPr>
          <p:nvPr/>
        </p:nvPicPr>
        <p:blipFill>
          <a:blip r:embed="rId5"/>
          <a:stretch>
            <a:fillRect/>
          </a:stretch>
        </p:blipFill>
        <p:spPr>
          <a:xfrm>
            <a:off x="4462272" y="3163824"/>
            <a:ext cx="82296" cy="1371600"/>
          </a:xfrm>
          <a:prstGeom prst="rect">
            <a:avLst/>
          </a:prstGeom>
        </p:spPr>
      </p:pic>
      <p:sp>
        <p:nvSpPr>
          <p:cNvPr id="28" name="Text 16"/>
          <p:cNvSpPr/>
          <p:nvPr/>
        </p:nvSpPr>
        <p:spPr>
          <a:xfrm>
            <a:off x="4736592" y="3364992"/>
            <a:ext cx="3054096" cy="320040"/>
          </a:xfrm>
          <a:prstGeom prst="rect">
            <a:avLst/>
          </a:prstGeom>
          <a:noFill/>
          <a:ln/>
        </p:spPr>
        <p:txBody>
          <a:bodyPr wrap="square" lIns="0" tIns="0" rIns="0" bIns="0" rtlCol="0" anchor="ctr"/>
          <a:lstStyle/>
          <a:p>
            <a:pPr marL="0" indent="0">
              <a:buNone/>
            </a:pPr>
            <a:r>
              <a:rPr lang="en-US" sz="1700" b="1" dirty="0">
                <a:solidFill>
                  <a:srgbClr val="37D6C3"/>
                </a:solidFill>
                <a:latin typeface="Georgia" pitchFamily="34" charset="0"/>
                <a:ea typeface="Georgia" pitchFamily="34" charset="-122"/>
                <a:cs typeface="Georgia" pitchFamily="34" charset="-120"/>
              </a:rPr>
              <a:t>ADR-005</a:t>
            </a:r>
            <a:endParaRPr lang="en-US" sz="1700" dirty="0"/>
          </a:p>
        </p:txBody>
      </p:sp>
      <p:sp>
        <p:nvSpPr>
          <p:cNvPr id="29" name="Text 17"/>
          <p:cNvSpPr/>
          <p:nvPr/>
        </p:nvSpPr>
        <p:spPr>
          <a:xfrm>
            <a:off x="4736592" y="3712464"/>
            <a:ext cx="2688336" cy="731520"/>
          </a:xfrm>
          <a:prstGeom prst="rect">
            <a:avLst/>
          </a:prstGeom>
          <a:noFill/>
          <a:ln/>
        </p:spPr>
        <p:txBody>
          <a:bodyPr wrap="square" lIns="0" tIns="0" rIns="0" bIns="0" rtlCol="0" anchor="t"/>
          <a:lstStyle/>
          <a:p>
            <a:pPr marL="0" indent="0">
              <a:lnSpc>
                <a:spcPct val="105000"/>
              </a:lnSpc>
              <a:buNone/>
            </a:pPr>
            <a:r>
              <a:rPr lang="en-US" sz="1300" dirty="0">
                <a:solidFill>
                  <a:srgbClr val="C3CEDE"/>
                </a:solidFill>
                <a:latin typeface="Calibri" pitchFamily="34" charset="0"/>
                <a:ea typeface="Calibri" pitchFamily="34" charset="-122"/>
                <a:cs typeface="Calibri" pitchFamily="34" charset="-120"/>
              </a:rPr>
              <a:t>Validación en doble frontera</a:t>
            </a:r>
            <a:endParaRPr lang="en-US" sz="1300" dirty="0"/>
          </a:p>
        </p:txBody>
      </p:sp>
      <p:pic>
        <p:nvPicPr>
          <p:cNvPr id="30" name="Image 10" descr="preencoded.png"/>
          <p:cNvPicPr>
            <a:picLocks noChangeAspect="1"/>
          </p:cNvPicPr>
          <p:nvPr/>
        </p:nvPicPr>
        <p:blipFill>
          <a:blip r:embed="rId6"/>
          <a:stretch>
            <a:fillRect/>
          </a:stretch>
        </p:blipFill>
        <p:spPr>
          <a:xfrm>
            <a:off x="7498080" y="3346704"/>
            <a:ext cx="329184" cy="329184"/>
          </a:xfrm>
          <a:prstGeom prst="rect">
            <a:avLst/>
          </a:prstGeom>
        </p:spPr>
      </p:pic>
      <p:sp>
        <p:nvSpPr>
          <p:cNvPr id="31" name="Shape 18"/>
          <p:cNvSpPr/>
          <p:nvPr/>
        </p:nvSpPr>
        <p:spPr>
          <a:xfrm>
            <a:off x="8357616" y="3163824"/>
            <a:ext cx="3602736" cy="137160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32" name="Image 11" descr="preencoded.png"/>
          <p:cNvPicPr>
            <a:picLocks noChangeAspect="1"/>
          </p:cNvPicPr>
          <p:nvPr/>
        </p:nvPicPr>
        <p:blipFill>
          <a:blip r:embed="rId5"/>
          <a:stretch>
            <a:fillRect/>
          </a:stretch>
        </p:blipFill>
        <p:spPr>
          <a:xfrm>
            <a:off x="8357616" y="3163824"/>
            <a:ext cx="82296" cy="1371600"/>
          </a:xfrm>
          <a:prstGeom prst="rect">
            <a:avLst/>
          </a:prstGeom>
        </p:spPr>
      </p:pic>
      <p:sp>
        <p:nvSpPr>
          <p:cNvPr id="33" name="Text 19"/>
          <p:cNvSpPr/>
          <p:nvPr/>
        </p:nvSpPr>
        <p:spPr>
          <a:xfrm>
            <a:off x="8631936" y="3364992"/>
            <a:ext cx="3054096" cy="320040"/>
          </a:xfrm>
          <a:prstGeom prst="rect">
            <a:avLst/>
          </a:prstGeom>
          <a:noFill/>
          <a:ln/>
        </p:spPr>
        <p:txBody>
          <a:bodyPr wrap="square" lIns="0" tIns="0" rIns="0" bIns="0" rtlCol="0" anchor="ctr"/>
          <a:lstStyle/>
          <a:p>
            <a:pPr marL="0" indent="0">
              <a:buNone/>
            </a:pPr>
            <a:r>
              <a:rPr lang="en-US" sz="1700" b="1" dirty="0">
                <a:solidFill>
                  <a:srgbClr val="FF6A2B"/>
                </a:solidFill>
                <a:latin typeface="Georgia" pitchFamily="34" charset="0"/>
                <a:ea typeface="Georgia" pitchFamily="34" charset="-122"/>
                <a:cs typeface="Georgia" pitchFamily="34" charset="-120"/>
              </a:rPr>
              <a:t>ADR-006</a:t>
            </a:r>
            <a:endParaRPr lang="en-US" sz="1700" dirty="0"/>
          </a:p>
        </p:txBody>
      </p:sp>
      <p:sp>
        <p:nvSpPr>
          <p:cNvPr id="34" name="Text 20"/>
          <p:cNvSpPr/>
          <p:nvPr/>
        </p:nvSpPr>
        <p:spPr>
          <a:xfrm>
            <a:off x="8631936" y="3712464"/>
            <a:ext cx="2688336" cy="731520"/>
          </a:xfrm>
          <a:prstGeom prst="rect">
            <a:avLst/>
          </a:prstGeom>
          <a:noFill/>
          <a:ln/>
        </p:spPr>
        <p:txBody>
          <a:bodyPr wrap="square" lIns="0" tIns="0" rIns="0" bIns="0" rtlCol="0" anchor="t"/>
          <a:lstStyle/>
          <a:p>
            <a:pPr marL="0" indent="0">
              <a:lnSpc>
                <a:spcPct val="105000"/>
              </a:lnSpc>
              <a:buNone/>
            </a:pPr>
            <a:r>
              <a:rPr lang="en-US" sz="1300" dirty="0">
                <a:solidFill>
                  <a:srgbClr val="C3CEDE"/>
                </a:solidFill>
                <a:latin typeface="Calibri" pitchFamily="34" charset="0"/>
                <a:ea typeface="Calibri" pitchFamily="34" charset="-122"/>
                <a:cs typeface="Calibri" pitchFamily="34" charset="-120"/>
              </a:rPr>
              <a:t>Hardening: RLS + roles separados</a:t>
            </a:r>
            <a:endParaRPr lang="en-US" sz="1300" dirty="0"/>
          </a:p>
        </p:txBody>
      </p:sp>
      <p:pic>
        <p:nvPicPr>
          <p:cNvPr id="35" name="Image 12" descr="preencoded.png"/>
          <p:cNvPicPr>
            <a:picLocks noChangeAspect="1"/>
          </p:cNvPicPr>
          <p:nvPr/>
        </p:nvPicPr>
        <p:blipFill>
          <a:blip r:embed="rId6"/>
          <a:stretch>
            <a:fillRect/>
          </a:stretch>
        </p:blipFill>
        <p:spPr>
          <a:xfrm>
            <a:off x="11393424" y="3346704"/>
            <a:ext cx="329184" cy="329184"/>
          </a:xfrm>
          <a:prstGeom prst="rect">
            <a:avLst/>
          </a:prstGeom>
        </p:spPr>
      </p:pic>
      <p:sp>
        <p:nvSpPr>
          <p:cNvPr id="36" name="Shape 21"/>
          <p:cNvSpPr/>
          <p:nvPr/>
        </p:nvSpPr>
        <p:spPr>
          <a:xfrm>
            <a:off x="566928" y="4754880"/>
            <a:ext cx="3602736" cy="137160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37" name="Image 13" descr="preencoded.png"/>
          <p:cNvPicPr>
            <a:picLocks noChangeAspect="1"/>
          </p:cNvPicPr>
          <p:nvPr/>
        </p:nvPicPr>
        <p:blipFill>
          <a:blip r:embed="rId5"/>
          <a:stretch>
            <a:fillRect/>
          </a:stretch>
        </p:blipFill>
        <p:spPr>
          <a:xfrm>
            <a:off x="566928" y="4754880"/>
            <a:ext cx="82296" cy="1371600"/>
          </a:xfrm>
          <a:prstGeom prst="rect">
            <a:avLst/>
          </a:prstGeom>
        </p:spPr>
      </p:pic>
      <p:sp>
        <p:nvSpPr>
          <p:cNvPr id="38" name="Text 22"/>
          <p:cNvSpPr/>
          <p:nvPr/>
        </p:nvSpPr>
        <p:spPr>
          <a:xfrm>
            <a:off x="841248" y="4956048"/>
            <a:ext cx="3054096" cy="320040"/>
          </a:xfrm>
          <a:prstGeom prst="rect">
            <a:avLst/>
          </a:prstGeom>
          <a:noFill/>
          <a:ln/>
        </p:spPr>
        <p:txBody>
          <a:bodyPr wrap="square" lIns="0" tIns="0" rIns="0" bIns="0" rtlCol="0" anchor="ctr"/>
          <a:lstStyle/>
          <a:p>
            <a:pPr marL="0" indent="0">
              <a:buNone/>
            </a:pPr>
            <a:r>
              <a:rPr lang="en-US" sz="1700" b="1" dirty="0">
                <a:solidFill>
                  <a:srgbClr val="37D6C3"/>
                </a:solidFill>
                <a:latin typeface="Georgia" pitchFamily="34" charset="0"/>
                <a:ea typeface="Georgia" pitchFamily="34" charset="-122"/>
                <a:cs typeface="Georgia" pitchFamily="34" charset="-120"/>
              </a:rPr>
              <a:t>ADR-007</a:t>
            </a:r>
            <a:endParaRPr lang="en-US" sz="1700" dirty="0"/>
          </a:p>
        </p:txBody>
      </p:sp>
      <p:sp>
        <p:nvSpPr>
          <p:cNvPr id="39" name="Text 23"/>
          <p:cNvSpPr/>
          <p:nvPr/>
        </p:nvSpPr>
        <p:spPr>
          <a:xfrm>
            <a:off x="841248" y="5303520"/>
            <a:ext cx="2688336" cy="731520"/>
          </a:xfrm>
          <a:prstGeom prst="rect">
            <a:avLst/>
          </a:prstGeom>
          <a:noFill/>
          <a:ln/>
        </p:spPr>
        <p:txBody>
          <a:bodyPr wrap="square" lIns="0" tIns="0" rIns="0" bIns="0" rtlCol="0" anchor="t"/>
          <a:lstStyle/>
          <a:p>
            <a:pPr marL="0" indent="0">
              <a:lnSpc>
                <a:spcPct val="105000"/>
              </a:lnSpc>
              <a:buNone/>
            </a:pPr>
            <a:r>
              <a:rPr lang="en-US" sz="1300" dirty="0">
                <a:solidFill>
                  <a:srgbClr val="C3CEDE"/>
                </a:solidFill>
                <a:latin typeface="Calibri" pitchFamily="34" charset="0"/>
                <a:ea typeface="Calibri" pitchFamily="34" charset="-122"/>
                <a:cs typeface="Calibri" pitchFamily="34" charset="-120"/>
              </a:rPr>
              <a:t>Inyección de dependencias (Depends)</a:t>
            </a:r>
            <a:endParaRPr lang="en-US" sz="1300" dirty="0"/>
          </a:p>
        </p:txBody>
      </p:sp>
      <p:pic>
        <p:nvPicPr>
          <p:cNvPr id="40" name="Image 14" descr="preencoded.png"/>
          <p:cNvPicPr>
            <a:picLocks noChangeAspect="1"/>
          </p:cNvPicPr>
          <p:nvPr/>
        </p:nvPicPr>
        <p:blipFill>
          <a:blip r:embed="rId6"/>
          <a:stretch>
            <a:fillRect/>
          </a:stretch>
        </p:blipFill>
        <p:spPr>
          <a:xfrm>
            <a:off x="3602736" y="4937760"/>
            <a:ext cx="329184" cy="329184"/>
          </a:xfrm>
          <a:prstGeom prst="rect">
            <a:avLst/>
          </a:prstGeom>
        </p:spPr>
      </p:pic>
      <p:sp>
        <p:nvSpPr>
          <p:cNvPr id="41" name="Shape 24"/>
          <p:cNvSpPr/>
          <p:nvPr/>
        </p:nvSpPr>
        <p:spPr>
          <a:xfrm>
            <a:off x="4462272" y="4754880"/>
            <a:ext cx="3602736" cy="137160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42" name="Image 15" descr="preencoded.png"/>
          <p:cNvPicPr>
            <a:picLocks noChangeAspect="1"/>
          </p:cNvPicPr>
          <p:nvPr/>
        </p:nvPicPr>
        <p:blipFill>
          <a:blip r:embed="rId5"/>
          <a:stretch>
            <a:fillRect/>
          </a:stretch>
        </p:blipFill>
        <p:spPr>
          <a:xfrm>
            <a:off x="4462272" y="4754880"/>
            <a:ext cx="82296" cy="1371600"/>
          </a:xfrm>
          <a:prstGeom prst="rect">
            <a:avLst/>
          </a:prstGeom>
        </p:spPr>
      </p:pic>
      <p:sp>
        <p:nvSpPr>
          <p:cNvPr id="43" name="Text 25"/>
          <p:cNvSpPr/>
          <p:nvPr/>
        </p:nvSpPr>
        <p:spPr>
          <a:xfrm>
            <a:off x="4736592" y="4956048"/>
            <a:ext cx="3054096" cy="320040"/>
          </a:xfrm>
          <a:prstGeom prst="rect">
            <a:avLst/>
          </a:prstGeom>
          <a:noFill/>
          <a:ln/>
        </p:spPr>
        <p:txBody>
          <a:bodyPr wrap="square" lIns="0" tIns="0" rIns="0" bIns="0" rtlCol="0" anchor="ctr"/>
          <a:lstStyle/>
          <a:p>
            <a:pPr marL="0" indent="0">
              <a:buNone/>
            </a:pPr>
            <a:r>
              <a:rPr lang="en-US" sz="1700" b="1" dirty="0">
                <a:solidFill>
                  <a:srgbClr val="FF6A2B"/>
                </a:solidFill>
                <a:latin typeface="Georgia" pitchFamily="34" charset="0"/>
                <a:ea typeface="Georgia" pitchFamily="34" charset="-122"/>
                <a:cs typeface="Georgia" pitchFamily="34" charset="-120"/>
              </a:rPr>
              <a:t>ADR-008</a:t>
            </a:r>
            <a:endParaRPr lang="en-US" sz="1700" dirty="0"/>
          </a:p>
        </p:txBody>
      </p:sp>
      <p:sp>
        <p:nvSpPr>
          <p:cNvPr id="44" name="Text 26"/>
          <p:cNvSpPr/>
          <p:nvPr/>
        </p:nvSpPr>
        <p:spPr>
          <a:xfrm>
            <a:off x="4736592" y="5303520"/>
            <a:ext cx="2688336" cy="731520"/>
          </a:xfrm>
          <a:prstGeom prst="rect">
            <a:avLst/>
          </a:prstGeom>
          <a:noFill/>
          <a:ln/>
        </p:spPr>
        <p:txBody>
          <a:bodyPr wrap="square" lIns="0" tIns="0" rIns="0" bIns="0" rtlCol="0" anchor="t"/>
          <a:lstStyle/>
          <a:p>
            <a:pPr marL="0" indent="0">
              <a:lnSpc>
                <a:spcPct val="105000"/>
              </a:lnSpc>
              <a:buNone/>
            </a:pPr>
            <a:r>
              <a:rPr lang="en-US" sz="1300" dirty="0">
                <a:solidFill>
                  <a:srgbClr val="C3CEDE"/>
                </a:solidFill>
                <a:latin typeface="Calibri" pitchFamily="34" charset="0"/>
                <a:ea typeface="Calibri" pitchFamily="34" charset="-122"/>
                <a:cs typeface="Calibri" pitchFamily="34" charset="-120"/>
              </a:rPr>
              <a:t>Estrategia de calidad 100/80/0</a:t>
            </a:r>
            <a:endParaRPr lang="en-US" sz="1300" dirty="0"/>
          </a:p>
        </p:txBody>
      </p:sp>
      <p:pic>
        <p:nvPicPr>
          <p:cNvPr id="45" name="Image 16" descr="preencoded.png"/>
          <p:cNvPicPr>
            <a:picLocks noChangeAspect="1"/>
          </p:cNvPicPr>
          <p:nvPr/>
        </p:nvPicPr>
        <p:blipFill>
          <a:blip r:embed="rId6"/>
          <a:stretch>
            <a:fillRect/>
          </a:stretch>
        </p:blipFill>
        <p:spPr>
          <a:xfrm>
            <a:off x="7498080" y="4937760"/>
            <a:ext cx="329184" cy="329184"/>
          </a:xfrm>
          <a:prstGeom prst="rect">
            <a:avLst/>
          </a:prstGeom>
        </p:spPr>
      </p:pic>
      <p:sp>
        <p:nvSpPr>
          <p:cNvPr id="46" name="Shape 27"/>
          <p:cNvSpPr/>
          <p:nvPr/>
        </p:nvSpPr>
        <p:spPr>
          <a:xfrm>
            <a:off x="8357616" y="4754880"/>
            <a:ext cx="3602736" cy="137160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47" name="Image 17" descr="preencoded.png"/>
          <p:cNvPicPr>
            <a:picLocks noChangeAspect="1"/>
          </p:cNvPicPr>
          <p:nvPr/>
        </p:nvPicPr>
        <p:blipFill>
          <a:blip r:embed="rId5"/>
          <a:stretch>
            <a:fillRect/>
          </a:stretch>
        </p:blipFill>
        <p:spPr>
          <a:xfrm>
            <a:off x="8357616" y="4754880"/>
            <a:ext cx="82296" cy="1371600"/>
          </a:xfrm>
          <a:prstGeom prst="rect">
            <a:avLst/>
          </a:prstGeom>
        </p:spPr>
      </p:pic>
      <p:sp>
        <p:nvSpPr>
          <p:cNvPr id="48" name="Text 28"/>
          <p:cNvSpPr/>
          <p:nvPr/>
        </p:nvSpPr>
        <p:spPr>
          <a:xfrm>
            <a:off x="8631936" y="4956048"/>
            <a:ext cx="3054096" cy="320040"/>
          </a:xfrm>
          <a:prstGeom prst="rect">
            <a:avLst/>
          </a:prstGeom>
          <a:noFill/>
          <a:ln/>
        </p:spPr>
        <p:txBody>
          <a:bodyPr wrap="square" lIns="0" tIns="0" rIns="0" bIns="0" rtlCol="0" anchor="ctr"/>
          <a:lstStyle/>
          <a:p>
            <a:pPr marL="0" indent="0">
              <a:buNone/>
            </a:pPr>
            <a:r>
              <a:rPr lang="en-US" sz="1700" b="1" dirty="0">
                <a:solidFill>
                  <a:srgbClr val="37D6C3"/>
                </a:solidFill>
                <a:latin typeface="Georgia" pitchFamily="34" charset="0"/>
                <a:ea typeface="Georgia" pitchFamily="34" charset="-122"/>
                <a:cs typeface="Georgia" pitchFamily="34" charset="-120"/>
              </a:rPr>
              <a:t>ADR-009</a:t>
            </a:r>
            <a:endParaRPr lang="en-US" sz="1700" dirty="0"/>
          </a:p>
        </p:txBody>
      </p:sp>
      <p:sp>
        <p:nvSpPr>
          <p:cNvPr id="49" name="Text 29"/>
          <p:cNvSpPr/>
          <p:nvPr/>
        </p:nvSpPr>
        <p:spPr>
          <a:xfrm>
            <a:off x="8631936" y="5303520"/>
            <a:ext cx="2688336" cy="731520"/>
          </a:xfrm>
          <a:prstGeom prst="rect">
            <a:avLst/>
          </a:prstGeom>
          <a:noFill/>
          <a:ln/>
        </p:spPr>
        <p:txBody>
          <a:bodyPr wrap="square" lIns="0" tIns="0" rIns="0" bIns="0" rtlCol="0" anchor="t"/>
          <a:lstStyle/>
          <a:p>
            <a:pPr marL="0" indent="0">
              <a:lnSpc>
                <a:spcPct val="105000"/>
              </a:lnSpc>
              <a:buNone/>
            </a:pPr>
            <a:r>
              <a:rPr lang="en-US" sz="1300" dirty="0">
                <a:solidFill>
                  <a:srgbClr val="C3CEDE"/>
                </a:solidFill>
                <a:latin typeface="Calibri" pitchFamily="34" charset="0"/>
                <a:ea typeface="Calibri" pitchFamily="34" charset="-122"/>
                <a:cs typeface="Calibri" pitchFamily="34" charset="-120"/>
              </a:rPr>
              <a:t>Uso de IA como apoyo supervisado</a:t>
            </a:r>
            <a:endParaRPr lang="en-US" sz="1300" dirty="0"/>
          </a:p>
        </p:txBody>
      </p:sp>
      <p:pic>
        <p:nvPicPr>
          <p:cNvPr id="50" name="Image 18" descr="preencoded.png"/>
          <p:cNvPicPr>
            <a:picLocks noChangeAspect="1"/>
          </p:cNvPicPr>
          <p:nvPr/>
        </p:nvPicPr>
        <p:blipFill>
          <a:blip r:embed="rId6"/>
          <a:stretch>
            <a:fillRect/>
          </a:stretch>
        </p:blipFill>
        <p:spPr>
          <a:xfrm>
            <a:off x="11393424" y="4937760"/>
            <a:ext cx="329184" cy="329184"/>
          </a:xfrm>
          <a:prstGeom prst="rect">
            <a:avLst/>
          </a:prstGeom>
        </p:spPr>
      </p:pic>
      <p:sp>
        <p:nvSpPr>
          <p:cNvPr id="52" name="Text 30"/>
          <p:cNvSpPr/>
          <p:nvPr/>
        </p:nvSpPr>
        <p:spPr>
          <a:xfrm>
            <a:off x="566928" y="6446520"/>
            <a:ext cx="8229600" cy="292608"/>
          </a:xfrm>
          <a:prstGeom prst="rect">
            <a:avLst/>
          </a:prstGeom>
          <a:noFill/>
          <a:ln/>
        </p:spPr>
        <p:txBody>
          <a:bodyPr wrap="square" lIns="0" tIns="0" rIns="0" bIns="0" rtlCol="0" anchor="ctr"/>
          <a:lstStyle/>
          <a:p>
            <a:pPr marL="0" indent="0">
              <a:buNone/>
            </a:pPr>
            <a:r>
              <a:rPr lang="en-US" sz="900" dirty="0">
                <a:solidFill>
                  <a:srgbClr val="8492A6"/>
                </a:solidFill>
                <a:latin typeface="Calibri" pitchFamily="34" charset="0"/>
                <a:ea typeface="Calibri" pitchFamily="34" charset="-122"/>
                <a:cs typeface="Calibri" pitchFamily="34" charset="-120"/>
              </a:rPr>
              <a:t>BuenCholloTech · TFM Máster en Desarrollo con IA 2025</a:t>
            </a:r>
            <a:endParaRPr lang="en-US" sz="900" dirty="0"/>
          </a:p>
        </p:txBody>
      </p:sp>
      <p:sp>
        <p:nvSpPr>
          <p:cNvPr id="53" name="Text 31"/>
          <p:cNvSpPr/>
          <p:nvPr/>
        </p:nvSpPr>
        <p:spPr>
          <a:xfrm>
            <a:off x="10527487" y="6446520"/>
            <a:ext cx="1097280" cy="292608"/>
          </a:xfrm>
          <a:prstGeom prst="rect">
            <a:avLst/>
          </a:prstGeom>
          <a:noFill/>
          <a:ln/>
        </p:spPr>
        <p:txBody>
          <a:bodyPr wrap="square" lIns="0" tIns="0" rIns="0" bIns="0"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09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928" y="457200"/>
            <a:ext cx="1110082" cy="310896"/>
          </a:xfrm>
          <a:prstGeom prst="roundRect">
            <a:avLst>
              <a:gd name="adj" fmla="val 50000"/>
            </a:avLst>
          </a:prstGeom>
          <a:solidFill>
            <a:srgbClr val="FF6A2B"/>
          </a:solidFill>
          <a:ln/>
        </p:spPr>
        <p:txBody>
          <a:bodyPr/>
          <a:lstStyle/>
          <a:p>
            <a:endParaRPr lang="es-ES"/>
          </a:p>
        </p:txBody>
      </p:sp>
      <p:sp>
        <p:nvSpPr>
          <p:cNvPr id="3" name="Text 1"/>
          <p:cNvSpPr/>
          <p:nvPr/>
        </p:nvSpPr>
        <p:spPr>
          <a:xfrm>
            <a:off x="566928" y="457200"/>
            <a:ext cx="1110082" cy="310896"/>
          </a:xfrm>
          <a:prstGeom prst="rect">
            <a:avLst/>
          </a:prstGeom>
          <a:noFill/>
          <a:ln/>
        </p:spPr>
        <p:txBody>
          <a:bodyPr wrap="square" lIns="0" tIns="0" rIns="0" bIns="0" rtlCol="0" anchor="ctr"/>
          <a:lstStyle/>
          <a:p>
            <a:pPr marL="0" indent="0" algn="ctr">
              <a:buNone/>
            </a:pPr>
            <a:r>
              <a:rPr lang="en-US" sz="1050" b="1" kern="0" spc="100" dirty="0">
                <a:solidFill>
                  <a:srgbClr val="0A0F1A"/>
                </a:solidFill>
                <a:latin typeface="Calibri" pitchFamily="34" charset="0"/>
                <a:ea typeface="Calibri" pitchFamily="34" charset="-122"/>
                <a:cs typeface="Calibri" pitchFamily="34" charset="-120"/>
              </a:rPr>
              <a:t>CALIDAD</a:t>
            </a:r>
            <a:endParaRPr lang="en-US" sz="1050" dirty="0"/>
          </a:p>
        </p:txBody>
      </p:sp>
      <p:pic>
        <p:nvPicPr>
          <p:cNvPr id="4" name="Image 0" descr="preencoded.png"/>
          <p:cNvPicPr>
            <a:picLocks noChangeAspect="1"/>
          </p:cNvPicPr>
          <p:nvPr/>
        </p:nvPicPr>
        <p:blipFill>
          <a:blip r:embed="rId4"/>
          <a:stretch>
            <a:fillRect/>
          </a:stretch>
        </p:blipFill>
        <p:spPr>
          <a:xfrm>
            <a:off x="11057839" y="384048"/>
            <a:ext cx="457200" cy="457200"/>
          </a:xfrm>
          <a:prstGeom prst="rect">
            <a:avLst/>
          </a:prstGeom>
        </p:spPr>
      </p:pic>
      <p:sp>
        <p:nvSpPr>
          <p:cNvPr id="5" name="Text 2"/>
          <p:cNvSpPr/>
          <p:nvPr/>
        </p:nvSpPr>
        <p:spPr>
          <a:xfrm>
            <a:off x="566928" y="841248"/>
            <a:ext cx="10554919" cy="640080"/>
          </a:xfrm>
          <a:prstGeom prst="rect">
            <a:avLst/>
          </a:prstGeom>
          <a:noFill/>
          <a:ln/>
        </p:spPr>
        <p:txBody>
          <a:bodyPr wrap="square" lIns="0" tIns="0" rIns="0" bIns="0" rtlCol="0" anchor="ctr"/>
          <a:lstStyle/>
          <a:p>
            <a:pPr marL="0" indent="0">
              <a:buNone/>
            </a:pPr>
            <a:r>
              <a:rPr lang="en-US" sz="2700" b="1" dirty="0">
                <a:solidFill>
                  <a:srgbClr val="F3F7FD"/>
                </a:solidFill>
                <a:latin typeface="Georgia" pitchFamily="34" charset="0"/>
                <a:ea typeface="Georgia" pitchFamily="34" charset="-122"/>
                <a:cs typeface="Georgia" pitchFamily="34" charset="-120"/>
              </a:rPr>
              <a:t>Pirámide de testing: 167 pruebas en ~13 segundos</a:t>
            </a:r>
            <a:endParaRPr lang="en-US" sz="2700" dirty="0"/>
          </a:p>
        </p:txBody>
      </p:sp>
      <p:sp>
        <p:nvSpPr>
          <p:cNvPr id="6" name="Shape 3"/>
          <p:cNvSpPr/>
          <p:nvPr/>
        </p:nvSpPr>
        <p:spPr>
          <a:xfrm>
            <a:off x="1847088" y="1783080"/>
            <a:ext cx="2926080" cy="1051560"/>
          </a:xfrm>
          <a:prstGeom prst="rect">
            <a:avLst/>
          </a:prstGeom>
          <a:solidFill>
            <a:srgbClr val="FFB43B"/>
          </a:solidFill>
          <a:ln/>
          <a:effectLst>
            <a:outerShdw blurRad="152400" dist="50800" dir="5400000" algn="bl" rotWithShape="0">
              <a:srgbClr val="000000">
                <a:alpha val="35000"/>
              </a:srgbClr>
            </a:outerShdw>
          </a:effectLst>
        </p:spPr>
        <p:txBody>
          <a:bodyPr/>
          <a:lstStyle/>
          <a:p>
            <a:endParaRPr lang="es-ES"/>
          </a:p>
        </p:txBody>
      </p:sp>
      <p:sp>
        <p:nvSpPr>
          <p:cNvPr id="7" name="Text 4"/>
          <p:cNvSpPr/>
          <p:nvPr/>
        </p:nvSpPr>
        <p:spPr>
          <a:xfrm>
            <a:off x="1847088" y="1892808"/>
            <a:ext cx="2926080" cy="457200"/>
          </a:xfrm>
          <a:prstGeom prst="rect">
            <a:avLst/>
          </a:prstGeom>
          <a:noFill/>
          <a:ln/>
        </p:spPr>
        <p:txBody>
          <a:bodyPr wrap="square" lIns="0" tIns="0" rIns="0" bIns="0" rtlCol="0" anchor="ctr"/>
          <a:lstStyle/>
          <a:p>
            <a:pPr marL="0" indent="0" algn="ctr">
              <a:buNone/>
            </a:pPr>
            <a:r>
              <a:rPr lang="en-US" sz="1600" b="1" dirty="0">
                <a:solidFill>
                  <a:srgbClr val="0A0F1A"/>
                </a:solidFill>
                <a:latin typeface="Calibri" pitchFamily="34" charset="0"/>
                <a:ea typeface="Calibri" pitchFamily="34" charset="-122"/>
                <a:cs typeface="Calibri" pitchFamily="34" charset="-120"/>
              </a:rPr>
              <a:t>E2E  </a:t>
            </a:r>
            <a:r>
              <a:rPr lang="en-US" sz="1300" dirty="0">
                <a:solidFill>
                  <a:srgbClr val="0A0F1A"/>
                </a:solidFill>
                <a:latin typeface="Calibri" pitchFamily="34" charset="0"/>
                <a:ea typeface="Calibri" pitchFamily="34" charset="-122"/>
                <a:cs typeface="Calibri" pitchFamily="34" charset="-120"/>
              </a:rPr>
              <a:t>8 tests</a:t>
            </a:r>
            <a:endParaRPr lang="en-US" sz="1600" dirty="0"/>
          </a:p>
        </p:txBody>
      </p:sp>
      <p:sp>
        <p:nvSpPr>
          <p:cNvPr id="8" name="Text 5"/>
          <p:cNvSpPr/>
          <p:nvPr/>
        </p:nvSpPr>
        <p:spPr>
          <a:xfrm>
            <a:off x="1847088" y="2313432"/>
            <a:ext cx="2926080" cy="411480"/>
          </a:xfrm>
          <a:prstGeom prst="rect">
            <a:avLst/>
          </a:prstGeom>
          <a:noFill/>
          <a:ln/>
        </p:spPr>
        <p:txBody>
          <a:bodyPr wrap="square" lIns="0" tIns="0" rIns="0" bIns="0" rtlCol="0" anchor="ctr"/>
          <a:lstStyle/>
          <a:p>
            <a:pPr marL="0" indent="0" algn="ctr">
              <a:buNone/>
            </a:pPr>
            <a:r>
              <a:rPr lang="en-US" sz="1100" i="1" dirty="0">
                <a:solidFill>
                  <a:srgbClr val="1A1208"/>
                </a:solidFill>
                <a:latin typeface="Calibri" pitchFamily="34" charset="0"/>
                <a:ea typeface="Calibri" pitchFamily="34" charset="-122"/>
                <a:cs typeface="Calibri" pitchFamily="34" charset="-120"/>
              </a:rPr>
              <a:t>Playwright · flujos críticos</a:t>
            </a:r>
            <a:endParaRPr lang="en-US" sz="1100" dirty="0"/>
          </a:p>
        </p:txBody>
      </p:sp>
      <p:sp>
        <p:nvSpPr>
          <p:cNvPr id="9" name="Shape 6"/>
          <p:cNvSpPr/>
          <p:nvPr/>
        </p:nvSpPr>
        <p:spPr>
          <a:xfrm>
            <a:off x="1207008" y="2999232"/>
            <a:ext cx="4206240" cy="1051560"/>
          </a:xfrm>
          <a:prstGeom prst="rect">
            <a:avLst/>
          </a:prstGeom>
          <a:solidFill>
            <a:srgbClr val="37D6C3"/>
          </a:solidFill>
          <a:ln/>
          <a:effectLst>
            <a:outerShdw blurRad="152400" dist="50800" dir="5400000" algn="bl" rotWithShape="0">
              <a:srgbClr val="000000">
                <a:alpha val="35000"/>
              </a:srgbClr>
            </a:outerShdw>
          </a:effectLst>
        </p:spPr>
        <p:txBody>
          <a:bodyPr/>
          <a:lstStyle/>
          <a:p>
            <a:endParaRPr lang="es-ES"/>
          </a:p>
        </p:txBody>
      </p:sp>
      <p:sp>
        <p:nvSpPr>
          <p:cNvPr id="10" name="Text 7"/>
          <p:cNvSpPr/>
          <p:nvPr/>
        </p:nvSpPr>
        <p:spPr>
          <a:xfrm>
            <a:off x="1207008" y="3108960"/>
            <a:ext cx="4206240" cy="457200"/>
          </a:xfrm>
          <a:prstGeom prst="rect">
            <a:avLst/>
          </a:prstGeom>
          <a:noFill/>
          <a:ln/>
        </p:spPr>
        <p:txBody>
          <a:bodyPr wrap="square" lIns="0" tIns="0" rIns="0" bIns="0" rtlCol="0" anchor="ctr"/>
          <a:lstStyle/>
          <a:p>
            <a:pPr marL="0" indent="0" algn="ctr">
              <a:buNone/>
            </a:pPr>
            <a:r>
              <a:rPr lang="en-US" sz="1600" b="1" dirty="0">
                <a:solidFill>
                  <a:srgbClr val="0A0F1A"/>
                </a:solidFill>
                <a:latin typeface="Calibri" pitchFamily="34" charset="0"/>
                <a:ea typeface="Calibri" pitchFamily="34" charset="-122"/>
                <a:cs typeface="Calibri" pitchFamily="34" charset="-120"/>
              </a:rPr>
              <a:t>Integración  </a:t>
            </a:r>
            <a:r>
              <a:rPr lang="en-US" sz="1300" dirty="0">
                <a:solidFill>
                  <a:srgbClr val="0A0F1A"/>
                </a:solidFill>
                <a:latin typeface="Calibri" pitchFamily="34" charset="0"/>
                <a:ea typeface="Calibri" pitchFamily="34" charset="-122"/>
                <a:cs typeface="Calibri" pitchFamily="34" charset="-120"/>
              </a:rPr>
              <a:t>13 tests</a:t>
            </a:r>
            <a:endParaRPr lang="en-US" sz="1600" dirty="0"/>
          </a:p>
        </p:txBody>
      </p:sp>
      <p:sp>
        <p:nvSpPr>
          <p:cNvPr id="11" name="Text 8"/>
          <p:cNvSpPr/>
          <p:nvPr/>
        </p:nvSpPr>
        <p:spPr>
          <a:xfrm>
            <a:off x="1207008" y="3529584"/>
            <a:ext cx="4206240" cy="411480"/>
          </a:xfrm>
          <a:prstGeom prst="rect">
            <a:avLst/>
          </a:prstGeom>
          <a:noFill/>
          <a:ln/>
        </p:spPr>
        <p:txBody>
          <a:bodyPr wrap="square" lIns="0" tIns="0" rIns="0" bIns="0" rtlCol="0" anchor="ctr"/>
          <a:lstStyle/>
          <a:p>
            <a:pPr marL="0" indent="0" algn="ctr">
              <a:buNone/>
            </a:pPr>
            <a:r>
              <a:rPr lang="en-US" sz="1100" i="1" dirty="0">
                <a:solidFill>
                  <a:srgbClr val="1A1208"/>
                </a:solidFill>
                <a:latin typeface="Calibri" pitchFamily="34" charset="0"/>
                <a:ea typeface="Calibri" pitchFamily="34" charset="-122"/>
                <a:cs typeface="Calibri" pitchFamily="34" charset="-120"/>
              </a:rPr>
              <a:t>RTL · userEvent</a:t>
            </a:r>
            <a:endParaRPr lang="en-US" sz="1100" dirty="0"/>
          </a:p>
        </p:txBody>
      </p:sp>
      <p:sp>
        <p:nvSpPr>
          <p:cNvPr id="12" name="Shape 9"/>
          <p:cNvSpPr/>
          <p:nvPr/>
        </p:nvSpPr>
        <p:spPr>
          <a:xfrm>
            <a:off x="566928" y="4215384"/>
            <a:ext cx="5486400" cy="1051560"/>
          </a:xfrm>
          <a:prstGeom prst="rect">
            <a:avLst/>
          </a:prstGeom>
          <a:solidFill>
            <a:srgbClr val="FF6A2B"/>
          </a:solidFill>
          <a:ln/>
          <a:effectLst>
            <a:outerShdw blurRad="152400" dist="50800" dir="5400000" algn="bl" rotWithShape="0">
              <a:srgbClr val="000000">
                <a:alpha val="35000"/>
              </a:srgbClr>
            </a:outerShdw>
          </a:effectLst>
        </p:spPr>
        <p:txBody>
          <a:bodyPr/>
          <a:lstStyle/>
          <a:p>
            <a:endParaRPr lang="es-ES"/>
          </a:p>
        </p:txBody>
      </p:sp>
      <p:sp>
        <p:nvSpPr>
          <p:cNvPr id="13" name="Text 10"/>
          <p:cNvSpPr/>
          <p:nvPr/>
        </p:nvSpPr>
        <p:spPr>
          <a:xfrm>
            <a:off x="566928" y="4325112"/>
            <a:ext cx="5486400" cy="457200"/>
          </a:xfrm>
          <a:prstGeom prst="rect">
            <a:avLst/>
          </a:prstGeom>
          <a:noFill/>
          <a:ln/>
        </p:spPr>
        <p:txBody>
          <a:bodyPr wrap="square" lIns="0" tIns="0" rIns="0" bIns="0" rtlCol="0" anchor="ctr"/>
          <a:lstStyle/>
          <a:p>
            <a:pPr marL="0" indent="0" algn="ctr">
              <a:buNone/>
            </a:pPr>
            <a:r>
              <a:rPr lang="en-US" sz="1600" b="1" dirty="0">
                <a:solidFill>
                  <a:srgbClr val="0A0F1A"/>
                </a:solidFill>
                <a:latin typeface="Calibri" pitchFamily="34" charset="0"/>
                <a:ea typeface="Calibri" pitchFamily="34" charset="-122"/>
                <a:cs typeface="Calibri" pitchFamily="34" charset="-120"/>
              </a:rPr>
              <a:t>Unitarios  </a:t>
            </a:r>
            <a:r>
              <a:rPr lang="en-US" sz="1300" dirty="0">
                <a:solidFill>
                  <a:srgbClr val="0A0F1A"/>
                </a:solidFill>
                <a:latin typeface="Calibri" pitchFamily="34" charset="0"/>
                <a:ea typeface="Calibri" pitchFamily="34" charset="-122"/>
                <a:cs typeface="Calibri" pitchFamily="34" charset="-120"/>
              </a:rPr>
              <a:t>137 tests</a:t>
            </a:r>
            <a:endParaRPr lang="en-US" sz="1600" dirty="0"/>
          </a:p>
        </p:txBody>
      </p:sp>
      <p:sp>
        <p:nvSpPr>
          <p:cNvPr id="14" name="Text 11"/>
          <p:cNvSpPr/>
          <p:nvPr/>
        </p:nvSpPr>
        <p:spPr>
          <a:xfrm>
            <a:off x="566928" y="4745736"/>
            <a:ext cx="5486400" cy="411480"/>
          </a:xfrm>
          <a:prstGeom prst="rect">
            <a:avLst/>
          </a:prstGeom>
          <a:noFill/>
          <a:ln/>
        </p:spPr>
        <p:txBody>
          <a:bodyPr wrap="square" lIns="0" tIns="0" rIns="0" bIns="0" rtlCol="0" anchor="ctr"/>
          <a:lstStyle/>
          <a:p>
            <a:pPr marL="0" indent="0" algn="ctr">
              <a:buNone/>
            </a:pPr>
            <a:r>
              <a:rPr lang="en-US" sz="1100" i="1" dirty="0">
                <a:solidFill>
                  <a:srgbClr val="1A1208"/>
                </a:solidFill>
                <a:latin typeface="Calibri" pitchFamily="34" charset="0"/>
                <a:ea typeface="Calibri" pitchFamily="34" charset="-122"/>
                <a:cs typeface="Calibri" pitchFamily="34" charset="-120"/>
              </a:rPr>
              <a:t>Vitest / pytest · lógica pura</a:t>
            </a:r>
            <a:endParaRPr lang="en-US" sz="1100" dirty="0"/>
          </a:p>
        </p:txBody>
      </p:sp>
      <p:sp>
        <p:nvSpPr>
          <p:cNvPr id="15" name="Text 12"/>
          <p:cNvSpPr/>
          <p:nvPr/>
        </p:nvSpPr>
        <p:spPr>
          <a:xfrm>
            <a:off x="566928" y="5532120"/>
            <a:ext cx="5486400" cy="365760"/>
          </a:xfrm>
          <a:prstGeom prst="rect">
            <a:avLst/>
          </a:prstGeom>
          <a:noFill/>
          <a:ln/>
        </p:spPr>
        <p:txBody>
          <a:bodyPr wrap="square" lIns="0" tIns="0" rIns="0" bIns="0" rtlCol="0" anchor="ctr"/>
          <a:lstStyle/>
          <a:p>
            <a:pPr marL="0" indent="0" algn="ctr">
              <a:buNone/>
            </a:pPr>
            <a:r>
              <a:rPr lang="en-US" sz="1200" i="1" dirty="0">
                <a:solidFill>
                  <a:srgbClr val="8492A6"/>
                </a:solidFill>
                <a:latin typeface="Calibri" pitchFamily="34" charset="0"/>
                <a:ea typeface="Calibri" pitchFamily="34" charset="-122"/>
                <a:cs typeface="Calibri" pitchFamily="34" charset="-120"/>
              </a:rPr>
              <a:t>137 unitarios · 13 integración · 8 E2E</a:t>
            </a:r>
            <a:endParaRPr lang="en-US" sz="1200" dirty="0"/>
          </a:p>
        </p:txBody>
      </p:sp>
      <p:sp>
        <p:nvSpPr>
          <p:cNvPr id="16" name="Shape 13"/>
          <p:cNvSpPr/>
          <p:nvPr/>
        </p:nvSpPr>
        <p:spPr>
          <a:xfrm>
            <a:off x="6583680" y="1783080"/>
            <a:ext cx="5041087" cy="4160520"/>
          </a:xfrm>
          <a:prstGeom prst="rect">
            <a:avLst/>
          </a:prstGeom>
          <a:solidFill>
            <a:srgbClr val="0E1830"/>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7" name="Image 1" descr="preencoded.png"/>
          <p:cNvPicPr>
            <a:picLocks noChangeAspect="1"/>
          </p:cNvPicPr>
          <p:nvPr/>
        </p:nvPicPr>
        <p:blipFill>
          <a:blip r:embed="rId5"/>
          <a:stretch>
            <a:fillRect/>
          </a:stretch>
        </p:blipFill>
        <p:spPr>
          <a:xfrm>
            <a:off x="6583680" y="1783080"/>
            <a:ext cx="5041087" cy="73152"/>
          </a:xfrm>
          <a:prstGeom prst="rect">
            <a:avLst/>
          </a:prstGeom>
        </p:spPr>
      </p:pic>
      <p:sp>
        <p:nvSpPr>
          <p:cNvPr id="18" name="Text 14"/>
          <p:cNvSpPr/>
          <p:nvPr/>
        </p:nvSpPr>
        <p:spPr>
          <a:xfrm>
            <a:off x="6903720" y="2011680"/>
            <a:ext cx="4401007" cy="365760"/>
          </a:xfrm>
          <a:prstGeom prst="rect">
            <a:avLst/>
          </a:prstGeom>
          <a:noFill/>
          <a:ln/>
        </p:spPr>
        <p:txBody>
          <a:bodyPr wrap="square" lIns="0" tIns="0" rIns="0" bIns="0" rtlCol="0" anchor="ctr"/>
          <a:lstStyle/>
          <a:p>
            <a:pPr marL="0" indent="0">
              <a:buNone/>
            </a:pPr>
            <a:r>
              <a:rPr lang="en-US" sz="1300" b="1" kern="0" spc="150" dirty="0">
                <a:solidFill>
                  <a:srgbClr val="FF6A2B"/>
                </a:solidFill>
                <a:latin typeface="Calibri" pitchFamily="34" charset="0"/>
                <a:ea typeface="Calibri" pitchFamily="34" charset="-122"/>
                <a:cs typeface="Calibri" pitchFamily="34" charset="-120"/>
              </a:rPr>
              <a:t>QUALITY GATES EN 3 NIVELES</a:t>
            </a:r>
            <a:endParaRPr lang="en-US" sz="1300" dirty="0"/>
          </a:p>
        </p:txBody>
      </p:sp>
      <p:sp>
        <p:nvSpPr>
          <p:cNvPr id="19" name="Shape 15"/>
          <p:cNvSpPr/>
          <p:nvPr/>
        </p:nvSpPr>
        <p:spPr>
          <a:xfrm>
            <a:off x="6903720" y="2542032"/>
            <a:ext cx="694944" cy="694944"/>
          </a:xfrm>
          <a:prstGeom prst="ellipse">
            <a:avLst/>
          </a:prstGeom>
          <a:solidFill>
            <a:srgbClr val="FF6A2B"/>
          </a:solidFill>
          <a:ln/>
        </p:spPr>
        <p:txBody>
          <a:bodyPr/>
          <a:lstStyle/>
          <a:p>
            <a:endParaRPr lang="es-ES"/>
          </a:p>
        </p:txBody>
      </p:sp>
      <p:pic>
        <p:nvPicPr>
          <p:cNvPr id="20" name="Image 2" descr="preencoded.png"/>
          <p:cNvPicPr>
            <a:picLocks noChangeAspect="1"/>
          </p:cNvPicPr>
          <p:nvPr/>
        </p:nvPicPr>
        <p:blipFill>
          <a:blip r:embed="rId6"/>
          <a:stretch>
            <a:fillRect/>
          </a:stretch>
        </p:blipFill>
        <p:spPr>
          <a:xfrm>
            <a:off x="7068312" y="2706624"/>
            <a:ext cx="365760" cy="365760"/>
          </a:xfrm>
          <a:prstGeom prst="rect">
            <a:avLst/>
          </a:prstGeom>
        </p:spPr>
      </p:pic>
      <p:sp>
        <p:nvSpPr>
          <p:cNvPr id="21" name="Text 16"/>
          <p:cNvSpPr/>
          <p:nvPr/>
        </p:nvSpPr>
        <p:spPr>
          <a:xfrm>
            <a:off x="7790688" y="2496312"/>
            <a:ext cx="3532327" cy="868680"/>
          </a:xfrm>
          <a:prstGeom prst="rect">
            <a:avLst/>
          </a:prstGeom>
          <a:noFill/>
          <a:ln/>
        </p:spPr>
        <p:txBody>
          <a:bodyPr wrap="square" lIns="0" tIns="0" rIns="0" bIns="0" rtlCol="0" anchor="t"/>
          <a:lstStyle/>
          <a:p>
            <a:pPr marL="0" indent="0">
              <a:lnSpc>
                <a:spcPct val="105000"/>
              </a:lnSpc>
              <a:buNone/>
            </a:pPr>
            <a:r>
              <a:rPr lang="en-US" sz="1500" b="1" dirty="0">
                <a:solidFill>
                  <a:srgbClr val="F3F7FD"/>
                </a:solidFill>
                <a:latin typeface="Calibri" pitchFamily="34" charset="0"/>
                <a:ea typeface="Calibri" pitchFamily="34" charset="-122"/>
                <a:cs typeface="Calibri" pitchFamily="34" charset="-120"/>
              </a:rPr>
              <a:t>Pre-commit (Husky)</a:t>
            </a:r>
            <a:endParaRPr lang="en-US" sz="1500" dirty="0"/>
          </a:p>
          <a:p>
            <a:pPr marL="0" indent="0">
              <a:lnSpc>
                <a:spcPct val="105000"/>
              </a:lnSpc>
              <a:buNone/>
            </a:pPr>
            <a:r>
              <a:rPr lang="en-US" sz="1250" dirty="0">
                <a:solidFill>
                  <a:srgbClr val="C3CEDE"/>
                </a:solidFill>
                <a:latin typeface="Calibri" pitchFamily="34" charset="0"/>
                <a:ea typeface="Calibri" pitchFamily="34" charset="-122"/>
                <a:cs typeface="Calibri" pitchFamily="34" charset="-120"/>
              </a:rPr>
              <a:t>lint + typecheck antes de cada commit</a:t>
            </a:r>
            <a:endParaRPr lang="en-US" sz="1500" dirty="0"/>
          </a:p>
        </p:txBody>
      </p:sp>
      <p:sp>
        <p:nvSpPr>
          <p:cNvPr id="22" name="Shape 17"/>
          <p:cNvSpPr/>
          <p:nvPr/>
        </p:nvSpPr>
        <p:spPr>
          <a:xfrm>
            <a:off x="6903720" y="3621024"/>
            <a:ext cx="694944" cy="694944"/>
          </a:xfrm>
          <a:prstGeom prst="ellipse">
            <a:avLst/>
          </a:prstGeom>
          <a:solidFill>
            <a:srgbClr val="FF6A2B"/>
          </a:solidFill>
          <a:ln/>
        </p:spPr>
        <p:txBody>
          <a:bodyPr/>
          <a:lstStyle/>
          <a:p>
            <a:endParaRPr lang="es-ES"/>
          </a:p>
        </p:txBody>
      </p:sp>
      <p:pic>
        <p:nvPicPr>
          <p:cNvPr id="23" name="Image 3" descr="preencoded.png"/>
          <p:cNvPicPr>
            <a:picLocks noChangeAspect="1"/>
          </p:cNvPicPr>
          <p:nvPr/>
        </p:nvPicPr>
        <p:blipFill>
          <a:blip r:embed="rId7"/>
          <a:stretch>
            <a:fillRect/>
          </a:stretch>
        </p:blipFill>
        <p:spPr>
          <a:xfrm>
            <a:off x="7068312" y="3785616"/>
            <a:ext cx="365760" cy="365760"/>
          </a:xfrm>
          <a:prstGeom prst="rect">
            <a:avLst/>
          </a:prstGeom>
        </p:spPr>
      </p:pic>
      <p:sp>
        <p:nvSpPr>
          <p:cNvPr id="24" name="Text 18"/>
          <p:cNvSpPr/>
          <p:nvPr/>
        </p:nvSpPr>
        <p:spPr>
          <a:xfrm>
            <a:off x="7790688" y="3575304"/>
            <a:ext cx="3532327" cy="868680"/>
          </a:xfrm>
          <a:prstGeom prst="rect">
            <a:avLst/>
          </a:prstGeom>
          <a:noFill/>
          <a:ln/>
        </p:spPr>
        <p:txBody>
          <a:bodyPr wrap="square" lIns="0" tIns="0" rIns="0" bIns="0" rtlCol="0" anchor="t"/>
          <a:lstStyle/>
          <a:p>
            <a:pPr marL="0" indent="0">
              <a:lnSpc>
                <a:spcPct val="105000"/>
              </a:lnSpc>
              <a:buNone/>
            </a:pPr>
            <a:r>
              <a:rPr lang="en-US" sz="1500" b="1" dirty="0">
                <a:solidFill>
                  <a:srgbClr val="F3F7FD"/>
                </a:solidFill>
                <a:latin typeface="Calibri" pitchFamily="34" charset="0"/>
                <a:ea typeface="Calibri" pitchFamily="34" charset="-122"/>
                <a:cs typeface="Calibri" pitchFamily="34" charset="-120"/>
              </a:rPr>
              <a:t>Pre-push (Husky)</a:t>
            </a:r>
            <a:endParaRPr lang="en-US" sz="1500" dirty="0"/>
          </a:p>
          <a:p>
            <a:pPr marL="0" indent="0">
              <a:lnSpc>
                <a:spcPct val="105000"/>
              </a:lnSpc>
              <a:buNone/>
            </a:pPr>
            <a:r>
              <a:rPr lang="en-US" sz="1250" dirty="0">
                <a:solidFill>
                  <a:srgbClr val="C3CEDE"/>
                </a:solidFill>
                <a:latin typeface="Calibri" pitchFamily="34" charset="0"/>
                <a:ea typeface="Calibri" pitchFamily="34" charset="-122"/>
                <a:cs typeface="Calibri" pitchFamily="34" charset="-120"/>
              </a:rPr>
              <a:t>ejecuta los tests antes de subir</a:t>
            </a:r>
            <a:endParaRPr lang="en-US" sz="1500" dirty="0"/>
          </a:p>
        </p:txBody>
      </p:sp>
      <p:sp>
        <p:nvSpPr>
          <p:cNvPr id="25" name="Shape 19"/>
          <p:cNvSpPr/>
          <p:nvPr/>
        </p:nvSpPr>
        <p:spPr>
          <a:xfrm>
            <a:off x="6903720" y="4700016"/>
            <a:ext cx="694944" cy="694944"/>
          </a:xfrm>
          <a:prstGeom prst="ellipse">
            <a:avLst/>
          </a:prstGeom>
          <a:solidFill>
            <a:srgbClr val="FF6A2B"/>
          </a:solidFill>
          <a:ln/>
        </p:spPr>
        <p:txBody>
          <a:bodyPr/>
          <a:lstStyle/>
          <a:p>
            <a:endParaRPr lang="es-ES"/>
          </a:p>
        </p:txBody>
      </p:sp>
      <p:pic>
        <p:nvPicPr>
          <p:cNvPr id="26" name="Image 4" descr="preencoded.png"/>
          <p:cNvPicPr>
            <a:picLocks noChangeAspect="1"/>
          </p:cNvPicPr>
          <p:nvPr/>
        </p:nvPicPr>
        <p:blipFill>
          <a:blip r:embed="rId8"/>
          <a:stretch>
            <a:fillRect/>
          </a:stretch>
        </p:blipFill>
        <p:spPr>
          <a:xfrm>
            <a:off x="7068312" y="4864608"/>
            <a:ext cx="365760" cy="365760"/>
          </a:xfrm>
          <a:prstGeom prst="rect">
            <a:avLst/>
          </a:prstGeom>
        </p:spPr>
      </p:pic>
      <p:sp>
        <p:nvSpPr>
          <p:cNvPr id="27" name="Text 20"/>
          <p:cNvSpPr/>
          <p:nvPr/>
        </p:nvSpPr>
        <p:spPr>
          <a:xfrm>
            <a:off x="7790688" y="4654296"/>
            <a:ext cx="3532327" cy="868680"/>
          </a:xfrm>
          <a:prstGeom prst="rect">
            <a:avLst/>
          </a:prstGeom>
          <a:noFill/>
          <a:ln/>
        </p:spPr>
        <p:txBody>
          <a:bodyPr wrap="square" lIns="0" tIns="0" rIns="0" bIns="0" rtlCol="0" anchor="t"/>
          <a:lstStyle/>
          <a:p>
            <a:pPr marL="0" indent="0">
              <a:lnSpc>
                <a:spcPct val="105000"/>
              </a:lnSpc>
              <a:buNone/>
            </a:pPr>
            <a:r>
              <a:rPr lang="en-US" sz="1500" b="1" dirty="0">
                <a:solidFill>
                  <a:srgbClr val="F3F7FD"/>
                </a:solidFill>
                <a:latin typeface="Calibri" pitchFamily="34" charset="0"/>
                <a:ea typeface="Calibri" pitchFamily="34" charset="-122"/>
                <a:cs typeface="Calibri" pitchFamily="34" charset="-120"/>
              </a:rPr>
              <a:t>CI (GitHub Actions)</a:t>
            </a:r>
            <a:endParaRPr lang="en-US" sz="1500" dirty="0"/>
          </a:p>
          <a:p>
            <a:pPr marL="0" indent="0">
              <a:lnSpc>
                <a:spcPct val="105000"/>
              </a:lnSpc>
              <a:buNone/>
            </a:pPr>
            <a:r>
              <a:rPr lang="en-US" sz="1250" dirty="0">
                <a:solidFill>
                  <a:srgbClr val="C3CEDE"/>
                </a:solidFill>
                <a:latin typeface="Calibri" pitchFamily="34" charset="0"/>
                <a:ea typeface="Calibri" pitchFamily="34" charset="-122"/>
                <a:cs typeface="Calibri" pitchFamily="34" charset="-120"/>
              </a:rPr>
              <a:t>4 jobs: backend · frontend · E2E · seguridad</a:t>
            </a:r>
            <a:endParaRPr lang="en-US" sz="1500" dirty="0"/>
          </a:p>
        </p:txBody>
      </p:sp>
      <p:sp>
        <p:nvSpPr>
          <p:cNvPr id="29" name="Text 21"/>
          <p:cNvSpPr/>
          <p:nvPr/>
        </p:nvSpPr>
        <p:spPr>
          <a:xfrm>
            <a:off x="566928" y="6446520"/>
            <a:ext cx="8229600" cy="292608"/>
          </a:xfrm>
          <a:prstGeom prst="rect">
            <a:avLst/>
          </a:prstGeom>
          <a:noFill/>
          <a:ln/>
        </p:spPr>
        <p:txBody>
          <a:bodyPr wrap="square" lIns="0" tIns="0" rIns="0" bIns="0" rtlCol="0" anchor="ctr"/>
          <a:lstStyle/>
          <a:p>
            <a:pPr marL="0" indent="0">
              <a:buNone/>
            </a:pPr>
            <a:r>
              <a:rPr lang="en-US" sz="900" dirty="0">
                <a:solidFill>
                  <a:srgbClr val="8492A6"/>
                </a:solidFill>
                <a:latin typeface="Calibri" pitchFamily="34" charset="0"/>
                <a:ea typeface="Calibri" pitchFamily="34" charset="-122"/>
                <a:cs typeface="Calibri" pitchFamily="34" charset="-120"/>
              </a:rPr>
              <a:t>BuenCholloTech · TFM Máster en Desarrollo con IA 2025</a:t>
            </a:r>
            <a:endParaRPr lang="en-US" sz="900" dirty="0"/>
          </a:p>
        </p:txBody>
      </p:sp>
      <p:sp>
        <p:nvSpPr>
          <p:cNvPr id="30" name="Text 22"/>
          <p:cNvSpPr/>
          <p:nvPr/>
        </p:nvSpPr>
        <p:spPr>
          <a:xfrm>
            <a:off x="10527487" y="6446520"/>
            <a:ext cx="1097280" cy="292608"/>
          </a:xfrm>
          <a:prstGeom prst="rect">
            <a:avLst/>
          </a:prstGeom>
          <a:noFill/>
          <a:ln/>
        </p:spPr>
        <p:txBody>
          <a:bodyPr wrap="square" lIns="0" tIns="0" rIns="0" bIns="0"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928" y="457200"/>
            <a:ext cx="2671877" cy="310896"/>
          </a:xfrm>
          <a:prstGeom prst="roundRect">
            <a:avLst>
              <a:gd name="adj" fmla="val 50000"/>
            </a:avLst>
          </a:prstGeom>
          <a:solidFill>
            <a:srgbClr val="FF6A2B"/>
          </a:solidFill>
          <a:ln/>
        </p:spPr>
        <p:txBody>
          <a:bodyPr/>
          <a:lstStyle/>
          <a:p>
            <a:endParaRPr lang="es-ES"/>
          </a:p>
        </p:txBody>
      </p:sp>
      <p:sp>
        <p:nvSpPr>
          <p:cNvPr id="3" name="Text 1"/>
          <p:cNvSpPr/>
          <p:nvPr/>
        </p:nvSpPr>
        <p:spPr>
          <a:xfrm>
            <a:off x="566928" y="457200"/>
            <a:ext cx="2671877" cy="310896"/>
          </a:xfrm>
          <a:prstGeom prst="rect">
            <a:avLst/>
          </a:prstGeom>
          <a:noFill/>
          <a:ln/>
        </p:spPr>
        <p:txBody>
          <a:bodyPr wrap="square" lIns="0" tIns="0" rIns="0" bIns="0" rtlCol="0" anchor="ctr"/>
          <a:lstStyle/>
          <a:p>
            <a:pPr marL="0" indent="0" algn="ctr">
              <a:buNone/>
            </a:pPr>
            <a:r>
              <a:rPr lang="en-US" sz="1050" b="1" kern="0" spc="100" dirty="0">
                <a:solidFill>
                  <a:srgbClr val="0A0F1A"/>
                </a:solidFill>
                <a:latin typeface="Calibri" pitchFamily="34" charset="0"/>
                <a:ea typeface="Calibri" pitchFamily="34" charset="-122"/>
                <a:cs typeface="Calibri" pitchFamily="34" charset="-120"/>
              </a:rPr>
              <a:t>COBERTURA ESTRATÉGICA</a:t>
            </a:r>
            <a:endParaRPr lang="en-US" sz="1050" dirty="0"/>
          </a:p>
        </p:txBody>
      </p:sp>
      <p:pic>
        <p:nvPicPr>
          <p:cNvPr id="4" name="Image 0" descr="preencoded.png"/>
          <p:cNvPicPr>
            <a:picLocks noChangeAspect="1"/>
          </p:cNvPicPr>
          <p:nvPr/>
        </p:nvPicPr>
        <p:blipFill>
          <a:blip r:embed="rId4"/>
          <a:stretch>
            <a:fillRect/>
          </a:stretch>
        </p:blipFill>
        <p:spPr>
          <a:xfrm>
            <a:off x="11057839" y="384048"/>
            <a:ext cx="457200" cy="457200"/>
          </a:xfrm>
          <a:prstGeom prst="rect">
            <a:avLst/>
          </a:prstGeom>
        </p:spPr>
      </p:pic>
      <p:sp>
        <p:nvSpPr>
          <p:cNvPr id="5" name="Text 2"/>
          <p:cNvSpPr/>
          <p:nvPr/>
        </p:nvSpPr>
        <p:spPr>
          <a:xfrm>
            <a:off x="566928" y="841248"/>
            <a:ext cx="10554919" cy="640080"/>
          </a:xfrm>
          <a:prstGeom prst="rect">
            <a:avLst/>
          </a:prstGeom>
          <a:noFill/>
          <a:ln/>
        </p:spPr>
        <p:txBody>
          <a:bodyPr wrap="square" lIns="0" tIns="0" rIns="0" bIns="0" rtlCol="0" anchor="ctr"/>
          <a:lstStyle/>
          <a:p>
            <a:pPr marL="0" indent="0">
              <a:buNone/>
            </a:pPr>
            <a:r>
              <a:rPr lang="en-US" sz="2700" b="1" dirty="0">
                <a:solidFill>
                  <a:srgbClr val="F3F7FD"/>
                </a:solidFill>
                <a:latin typeface="Georgia" pitchFamily="34" charset="0"/>
                <a:ea typeface="Georgia" pitchFamily="34" charset="-122"/>
                <a:cs typeface="Georgia" pitchFamily="34" charset="-120"/>
              </a:rPr>
              <a:t>100 / 80 / 0 — calidad real, no métrica de vanidad</a:t>
            </a:r>
            <a:endParaRPr lang="en-US" sz="2700" dirty="0"/>
          </a:p>
        </p:txBody>
      </p:sp>
      <p:sp>
        <p:nvSpPr>
          <p:cNvPr id="6" name="Text 3"/>
          <p:cNvSpPr/>
          <p:nvPr/>
        </p:nvSpPr>
        <p:spPr>
          <a:xfrm>
            <a:off x="566928" y="1627632"/>
            <a:ext cx="11064240" cy="640080"/>
          </a:xfrm>
          <a:prstGeom prst="rect">
            <a:avLst/>
          </a:prstGeom>
          <a:noFill/>
          <a:ln/>
        </p:spPr>
        <p:txBody>
          <a:bodyPr wrap="square" rtlCol="0" anchor="t"/>
          <a:lstStyle/>
          <a:p>
            <a:pPr marL="0" indent="0">
              <a:lnSpc>
                <a:spcPct val="110000"/>
              </a:lnSpc>
              <a:buNone/>
            </a:pPr>
            <a:r>
              <a:rPr lang="en-US" sz="1500" dirty="0">
                <a:solidFill>
                  <a:srgbClr val="C3CEDE"/>
                </a:solidFill>
                <a:latin typeface="Calibri" pitchFamily="34" charset="0"/>
                <a:ea typeface="Calibri" pitchFamily="34" charset="-122"/>
                <a:cs typeface="Calibri" pitchFamily="34" charset="-120"/>
              </a:rPr>
              <a:t>No buscamos 100% global: cubrir código generado o primitivos de UI no mejora la calidad. Concentramos el esfuerzo donde un bug rompe el producto.</a:t>
            </a:r>
            <a:endParaRPr lang="en-US" sz="1500" dirty="0"/>
          </a:p>
        </p:txBody>
      </p:sp>
      <p:sp>
        <p:nvSpPr>
          <p:cNvPr id="7" name="Shape 4"/>
          <p:cNvSpPr/>
          <p:nvPr/>
        </p:nvSpPr>
        <p:spPr>
          <a:xfrm>
            <a:off x="566928" y="2331720"/>
            <a:ext cx="3602736" cy="37033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8" name="Image 1" descr="preencoded.png"/>
          <p:cNvPicPr>
            <a:picLocks noChangeAspect="1"/>
          </p:cNvPicPr>
          <p:nvPr/>
        </p:nvPicPr>
        <p:blipFill>
          <a:blip r:embed="rId5"/>
          <a:stretch>
            <a:fillRect/>
          </a:stretch>
        </p:blipFill>
        <p:spPr>
          <a:xfrm>
            <a:off x="566928" y="2331720"/>
            <a:ext cx="3602736" cy="73152"/>
          </a:xfrm>
          <a:prstGeom prst="rect">
            <a:avLst/>
          </a:prstGeom>
        </p:spPr>
      </p:pic>
      <p:pic>
        <p:nvPicPr>
          <p:cNvPr id="9" name="Image 2" descr="preencoded.png"/>
          <p:cNvPicPr>
            <a:picLocks noChangeAspect="1"/>
          </p:cNvPicPr>
          <p:nvPr/>
        </p:nvPicPr>
        <p:blipFill>
          <a:blip r:embed="rId6"/>
          <a:stretch>
            <a:fillRect/>
          </a:stretch>
        </p:blipFill>
        <p:spPr>
          <a:xfrm>
            <a:off x="749808" y="1874520"/>
            <a:ext cx="2011680" cy="2011680"/>
          </a:xfrm>
          <a:prstGeom prst="rect">
            <a:avLst/>
          </a:prstGeom>
        </p:spPr>
      </p:pic>
      <p:sp>
        <p:nvSpPr>
          <p:cNvPr id="10" name="Text 5"/>
          <p:cNvSpPr/>
          <p:nvPr/>
        </p:nvSpPr>
        <p:spPr>
          <a:xfrm>
            <a:off x="841248" y="2542032"/>
            <a:ext cx="3054096" cy="914400"/>
          </a:xfrm>
          <a:prstGeom prst="rect">
            <a:avLst/>
          </a:prstGeom>
          <a:noFill/>
          <a:ln/>
        </p:spPr>
        <p:txBody>
          <a:bodyPr wrap="square" lIns="0" tIns="0" rIns="0" bIns="0" rtlCol="0" anchor="ctr"/>
          <a:lstStyle/>
          <a:p>
            <a:pPr marL="0" indent="0">
              <a:buNone/>
            </a:pPr>
            <a:r>
              <a:rPr lang="en-US" sz="4600" b="1" dirty="0">
                <a:solidFill>
                  <a:srgbClr val="FF6A2B"/>
                </a:solidFill>
                <a:latin typeface="Georgia" pitchFamily="34" charset="0"/>
                <a:ea typeface="Georgia" pitchFamily="34" charset="-122"/>
                <a:cs typeface="Georgia" pitchFamily="34" charset="-120"/>
              </a:rPr>
              <a:t>100%</a:t>
            </a:r>
            <a:endParaRPr lang="en-US" sz="4600" dirty="0"/>
          </a:p>
        </p:txBody>
      </p:sp>
      <p:sp>
        <p:nvSpPr>
          <p:cNvPr id="11" name="Text 6"/>
          <p:cNvSpPr/>
          <p:nvPr/>
        </p:nvSpPr>
        <p:spPr>
          <a:xfrm>
            <a:off x="859536" y="3520440"/>
            <a:ext cx="3054096" cy="365760"/>
          </a:xfrm>
          <a:prstGeom prst="rect">
            <a:avLst/>
          </a:prstGeom>
          <a:noFill/>
          <a:ln/>
        </p:spPr>
        <p:txBody>
          <a:bodyPr wrap="square" lIns="0" tIns="0" rIns="0" bIns="0" rtlCol="0" anchor="ctr"/>
          <a:lstStyle/>
          <a:p>
            <a:pPr marL="0" indent="0">
              <a:buNone/>
            </a:pPr>
            <a:r>
              <a:rPr lang="en-US" sz="1400" b="1" kern="0" spc="100" dirty="0">
                <a:solidFill>
                  <a:srgbClr val="F3F7FD"/>
                </a:solidFill>
                <a:latin typeface="Calibri" pitchFamily="34" charset="0"/>
                <a:ea typeface="Calibri" pitchFamily="34" charset="-122"/>
                <a:cs typeface="Calibri" pitchFamily="34" charset="-120"/>
              </a:rPr>
              <a:t>CORE</a:t>
            </a:r>
            <a:endParaRPr lang="en-US" sz="1400" dirty="0"/>
          </a:p>
        </p:txBody>
      </p:sp>
      <p:pic>
        <p:nvPicPr>
          <p:cNvPr id="12" name="Image 3" descr="preencoded.png"/>
          <p:cNvPicPr>
            <a:picLocks noChangeAspect="1"/>
          </p:cNvPicPr>
          <p:nvPr/>
        </p:nvPicPr>
        <p:blipFill>
          <a:blip r:embed="rId5"/>
          <a:stretch>
            <a:fillRect/>
          </a:stretch>
        </p:blipFill>
        <p:spPr>
          <a:xfrm>
            <a:off x="868680" y="3931920"/>
            <a:ext cx="1097280" cy="45720"/>
          </a:xfrm>
          <a:prstGeom prst="rect">
            <a:avLst/>
          </a:prstGeom>
        </p:spPr>
      </p:pic>
      <p:sp>
        <p:nvSpPr>
          <p:cNvPr id="13" name="Text 7"/>
          <p:cNvSpPr/>
          <p:nvPr/>
        </p:nvSpPr>
        <p:spPr>
          <a:xfrm>
            <a:off x="859536" y="4069080"/>
            <a:ext cx="3035808" cy="1005840"/>
          </a:xfrm>
          <a:prstGeom prst="rect">
            <a:avLst/>
          </a:prstGeom>
          <a:noFill/>
          <a:ln/>
        </p:spPr>
        <p:txBody>
          <a:bodyPr wrap="square" lIns="0" tIns="0" rIns="0" bIns="0" rtlCol="0" anchor="t"/>
          <a:lstStyle/>
          <a:p>
            <a:pPr marL="0" indent="0">
              <a:lnSpc>
                <a:spcPct val="110000"/>
              </a:lnSpc>
              <a:buNone/>
            </a:pPr>
            <a:r>
              <a:rPr lang="en-US" sz="1300" dirty="0">
                <a:solidFill>
                  <a:srgbClr val="C3CEDE"/>
                </a:solidFill>
                <a:latin typeface="Calibri" pitchFamily="34" charset="0"/>
                <a:ea typeface="Calibri" pitchFamily="34" charset="-122"/>
                <a:cs typeface="Calibri" pitchFamily="34" charset="-120"/>
              </a:rPr>
              <a:t>src/lib/** — validación, formateo, lógica de negocio</a:t>
            </a:r>
            <a:endParaRPr lang="en-US" sz="1300" dirty="0"/>
          </a:p>
        </p:txBody>
      </p:sp>
      <p:sp>
        <p:nvSpPr>
          <p:cNvPr id="14" name="Text 8"/>
          <p:cNvSpPr/>
          <p:nvPr/>
        </p:nvSpPr>
        <p:spPr>
          <a:xfrm>
            <a:off x="859536" y="5257800"/>
            <a:ext cx="3035808" cy="640080"/>
          </a:xfrm>
          <a:prstGeom prst="rect">
            <a:avLst/>
          </a:prstGeom>
          <a:noFill/>
          <a:ln/>
        </p:spPr>
        <p:txBody>
          <a:bodyPr wrap="square" lIns="0" tIns="0" rIns="0" bIns="0" rtlCol="0" anchor="t"/>
          <a:lstStyle/>
          <a:p>
            <a:pPr marL="0" indent="0">
              <a:lnSpc>
                <a:spcPct val="105000"/>
              </a:lnSpc>
              <a:buNone/>
            </a:pPr>
            <a:r>
              <a:rPr lang="en-US" sz="1150" i="1" dirty="0">
                <a:solidFill>
                  <a:srgbClr val="FF6A2B"/>
                </a:solidFill>
                <a:latin typeface="Calibri" pitchFamily="34" charset="0"/>
                <a:ea typeface="Calibri" pitchFamily="34" charset="-122"/>
                <a:cs typeface="Calibri" pitchFamily="34" charset="-120"/>
              </a:rPr>
              <a:t>Umbral automatizado ≥90%: la CI rompe si baja</a:t>
            </a:r>
            <a:endParaRPr lang="en-US" sz="1150" dirty="0"/>
          </a:p>
        </p:txBody>
      </p:sp>
      <p:sp>
        <p:nvSpPr>
          <p:cNvPr id="15" name="Shape 9"/>
          <p:cNvSpPr/>
          <p:nvPr/>
        </p:nvSpPr>
        <p:spPr>
          <a:xfrm>
            <a:off x="4462272" y="2331720"/>
            <a:ext cx="3602736" cy="37033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6" name="Image 4" descr="preencoded.png"/>
          <p:cNvPicPr>
            <a:picLocks noChangeAspect="1"/>
          </p:cNvPicPr>
          <p:nvPr/>
        </p:nvPicPr>
        <p:blipFill>
          <a:blip r:embed="rId5"/>
          <a:stretch>
            <a:fillRect/>
          </a:stretch>
        </p:blipFill>
        <p:spPr>
          <a:xfrm>
            <a:off x="4462272" y="2331720"/>
            <a:ext cx="3602736" cy="73152"/>
          </a:xfrm>
          <a:prstGeom prst="rect">
            <a:avLst/>
          </a:prstGeom>
        </p:spPr>
      </p:pic>
      <p:pic>
        <p:nvPicPr>
          <p:cNvPr id="17" name="Image 5" descr="preencoded.png"/>
          <p:cNvPicPr>
            <a:picLocks noChangeAspect="1"/>
          </p:cNvPicPr>
          <p:nvPr/>
        </p:nvPicPr>
        <p:blipFill>
          <a:blip r:embed="rId7"/>
          <a:stretch>
            <a:fillRect/>
          </a:stretch>
        </p:blipFill>
        <p:spPr>
          <a:xfrm>
            <a:off x="4645152" y="1874520"/>
            <a:ext cx="2011680" cy="2011680"/>
          </a:xfrm>
          <a:prstGeom prst="rect">
            <a:avLst/>
          </a:prstGeom>
        </p:spPr>
      </p:pic>
      <p:sp>
        <p:nvSpPr>
          <p:cNvPr id="18" name="Text 10"/>
          <p:cNvSpPr/>
          <p:nvPr/>
        </p:nvSpPr>
        <p:spPr>
          <a:xfrm>
            <a:off x="4736592" y="2542032"/>
            <a:ext cx="3054096" cy="914400"/>
          </a:xfrm>
          <a:prstGeom prst="rect">
            <a:avLst/>
          </a:prstGeom>
          <a:noFill/>
          <a:ln/>
        </p:spPr>
        <p:txBody>
          <a:bodyPr wrap="square" lIns="0" tIns="0" rIns="0" bIns="0" rtlCol="0" anchor="ctr"/>
          <a:lstStyle/>
          <a:p>
            <a:pPr marL="0" indent="0">
              <a:buNone/>
            </a:pPr>
            <a:r>
              <a:rPr lang="en-US" sz="4600" b="1" dirty="0">
                <a:solidFill>
                  <a:srgbClr val="37D6C3"/>
                </a:solidFill>
                <a:latin typeface="Georgia" pitchFamily="34" charset="0"/>
                <a:ea typeface="Georgia" pitchFamily="34" charset="-122"/>
                <a:cs typeface="Georgia" pitchFamily="34" charset="-120"/>
              </a:rPr>
              <a:t>~80%</a:t>
            </a:r>
            <a:endParaRPr lang="en-US" sz="4600" dirty="0"/>
          </a:p>
        </p:txBody>
      </p:sp>
      <p:sp>
        <p:nvSpPr>
          <p:cNvPr id="19" name="Text 11"/>
          <p:cNvSpPr/>
          <p:nvPr/>
        </p:nvSpPr>
        <p:spPr>
          <a:xfrm>
            <a:off x="4754880" y="3520440"/>
            <a:ext cx="3054096" cy="365760"/>
          </a:xfrm>
          <a:prstGeom prst="rect">
            <a:avLst/>
          </a:prstGeom>
          <a:noFill/>
          <a:ln/>
        </p:spPr>
        <p:txBody>
          <a:bodyPr wrap="square" lIns="0" tIns="0" rIns="0" bIns="0" rtlCol="0" anchor="ctr"/>
          <a:lstStyle/>
          <a:p>
            <a:pPr marL="0" indent="0">
              <a:buNone/>
            </a:pPr>
            <a:r>
              <a:rPr lang="en-US" sz="1400" b="1" kern="0" spc="100" dirty="0">
                <a:solidFill>
                  <a:srgbClr val="F3F7FD"/>
                </a:solidFill>
                <a:latin typeface="Calibri" pitchFamily="34" charset="0"/>
                <a:ea typeface="Calibri" pitchFamily="34" charset="-122"/>
                <a:cs typeface="Calibri" pitchFamily="34" charset="-120"/>
              </a:rPr>
              <a:t>IMPORTANT</a:t>
            </a:r>
            <a:endParaRPr lang="en-US" sz="1400" dirty="0"/>
          </a:p>
        </p:txBody>
      </p:sp>
      <p:pic>
        <p:nvPicPr>
          <p:cNvPr id="20" name="Image 6" descr="preencoded.png"/>
          <p:cNvPicPr>
            <a:picLocks noChangeAspect="1"/>
          </p:cNvPicPr>
          <p:nvPr/>
        </p:nvPicPr>
        <p:blipFill>
          <a:blip r:embed="rId5"/>
          <a:stretch>
            <a:fillRect/>
          </a:stretch>
        </p:blipFill>
        <p:spPr>
          <a:xfrm>
            <a:off x="4764024" y="3931920"/>
            <a:ext cx="1097280" cy="45720"/>
          </a:xfrm>
          <a:prstGeom prst="rect">
            <a:avLst/>
          </a:prstGeom>
        </p:spPr>
      </p:pic>
      <p:sp>
        <p:nvSpPr>
          <p:cNvPr id="21" name="Text 12"/>
          <p:cNvSpPr/>
          <p:nvPr/>
        </p:nvSpPr>
        <p:spPr>
          <a:xfrm>
            <a:off x="4754880" y="4069080"/>
            <a:ext cx="3035808" cy="1005840"/>
          </a:xfrm>
          <a:prstGeom prst="rect">
            <a:avLst/>
          </a:prstGeom>
          <a:noFill/>
          <a:ln/>
        </p:spPr>
        <p:txBody>
          <a:bodyPr wrap="square" lIns="0" tIns="0" rIns="0" bIns="0" rtlCol="0" anchor="t"/>
          <a:lstStyle/>
          <a:p>
            <a:pPr marL="0" indent="0">
              <a:lnSpc>
                <a:spcPct val="110000"/>
              </a:lnSpc>
              <a:buNone/>
            </a:pPr>
            <a:r>
              <a:rPr lang="en-US" sz="1300" dirty="0">
                <a:solidFill>
                  <a:srgbClr val="C3CEDE"/>
                </a:solidFill>
                <a:latin typeface="Calibri" pitchFamily="34" charset="0"/>
                <a:ea typeface="Calibri" pitchFamily="34" charset="-122"/>
                <a:cs typeface="Calibri" pitchFamily="34" charset="-120"/>
              </a:rPr>
              <a:t>Componentes, formularios y flujos visibles al usuario</a:t>
            </a:r>
            <a:endParaRPr lang="en-US" sz="1300" dirty="0"/>
          </a:p>
        </p:txBody>
      </p:sp>
      <p:sp>
        <p:nvSpPr>
          <p:cNvPr id="22" name="Text 13"/>
          <p:cNvSpPr/>
          <p:nvPr/>
        </p:nvSpPr>
        <p:spPr>
          <a:xfrm>
            <a:off x="4754880" y="5257800"/>
            <a:ext cx="3035808" cy="640080"/>
          </a:xfrm>
          <a:prstGeom prst="rect">
            <a:avLst/>
          </a:prstGeom>
          <a:noFill/>
          <a:ln/>
        </p:spPr>
        <p:txBody>
          <a:bodyPr wrap="square" lIns="0" tIns="0" rIns="0" bIns="0" rtlCol="0" anchor="t"/>
          <a:lstStyle/>
          <a:p>
            <a:pPr marL="0" indent="0">
              <a:lnSpc>
                <a:spcPct val="105000"/>
              </a:lnSpc>
              <a:buNone/>
            </a:pPr>
            <a:r>
              <a:rPr lang="en-US" sz="1150" i="1" dirty="0">
                <a:solidFill>
                  <a:srgbClr val="37D6C3"/>
                </a:solidFill>
                <a:latin typeface="Calibri" pitchFamily="34" charset="0"/>
                <a:ea typeface="Calibri" pitchFamily="34" charset="-122"/>
                <a:cs typeface="Calibri" pitchFamily="34" charset="-120"/>
              </a:rPr>
              <a:t>Revisión manual en cada PR</a:t>
            </a:r>
            <a:endParaRPr lang="en-US" sz="1150" dirty="0"/>
          </a:p>
        </p:txBody>
      </p:sp>
      <p:sp>
        <p:nvSpPr>
          <p:cNvPr id="23" name="Shape 14"/>
          <p:cNvSpPr/>
          <p:nvPr/>
        </p:nvSpPr>
        <p:spPr>
          <a:xfrm>
            <a:off x="8357616" y="2331720"/>
            <a:ext cx="3602736" cy="37033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24" name="Image 7" descr="preencoded.png"/>
          <p:cNvPicPr>
            <a:picLocks noChangeAspect="1"/>
          </p:cNvPicPr>
          <p:nvPr/>
        </p:nvPicPr>
        <p:blipFill>
          <a:blip r:embed="rId5"/>
          <a:stretch>
            <a:fillRect/>
          </a:stretch>
        </p:blipFill>
        <p:spPr>
          <a:xfrm>
            <a:off x="8357616" y="2331720"/>
            <a:ext cx="3602736" cy="73152"/>
          </a:xfrm>
          <a:prstGeom prst="rect">
            <a:avLst/>
          </a:prstGeom>
        </p:spPr>
      </p:pic>
      <p:sp>
        <p:nvSpPr>
          <p:cNvPr id="25" name="Text 15"/>
          <p:cNvSpPr/>
          <p:nvPr/>
        </p:nvSpPr>
        <p:spPr>
          <a:xfrm>
            <a:off x="8631936" y="2542032"/>
            <a:ext cx="3054096" cy="914400"/>
          </a:xfrm>
          <a:prstGeom prst="rect">
            <a:avLst/>
          </a:prstGeom>
          <a:noFill/>
          <a:ln/>
        </p:spPr>
        <p:txBody>
          <a:bodyPr wrap="square" lIns="0" tIns="0" rIns="0" bIns="0" rtlCol="0" anchor="ctr"/>
          <a:lstStyle/>
          <a:p>
            <a:pPr marL="0" indent="0">
              <a:buNone/>
            </a:pPr>
            <a:r>
              <a:rPr lang="en-US" sz="4600" b="1" dirty="0">
                <a:solidFill>
                  <a:srgbClr val="8492A6"/>
                </a:solidFill>
                <a:latin typeface="Georgia" pitchFamily="34" charset="0"/>
                <a:ea typeface="Georgia" pitchFamily="34" charset="-122"/>
                <a:cs typeface="Georgia" pitchFamily="34" charset="-120"/>
              </a:rPr>
              <a:t>0%</a:t>
            </a:r>
            <a:endParaRPr lang="en-US" sz="4600" dirty="0"/>
          </a:p>
        </p:txBody>
      </p:sp>
      <p:sp>
        <p:nvSpPr>
          <p:cNvPr id="26" name="Text 16"/>
          <p:cNvSpPr/>
          <p:nvPr/>
        </p:nvSpPr>
        <p:spPr>
          <a:xfrm>
            <a:off x="8650224" y="3520440"/>
            <a:ext cx="3054096" cy="365760"/>
          </a:xfrm>
          <a:prstGeom prst="rect">
            <a:avLst/>
          </a:prstGeom>
          <a:noFill/>
          <a:ln/>
        </p:spPr>
        <p:txBody>
          <a:bodyPr wrap="square" lIns="0" tIns="0" rIns="0" bIns="0" rtlCol="0" anchor="ctr"/>
          <a:lstStyle/>
          <a:p>
            <a:pPr marL="0" indent="0">
              <a:buNone/>
            </a:pPr>
            <a:r>
              <a:rPr lang="en-US" sz="1400" b="1" kern="0" spc="100" dirty="0">
                <a:solidFill>
                  <a:srgbClr val="F3F7FD"/>
                </a:solidFill>
                <a:latin typeface="Calibri" pitchFamily="34" charset="0"/>
                <a:ea typeface="Calibri" pitchFamily="34" charset="-122"/>
                <a:cs typeface="Calibri" pitchFamily="34" charset="-120"/>
              </a:rPr>
              <a:t>INFRASTRUCTURE</a:t>
            </a:r>
            <a:endParaRPr lang="en-US" sz="1400" dirty="0"/>
          </a:p>
        </p:txBody>
      </p:sp>
      <p:pic>
        <p:nvPicPr>
          <p:cNvPr id="27" name="Image 8" descr="preencoded.png"/>
          <p:cNvPicPr>
            <a:picLocks noChangeAspect="1"/>
          </p:cNvPicPr>
          <p:nvPr/>
        </p:nvPicPr>
        <p:blipFill>
          <a:blip r:embed="rId5"/>
          <a:stretch>
            <a:fillRect/>
          </a:stretch>
        </p:blipFill>
        <p:spPr>
          <a:xfrm>
            <a:off x="8659368" y="3931920"/>
            <a:ext cx="1097280" cy="45720"/>
          </a:xfrm>
          <a:prstGeom prst="rect">
            <a:avLst/>
          </a:prstGeom>
        </p:spPr>
      </p:pic>
      <p:sp>
        <p:nvSpPr>
          <p:cNvPr id="28" name="Text 17"/>
          <p:cNvSpPr/>
          <p:nvPr/>
        </p:nvSpPr>
        <p:spPr>
          <a:xfrm>
            <a:off x="8650224" y="4069080"/>
            <a:ext cx="3035808" cy="1005840"/>
          </a:xfrm>
          <a:prstGeom prst="rect">
            <a:avLst/>
          </a:prstGeom>
          <a:noFill/>
          <a:ln/>
        </p:spPr>
        <p:txBody>
          <a:bodyPr wrap="square" lIns="0" tIns="0" rIns="0" bIns="0" rtlCol="0" anchor="t"/>
          <a:lstStyle/>
          <a:p>
            <a:pPr marL="0" indent="0">
              <a:lnSpc>
                <a:spcPct val="110000"/>
              </a:lnSpc>
              <a:buNone/>
            </a:pPr>
            <a:r>
              <a:rPr lang="en-US" sz="1300" dirty="0">
                <a:solidFill>
                  <a:srgbClr val="C3CEDE"/>
                </a:solidFill>
                <a:latin typeface="Calibri" pitchFamily="34" charset="0"/>
                <a:ea typeface="Calibri" pitchFamily="34" charset="-122"/>
                <a:cs typeface="Calibri" pitchFamily="34" charset="-120"/>
              </a:rPr>
              <a:t>shadcn/ui, código generado y configuración</a:t>
            </a:r>
            <a:endParaRPr lang="en-US" sz="1300" dirty="0"/>
          </a:p>
        </p:txBody>
      </p:sp>
      <p:sp>
        <p:nvSpPr>
          <p:cNvPr id="29" name="Text 18"/>
          <p:cNvSpPr/>
          <p:nvPr/>
        </p:nvSpPr>
        <p:spPr>
          <a:xfrm>
            <a:off x="8650224" y="5257800"/>
            <a:ext cx="3035808" cy="640080"/>
          </a:xfrm>
          <a:prstGeom prst="rect">
            <a:avLst/>
          </a:prstGeom>
          <a:noFill/>
          <a:ln/>
        </p:spPr>
        <p:txBody>
          <a:bodyPr wrap="square" lIns="0" tIns="0" rIns="0" bIns="0" rtlCol="0" anchor="t"/>
          <a:lstStyle/>
          <a:p>
            <a:pPr marL="0" indent="0">
              <a:lnSpc>
                <a:spcPct val="105000"/>
              </a:lnSpc>
              <a:buNone/>
            </a:pPr>
            <a:r>
              <a:rPr lang="en-US" sz="1150" i="1" dirty="0">
                <a:solidFill>
                  <a:srgbClr val="8492A6"/>
                </a:solidFill>
                <a:latin typeface="Calibri" pitchFamily="34" charset="0"/>
                <a:ea typeface="Calibri" pitchFamily="34" charset="-122"/>
                <a:cs typeface="Calibri" pitchFamily="34" charset="-120"/>
              </a:rPr>
              <a:t>Excluido a propósito (es upstream)</a:t>
            </a:r>
            <a:endParaRPr lang="en-US" sz="1150" dirty="0"/>
          </a:p>
        </p:txBody>
      </p:sp>
      <p:sp>
        <p:nvSpPr>
          <p:cNvPr id="31" name="Text 19"/>
          <p:cNvSpPr/>
          <p:nvPr/>
        </p:nvSpPr>
        <p:spPr>
          <a:xfrm>
            <a:off x="566928" y="6446520"/>
            <a:ext cx="8229600" cy="292608"/>
          </a:xfrm>
          <a:prstGeom prst="rect">
            <a:avLst/>
          </a:prstGeom>
          <a:noFill/>
          <a:ln/>
        </p:spPr>
        <p:txBody>
          <a:bodyPr wrap="square" lIns="0" tIns="0" rIns="0" bIns="0" rtlCol="0" anchor="ctr"/>
          <a:lstStyle/>
          <a:p>
            <a:pPr marL="0" indent="0">
              <a:buNone/>
            </a:pPr>
            <a:r>
              <a:rPr lang="en-US" sz="900" dirty="0">
                <a:solidFill>
                  <a:srgbClr val="8492A6"/>
                </a:solidFill>
                <a:latin typeface="Calibri" pitchFamily="34" charset="0"/>
                <a:ea typeface="Calibri" pitchFamily="34" charset="-122"/>
                <a:cs typeface="Calibri" pitchFamily="34" charset="-120"/>
              </a:rPr>
              <a:t>BuenCholloTech · TFM Máster en Desarrollo con IA 2025</a:t>
            </a:r>
            <a:endParaRPr lang="en-US" sz="900" dirty="0"/>
          </a:p>
        </p:txBody>
      </p:sp>
      <p:sp>
        <p:nvSpPr>
          <p:cNvPr id="32" name="Text 20"/>
          <p:cNvSpPr/>
          <p:nvPr/>
        </p:nvSpPr>
        <p:spPr>
          <a:xfrm>
            <a:off x="10527487" y="6446520"/>
            <a:ext cx="1097280" cy="292608"/>
          </a:xfrm>
          <a:prstGeom prst="rect">
            <a:avLst/>
          </a:prstGeom>
          <a:noFill/>
          <a:ln/>
        </p:spPr>
        <p:txBody>
          <a:bodyPr wrap="square" lIns="0" tIns="0" rIns="0" bIns="0"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928" y="457200"/>
            <a:ext cx="1333195" cy="310896"/>
          </a:xfrm>
          <a:prstGeom prst="roundRect">
            <a:avLst>
              <a:gd name="adj" fmla="val 50000"/>
            </a:avLst>
          </a:prstGeom>
          <a:solidFill>
            <a:srgbClr val="FF6A2B"/>
          </a:solidFill>
          <a:ln/>
        </p:spPr>
        <p:txBody>
          <a:bodyPr/>
          <a:lstStyle/>
          <a:p>
            <a:endParaRPr lang="es-ES"/>
          </a:p>
        </p:txBody>
      </p:sp>
      <p:sp>
        <p:nvSpPr>
          <p:cNvPr id="3" name="Text 1"/>
          <p:cNvSpPr/>
          <p:nvPr/>
        </p:nvSpPr>
        <p:spPr>
          <a:xfrm>
            <a:off x="566928" y="457200"/>
            <a:ext cx="1333195" cy="310896"/>
          </a:xfrm>
          <a:prstGeom prst="rect">
            <a:avLst/>
          </a:prstGeom>
          <a:noFill/>
          <a:ln/>
        </p:spPr>
        <p:txBody>
          <a:bodyPr wrap="square" lIns="0" tIns="0" rIns="0" bIns="0" rtlCol="0" anchor="ctr"/>
          <a:lstStyle/>
          <a:p>
            <a:pPr marL="0" indent="0" algn="ctr">
              <a:buNone/>
            </a:pPr>
            <a:r>
              <a:rPr lang="en-US" sz="1050" b="1" kern="0" spc="100" dirty="0">
                <a:solidFill>
                  <a:srgbClr val="0A0F1A"/>
                </a:solidFill>
                <a:latin typeface="Calibri" pitchFamily="34" charset="0"/>
                <a:ea typeface="Calibri" pitchFamily="34" charset="-122"/>
                <a:cs typeface="Calibri" pitchFamily="34" charset="-120"/>
              </a:rPr>
              <a:t>SEGURIDAD</a:t>
            </a:r>
            <a:endParaRPr lang="en-US" sz="1050" dirty="0"/>
          </a:p>
        </p:txBody>
      </p:sp>
      <p:pic>
        <p:nvPicPr>
          <p:cNvPr id="4" name="Image 0" descr="preencoded.png"/>
          <p:cNvPicPr>
            <a:picLocks noChangeAspect="1"/>
          </p:cNvPicPr>
          <p:nvPr/>
        </p:nvPicPr>
        <p:blipFill>
          <a:blip r:embed="rId4"/>
          <a:stretch>
            <a:fillRect/>
          </a:stretch>
        </p:blipFill>
        <p:spPr>
          <a:xfrm>
            <a:off x="11057839" y="384048"/>
            <a:ext cx="457200" cy="457200"/>
          </a:xfrm>
          <a:prstGeom prst="rect">
            <a:avLst/>
          </a:prstGeom>
        </p:spPr>
      </p:pic>
      <p:sp>
        <p:nvSpPr>
          <p:cNvPr id="5" name="Text 2"/>
          <p:cNvSpPr/>
          <p:nvPr/>
        </p:nvSpPr>
        <p:spPr>
          <a:xfrm>
            <a:off x="566928" y="841248"/>
            <a:ext cx="10554919" cy="640080"/>
          </a:xfrm>
          <a:prstGeom prst="rect">
            <a:avLst/>
          </a:prstGeom>
          <a:noFill/>
          <a:ln/>
        </p:spPr>
        <p:txBody>
          <a:bodyPr wrap="square" lIns="0" tIns="0" rIns="0" bIns="0" rtlCol="0" anchor="ctr"/>
          <a:lstStyle/>
          <a:p>
            <a:pPr marL="0" indent="0">
              <a:buNone/>
            </a:pPr>
            <a:r>
              <a:rPr lang="en-US" sz="2700" b="1" dirty="0">
                <a:solidFill>
                  <a:srgbClr val="F3F7FD"/>
                </a:solidFill>
                <a:latin typeface="Georgia" pitchFamily="34" charset="0"/>
                <a:ea typeface="Georgia" pitchFamily="34" charset="-122"/>
                <a:cs typeface="Georgia" pitchFamily="34" charset="-120"/>
              </a:rPr>
              <a:t>OWASP Top 10: 10 hallazgos, 6 corregidos</a:t>
            </a:r>
            <a:endParaRPr lang="en-US" sz="2700" dirty="0"/>
          </a:p>
        </p:txBody>
      </p:sp>
      <p:sp>
        <p:nvSpPr>
          <p:cNvPr id="6" name="Shape 3"/>
          <p:cNvSpPr/>
          <p:nvPr/>
        </p:nvSpPr>
        <p:spPr>
          <a:xfrm>
            <a:off x="566928" y="1627632"/>
            <a:ext cx="2157984" cy="123444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sp>
        <p:nvSpPr>
          <p:cNvPr id="7" name="Shape 4"/>
          <p:cNvSpPr/>
          <p:nvPr/>
        </p:nvSpPr>
        <p:spPr>
          <a:xfrm>
            <a:off x="566928" y="1627632"/>
            <a:ext cx="2157984" cy="64008"/>
          </a:xfrm>
          <a:prstGeom prst="rect">
            <a:avLst/>
          </a:prstGeom>
          <a:solidFill>
            <a:srgbClr val="46C98B"/>
          </a:solidFill>
          <a:ln/>
        </p:spPr>
        <p:txBody>
          <a:bodyPr/>
          <a:lstStyle/>
          <a:p>
            <a:endParaRPr lang="es-ES"/>
          </a:p>
        </p:txBody>
      </p:sp>
      <p:sp>
        <p:nvSpPr>
          <p:cNvPr id="8" name="Text 5"/>
          <p:cNvSpPr/>
          <p:nvPr/>
        </p:nvSpPr>
        <p:spPr>
          <a:xfrm>
            <a:off x="704088" y="1764792"/>
            <a:ext cx="914400" cy="320040"/>
          </a:xfrm>
          <a:prstGeom prst="rect">
            <a:avLst/>
          </a:prstGeom>
          <a:noFill/>
          <a:ln/>
        </p:spPr>
        <p:txBody>
          <a:bodyPr wrap="square" lIns="0" tIns="0" rIns="0" bIns="0" rtlCol="0" anchor="ctr"/>
          <a:lstStyle/>
          <a:p>
            <a:pPr marL="0" indent="0">
              <a:buNone/>
            </a:pPr>
            <a:r>
              <a:rPr lang="en-US" sz="1500" b="1" dirty="0">
                <a:solidFill>
                  <a:srgbClr val="46C98B"/>
                </a:solidFill>
                <a:latin typeface="Georgia" pitchFamily="34" charset="0"/>
                <a:ea typeface="Georgia" pitchFamily="34" charset="-122"/>
                <a:cs typeface="Georgia" pitchFamily="34" charset="-120"/>
              </a:rPr>
              <a:t>A01</a:t>
            </a:r>
            <a:endParaRPr lang="en-US" sz="1500" dirty="0"/>
          </a:p>
        </p:txBody>
      </p:sp>
      <p:pic>
        <p:nvPicPr>
          <p:cNvPr id="9" name="Image 1" descr="preencoded.png"/>
          <p:cNvPicPr>
            <a:picLocks noChangeAspect="1"/>
          </p:cNvPicPr>
          <p:nvPr/>
        </p:nvPicPr>
        <p:blipFill>
          <a:blip r:embed="rId5"/>
          <a:stretch>
            <a:fillRect/>
          </a:stretch>
        </p:blipFill>
        <p:spPr>
          <a:xfrm>
            <a:off x="2267712" y="1773936"/>
            <a:ext cx="292608" cy="292608"/>
          </a:xfrm>
          <a:prstGeom prst="rect">
            <a:avLst/>
          </a:prstGeom>
        </p:spPr>
      </p:pic>
      <p:sp>
        <p:nvSpPr>
          <p:cNvPr id="10" name="Text 6"/>
          <p:cNvSpPr/>
          <p:nvPr/>
        </p:nvSpPr>
        <p:spPr>
          <a:xfrm>
            <a:off x="704088" y="2130552"/>
            <a:ext cx="1883664" cy="640080"/>
          </a:xfrm>
          <a:prstGeom prst="rect">
            <a:avLst/>
          </a:prstGeom>
          <a:noFill/>
          <a:ln/>
        </p:spPr>
        <p:txBody>
          <a:bodyPr wrap="square" lIns="0" tIns="0" rIns="0" bIns="0" rtlCol="0" anchor="t"/>
          <a:lstStyle/>
          <a:p>
            <a:pPr marL="0" indent="0">
              <a:buNone/>
            </a:pPr>
            <a:r>
              <a:rPr lang="en-US" sz="1200" dirty="0">
                <a:solidFill>
                  <a:srgbClr val="C3CEDE"/>
                </a:solidFill>
                <a:latin typeface="Calibri" pitchFamily="34" charset="0"/>
                <a:ea typeface="Calibri" pitchFamily="34" charset="-122"/>
                <a:cs typeface="Calibri" pitchFamily="34" charset="-120"/>
              </a:rPr>
              <a:t>Control de acceso</a:t>
            </a:r>
            <a:endParaRPr lang="en-US" sz="1200" dirty="0"/>
          </a:p>
        </p:txBody>
      </p:sp>
      <p:sp>
        <p:nvSpPr>
          <p:cNvPr id="11" name="Shape 7"/>
          <p:cNvSpPr/>
          <p:nvPr/>
        </p:nvSpPr>
        <p:spPr>
          <a:xfrm>
            <a:off x="2889504" y="1627632"/>
            <a:ext cx="2157984" cy="123444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sp>
        <p:nvSpPr>
          <p:cNvPr id="12" name="Shape 8"/>
          <p:cNvSpPr/>
          <p:nvPr/>
        </p:nvSpPr>
        <p:spPr>
          <a:xfrm>
            <a:off x="2889504" y="1627632"/>
            <a:ext cx="2157984" cy="64008"/>
          </a:xfrm>
          <a:prstGeom prst="rect">
            <a:avLst/>
          </a:prstGeom>
          <a:solidFill>
            <a:srgbClr val="46C98B"/>
          </a:solidFill>
          <a:ln/>
        </p:spPr>
        <p:txBody>
          <a:bodyPr/>
          <a:lstStyle/>
          <a:p>
            <a:endParaRPr lang="es-ES"/>
          </a:p>
        </p:txBody>
      </p:sp>
      <p:sp>
        <p:nvSpPr>
          <p:cNvPr id="13" name="Text 9"/>
          <p:cNvSpPr/>
          <p:nvPr/>
        </p:nvSpPr>
        <p:spPr>
          <a:xfrm>
            <a:off x="3026664" y="1764792"/>
            <a:ext cx="914400" cy="320040"/>
          </a:xfrm>
          <a:prstGeom prst="rect">
            <a:avLst/>
          </a:prstGeom>
          <a:noFill/>
          <a:ln/>
        </p:spPr>
        <p:txBody>
          <a:bodyPr wrap="square" lIns="0" tIns="0" rIns="0" bIns="0" rtlCol="0" anchor="ctr"/>
          <a:lstStyle/>
          <a:p>
            <a:pPr marL="0" indent="0">
              <a:buNone/>
            </a:pPr>
            <a:r>
              <a:rPr lang="en-US" sz="1500" b="1" dirty="0">
                <a:solidFill>
                  <a:srgbClr val="46C98B"/>
                </a:solidFill>
                <a:latin typeface="Georgia" pitchFamily="34" charset="0"/>
                <a:ea typeface="Georgia" pitchFamily="34" charset="-122"/>
                <a:cs typeface="Georgia" pitchFamily="34" charset="-120"/>
              </a:rPr>
              <a:t>A02</a:t>
            </a:r>
            <a:endParaRPr lang="en-US" sz="1500" dirty="0"/>
          </a:p>
        </p:txBody>
      </p:sp>
      <p:pic>
        <p:nvPicPr>
          <p:cNvPr id="14" name="Image 2" descr="preencoded.png"/>
          <p:cNvPicPr>
            <a:picLocks noChangeAspect="1"/>
          </p:cNvPicPr>
          <p:nvPr/>
        </p:nvPicPr>
        <p:blipFill>
          <a:blip r:embed="rId5"/>
          <a:stretch>
            <a:fillRect/>
          </a:stretch>
        </p:blipFill>
        <p:spPr>
          <a:xfrm>
            <a:off x="4590288" y="1773936"/>
            <a:ext cx="292608" cy="292608"/>
          </a:xfrm>
          <a:prstGeom prst="rect">
            <a:avLst/>
          </a:prstGeom>
        </p:spPr>
      </p:pic>
      <p:sp>
        <p:nvSpPr>
          <p:cNvPr id="15" name="Text 10"/>
          <p:cNvSpPr/>
          <p:nvPr/>
        </p:nvSpPr>
        <p:spPr>
          <a:xfrm>
            <a:off x="3026664" y="2130552"/>
            <a:ext cx="1883664" cy="640080"/>
          </a:xfrm>
          <a:prstGeom prst="rect">
            <a:avLst/>
          </a:prstGeom>
          <a:noFill/>
          <a:ln/>
        </p:spPr>
        <p:txBody>
          <a:bodyPr wrap="square" lIns="0" tIns="0" rIns="0" bIns="0" rtlCol="0" anchor="t"/>
          <a:lstStyle/>
          <a:p>
            <a:pPr marL="0" indent="0">
              <a:buNone/>
            </a:pPr>
            <a:r>
              <a:rPr lang="en-US" sz="1200" dirty="0">
                <a:solidFill>
                  <a:srgbClr val="C3CEDE"/>
                </a:solidFill>
                <a:latin typeface="Calibri" pitchFamily="34" charset="0"/>
                <a:ea typeface="Calibri" pitchFamily="34" charset="-122"/>
                <a:cs typeface="Calibri" pitchFamily="34" charset="-120"/>
              </a:rPr>
              <a:t>Fallos criptográficos</a:t>
            </a:r>
            <a:endParaRPr lang="en-US" sz="1200" dirty="0"/>
          </a:p>
        </p:txBody>
      </p:sp>
      <p:sp>
        <p:nvSpPr>
          <p:cNvPr id="16" name="Shape 11"/>
          <p:cNvSpPr/>
          <p:nvPr/>
        </p:nvSpPr>
        <p:spPr>
          <a:xfrm>
            <a:off x="5212080" y="1627632"/>
            <a:ext cx="2157984" cy="123444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sp>
        <p:nvSpPr>
          <p:cNvPr id="17" name="Shape 12"/>
          <p:cNvSpPr/>
          <p:nvPr/>
        </p:nvSpPr>
        <p:spPr>
          <a:xfrm>
            <a:off x="5212080" y="1627632"/>
            <a:ext cx="2157984" cy="64008"/>
          </a:xfrm>
          <a:prstGeom prst="rect">
            <a:avLst/>
          </a:prstGeom>
          <a:solidFill>
            <a:srgbClr val="46C98B"/>
          </a:solidFill>
          <a:ln/>
        </p:spPr>
        <p:txBody>
          <a:bodyPr/>
          <a:lstStyle/>
          <a:p>
            <a:endParaRPr lang="es-ES"/>
          </a:p>
        </p:txBody>
      </p:sp>
      <p:sp>
        <p:nvSpPr>
          <p:cNvPr id="18" name="Text 13"/>
          <p:cNvSpPr/>
          <p:nvPr/>
        </p:nvSpPr>
        <p:spPr>
          <a:xfrm>
            <a:off x="5349240" y="1764792"/>
            <a:ext cx="914400" cy="320040"/>
          </a:xfrm>
          <a:prstGeom prst="rect">
            <a:avLst/>
          </a:prstGeom>
          <a:noFill/>
          <a:ln/>
        </p:spPr>
        <p:txBody>
          <a:bodyPr wrap="square" lIns="0" tIns="0" rIns="0" bIns="0" rtlCol="0" anchor="ctr"/>
          <a:lstStyle/>
          <a:p>
            <a:pPr marL="0" indent="0">
              <a:buNone/>
            </a:pPr>
            <a:r>
              <a:rPr lang="en-US" sz="1500" b="1" dirty="0">
                <a:solidFill>
                  <a:srgbClr val="46C98B"/>
                </a:solidFill>
                <a:latin typeface="Georgia" pitchFamily="34" charset="0"/>
                <a:ea typeface="Georgia" pitchFamily="34" charset="-122"/>
                <a:cs typeface="Georgia" pitchFamily="34" charset="-120"/>
              </a:rPr>
              <a:t>A03</a:t>
            </a:r>
            <a:endParaRPr lang="en-US" sz="1500" dirty="0"/>
          </a:p>
        </p:txBody>
      </p:sp>
      <p:pic>
        <p:nvPicPr>
          <p:cNvPr id="19" name="Image 3" descr="preencoded.png"/>
          <p:cNvPicPr>
            <a:picLocks noChangeAspect="1"/>
          </p:cNvPicPr>
          <p:nvPr/>
        </p:nvPicPr>
        <p:blipFill>
          <a:blip r:embed="rId5"/>
          <a:stretch>
            <a:fillRect/>
          </a:stretch>
        </p:blipFill>
        <p:spPr>
          <a:xfrm>
            <a:off x="6912864" y="1773936"/>
            <a:ext cx="292608" cy="292608"/>
          </a:xfrm>
          <a:prstGeom prst="rect">
            <a:avLst/>
          </a:prstGeom>
        </p:spPr>
      </p:pic>
      <p:sp>
        <p:nvSpPr>
          <p:cNvPr id="20" name="Text 14"/>
          <p:cNvSpPr/>
          <p:nvPr/>
        </p:nvSpPr>
        <p:spPr>
          <a:xfrm>
            <a:off x="5349240" y="2130552"/>
            <a:ext cx="1883664" cy="640080"/>
          </a:xfrm>
          <a:prstGeom prst="rect">
            <a:avLst/>
          </a:prstGeom>
          <a:noFill/>
          <a:ln/>
        </p:spPr>
        <p:txBody>
          <a:bodyPr wrap="square" lIns="0" tIns="0" rIns="0" bIns="0" rtlCol="0" anchor="t"/>
          <a:lstStyle/>
          <a:p>
            <a:pPr marL="0" indent="0">
              <a:buNone/>
            </a:pPr>
            <a:r>
              <a:rPr lang="en-US" sz="1200" dirty="0">
                <a:solidFill>
                  <a:srgbClr val="C3CEDE"/>
                </a:solidFill>
                <a:latin typeface="Calibri" pitchFamily="34" charset="0"/>
                <a:ea typeface="Calibri" pitchFamily="34" charset="-122"/>
                <a:cs typeface="Calibri" pitchFamily="34" charset="-120"/>
              </a:rPr>
              <a:t>Inyección</a:t>
            </a:r>
            <a:endParaRPr lang="en-US" sz="1200" dirty="0"/>
          </a:p>
        </p:txBody>
      </p:sp>
      <p:sp>
        <p:nvSpPr>
          <p:cNvPr id="21" name="Shape 15"/>
          <p:cNvSpPr/>
          <p:nvPr/>
        </p:nvSpPr>
        <p:spPr>
          <a:xfrm>
            <a:off x="7534656" y="1627632"/>
            <a:ext cx="2157984" cy="123444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sp>
        <p:nvSpPr>
          <p:cNvPr id="22" name="Shape 16"/>
          <p:cNvSpPr/>
          <p:nvPr/>
        </p:nvSpPr>
        <p:spPr>
          <a:xfrm>
            <a:off x="7534656" y="1627632"/>
            <a:ext cx="2157984" cy="64008"/>
          </a:xfrm>
          <a:prstGeom prst="rect">
            <a:avLst/>
          </a:prstGeom>
          <a:solidFill>
            <a:srgbClr val="46C98B"/>
          </a:solidFill>
          <a:ln/>
        </p:spPr>
        <p:txBody>
          <a:bodyPr/>
          <a:lstStyle/>
          <a:p>
            <a:endParaRPr lang="es-ES"/>
          </a:p>
        </p:txBody>
      </p:sp>
      <p:sp>
        <p:nvSpPr>
          <p:cNvPr id="23" name="Text 17"/>
          <p:cNvSpPr/>
          <p:nvPr/>
        </p:nvSpPr>
        <p:spPr>
          <a:xfrm>
            <a:off x="7671816" y="1764792"/>
            <a:ext cx="914400" cy="320040"/>
          </a:xfrm>
          <a:prstGeom prst="rect">
            <a:avLst/>
          </a:prstGeom>
          <a:noFill/>
          <a:ln/>
        </p:spPr>
        <p:txBody>
          <a:bodyPr wrap="square" lIns="0" tIns="0" rIns="0" bIns="0" rtlCol="0" anchor="ctr"/>
          <a:lstStyle/>
          <a:p>
            <a:pPr marL="0" indent="0">
              <a:buNone/>
            </a:pPr>
            <a:r>
              <a:rPr lang="en-US" sz="1500" b="1" dirty="0">
                <a:solidFill>
                  <a:srgbClr val="46C98B"/>
                </a:solidFill>
                <a:latin typeface="Georgia" pitchFamily="34" charset="0"/>
                <a:ea typeface="Georgia" pitchFamily="34" charset="-122"/>
                <a:cs typeface="Georgia" pitchFamily="34" charset="-120"/>
              </a:rPr>
              <a:t>A04</a:t>
            </a:r>
            <a:endParaRPr lang="en-US" sz="1500" dirty="0"/>
          </a:p>
        </p:txBody>
      </p:sp>
      <p:pic>
        <p:nvPicPr>
          <p:cNvPr id="24" name="Image 4" descr="preencoded.png"/>
          <p:cNvPicPr>
            <a:picLocks noChangeAspect="1"/>
          </p:cNvPicPr>
          <p:nvPr/>
        </p:nvPicPr>
        <p:blipFill>
          <a:blip r:embed="rId5"/>
          <a:stretch>
            <a:fillRect/>
          </a:stretch>
        </p:blipFill>
        <p:spPr>
          <a:xfrm>
            <a:off x="9235440" y="1773936"/>
            <a:ext cx="292608" cy="292608"/>
          </a:xfrm>
          <a:prstGeom prst="rect">
            <a:avLst/>
          </a:prstGeom>
        </p:spPr>
      </p:pic>
      <p:sp>
        <p:nvSpPr>
          <p:cNvPr id="25" name="Text 18"/>
          <p:cNvSpPr/>
          <p:nvPr/>
        </p:nvSpPr>
        <p:spPr>
          <a:xfrm>
            <a:off x="7671816" y="2130552"/>
            <a:ext cx="1883664" cy="640080"/>
          </a:xfrm>
          <a:prstGeom prst="rect">
            <a:avLst/>
          </a:prstGeom>
          <a:noFill/>
          <a:ln/>
        </p:spPr>
        <p:txBody>
          <a:bodyPr wrap="square" lIns="0" tIns="0" rIns="0" bIns="0" rtlCol="0" anchor="t"/>
          <a:lstStyle/>
          <a:p>
            <a:pPr marL="0" indent="0">
              <a:buNone/>
            </a:pPr>
            <a:r>
              <a:rPr lang="en-US" sz="1200" dirty="0">
                <a:solidFill>
                  <a:srgbClr val="C3CEDE"/>
                </a:solidFill>
                <a:latin typeface="Calibri" pitchFamily="34" charset="0"/>
                <a:ea typeface="Calibri" pitchFamily="34" charset="-122"/>
                <a:cs typeface="Calibri" pitchFamily="34" charset="-120"/>
              </a:rPr>
              <a:t>Diseño inseguro</a:t>
            </a:r>
            <a:endParaRPr lang="en-US" sz="1200" dirty="0"/>
          </a:p>
        </p:txBody>
      </p:sp>
      <p:sp>
        <p:nvSpPr>
          <p:cNvPr id="26" name="Shape 19"/>
          <p:cNvSpPr/>
          <p:nvPr/>
        </p:nvSpPr>
        <p:spPr>
          <a:xfrm>
            <a:off x="9857232" y="1627632"/>
            <a:ext cx="2157984" cy="123444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sp>
        <p:nvSpPr>
          <p:cNvPr id="27" name="Shape 20"/>
          <p:cNvSpPr/>
          <p:nvPr/>
        </p:nvSpPr>
        <p:spPr>
          <a:xfrm>
            <a:off x="9857232" y="1627632"/>
            <a:ext cx="2157984" cy="64008"/>
          </a:xfrm>
          <a:prstGeom prst="rect">
            <a:avLst/>
          </a:prstGeom>
          <a:solidFill>
            <a:srgbClr val="46C98B"/>
          </a:solidFill>
          <a:ln/>
        </p:spPr>
        <p:txBody>
          <a:bodyPr/>
          <a:lstStyle/>
          <a:p>
            <a:endParaRPr lang="es-ES"/>
          </a:p>
        </p:txBody>
      </p:sp>
      <p:sp>
        <p:nvSpPr>
          <p:cNvPr id="28" name="Text 21"/>
          <p:cNvSpPr/>
          <p:nvPr/>
        </p:nvSpPr>
        <p:spPr>
          <a:xfrm>
            <a:off x="9994392" y="1764792"/>
            <a:ext cx="914400" cy="320040"/>
          </a:xfrm>
          <a:prstGeom prst="rect">
            <a:avLst/>
          </a:prstGeom>
          <a:noFill/>
          <a:ln/>
        </p:spPr>
        <p:txBody>
          <a:bodyPr wrap="square" lIns="0" tIns="0" rIns="0" bIns="0" rtlCol="0" anchor="ctr"/>
          <a:lstStyle/>
          <a:p>
            <a:pPr marL="0" indent="0">
              <a:buNone/>
            </a:pPr>
            <a:r>
              <a:rPr lang="en-US" sz="1500" b="1" dirty="0">
                <a:solidFill>
                  <a:srgbClr val="46C98B"/>
                </a:solidFill>
                <a:latin typeface="Georgia" pitchFamily="34" charset="0"/>
                <a:ea typeface="Georgia" pitchFamily="34" charset="-122"/>
                <a:cs typeface="Georgia" pitchFamily="34" charset="-120"/>
              </a:rPr>
              <a:t>A05</a:t>
            </a:r>
            <a:endParaRPr lang="en-US" sz="1500" dirty="0"/>
          </a:p>
        </p:txBody>
      </p:sp>
      <p:pic>
        <p:nvPicPr>
          <p:cNvPr id="29" name="Image 5" descr="preencoded.png"/>
          <p:cNvPicPr>
            <a:picLocks noChangeAspect="1"/>
          </p:cNvPicPr>
          <p:nvPr/>
        </p:nvPicPr>
        <p:blipFill>
          <a:blip r:embed="rId5"/>
          <a:stretch>
            <a:fillRect/>
          </a:stretch>
        </p:blipFill>
        <p:spPr>
          <a:xfrm>
            <a:off x="11558016" y="1773936"/>
            <a:ext cx="292608" cy="292608"/>
          </a:xfrm>
          <a:prstGeom prst="rect">
            <a:avLst/>
          </a:prstGeom>
        </p:spPr>
      </p:pic>
      <p:sp>
        <p:nvSpPr>
          <p:cNvPr id="30" name="Text 22"/>
          <p:cNvSpPr/>
          <p:nvPr/>
        </p:nvSpPr>
        <p:spPr>
          <a:xfrm>
            <a:off x="9994392" y="2130552"/>
            <a:ext cx="1883664" cy="640080"/>
          </a:xfrm>
          <a:prstGeom prst="rect">
            <a:avLst/>
          </a:prstGeom>
          <a:noFill/>
          <a:ln/>
        </p:spPr>
        <p:txBody>
          <a:bodyPr wrap="square" lIns="0" tIns="0" rIns="0" bIns="0" rtlCol="0" anchor="t"/>
          <a:lstStyle/>
          <a:p>
            <a:pPr marL="0" indent="0">
              <a:buNone/>
            </a:pPr>
            <a:r>
              <a:rPr lang="en-US" sz="1200" dirty="0">
                <a:solidFill>
                  <a:srgbClr val="C3CEDE"/>
                </a:solidFill>
                <a:latin typeface="Calibri" pitchFamily="34" charset="0"/>
                <a:ea typeface="Calibri" pitchFamily="34" charset="-122"/>
                <a:cs typeface="Calibri" pitchFamily="34" charset="-120"/>
              </a:rPr>
              <a:t>Mala configuración</a:t>
            </a:r>
            <a:endParaRPr lang="en-US" sz="1200" dirty="0"/>
          </a:p>
        </p:txBody>
      </p:sp>
      <p:sp>
        <p:nvSpPr>
          <p:cNvPr id="31" name="Shape 23"/>
          <p:cNvSpPr/>
          <p:nvPr/>
        </p:nvSpPr>
        <p:spPr>
          <a:xfrm>
            <a:off x="566928" y="3081528"/>
            <a:ext cx="2157984" cy="123444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sp>
        <p:nvSpPr>
          <p:cNvPr id="32" name="Shape 24"/>
          <p:cNvSpPr/>
          <p:nvPr/>
        </p:nvSpPr>
        <p:spPr>
          <a:xfrm>
            <a:off x="566928" y="3081528"/>
            <a:ext cx="2157984" cy="64008"/>
          </a:xfrm>
          <a:prstGeom prst="rect">
            <a:avLst/>
          </a:prstGeom>
          <a:solidFill>
            <a:srgbClr val="46C98B"/>
          </a:solidFill>
          <a:ln/>
        </p:spPr>
        <p:txBody>
          <a:bodyPr/>
          <a:lstStyle/>
          <a:p>
            <a:endParaRPr lang="es-ES"/>
          </a:p>
        </p:txBody>
      </p:sp>
      <p:sp>
        <p:nvSpPr>
          <p:cNvPr id="33" name="Text 25"/>
          <p:cNvSpPr/>
          <p:nvPr/>
        </p:nvSpPr>
        <p:spPr>
          <a:xfrm>
            <a:off x="704088" y="3218688"/>
            <a:ext cx="914400" cy="320040"/>
          </a:xfrm>
          <a:prstGeom prst="rect">
            <a:avLst/>
          </a:prstGeom>
          <a:noFill/>
          <a:ln/>
        </p:spPr>
        <p:txBody>
          <a:bodyPr wrap="square" lIns="0" tIns="0" rIns="0" bIns="0" rtlCol="0" anchor="ctr"/>
          <a:lstStyle/>
          <a:p>
            <a:pPr marL="0" indent="0">
              <a:buNone/>
            </a:pPr>
            <a:r>
              <a:rPr lang="en-US" sz="1500" b="1" dirty="0">
                <a:solidFill>
                  <a:srgbClr val="46C98B"/>
                </a:solidFill>
                <a:latin typeface="Georgia" pitchFamily="34" charset="0"/>
                <a:ea typeface="Georgia" pitchFamily="34" charset="-122"/>
                <a:cs typeface="Georgia" pitchFamily="34" charset="-120"/>
              </a:rPr>
              <a:t>A06</a:t>
            </a:r>
            <a:endParaRPr lang="en-US" sz="1500" dirty="0"/>
          </a:p>
        </p:txBody>
      </p:sp>
      <p:pic>
        <p:nvPicPr>
          <p:cNvPr id="34" name="Image 6" descr="preencoded.png"/>
          <p:cNvPicPr>
            <a:picLocks noChangeAspect="1"/>
          </p:cNvPicPr>
          <p:nvPr/>
        </p:nvPicPr>
        <p:blipFill>
          <a:blip r:embed="rId5"/>
          <a:stretch>
            <a:fillRect/>
          </a:stretch>
        </p:blipFill>
        <p:spPr>
          <a:xfrm>
            <a:off x="2267712" y="3227832"/>
            <a:ext cx="292608" cy="292608"/>
          </a:xfrm>
          <a:prstGeom prst="rect">
            <a:avLst/>
          </a:prstGeom>
        </p:spPr>
      </p:pic>
      <p:sp>
        <p:nvSpPr>
          <p:cNvPr id="35" name="Text 26"/>
          <p:cNvSpPr/>
          <p:nvPr/>
        </p:nvSpPr>
        <p:spPr>
          <a:xfrm>
            <a:off x="704088" y="3584448"/>
            <a:ext cx="1883664" cy="640080"/>
          </a:xfrm>
          <a:prstGeom prst="rect">
            <a:avLst/>
          </a:prstGeom>
          <a:noFill/>
          <a:ln/>
        </p:spPr>
        <p:txBody>
          <a:bodyPr wrap="square" lIns="0" tIns="0" rIns="0" bIns="0" rtlCol="0" anchor="t"/>
          <a:lstStyle/>
          <a:p>
            <a:pPr marL="0" indent="0">
              <a:buNone/>
            </a:pPr>
            <a:r>
              <a:rPr lang="en-US" sz="1200" dirty="0">
                <a:solidFill>
                  <a:srgbClr val="C3CEDE"/>
                </a:solidFill>
                <a:latin typeface="Calibri" pitchFamily="34" charset="0"/>
                <a:ea typeface="Calibri" pitchFamily="34" charset="-122"/>
                <a:cs typeface="Calibri" pitchFamily="34" charset="-120"/>
              </a:rPr>
              <a:t>Componentes vulnerables</a:t>
            </a:r>
            <a:endParaRPr lang="en-US" sz="1200" dirty="0"/>
          </a:p>
        </p:txBody>
      </p:sp>
      <p:sp>
        <p:nvSpPr>
          <p:cNvPr id="36" name="Shape 27"/>
          <p:cNvSpPr/>
          <p:nvPr/>
        </p:nvSpPr>
        <p:spPr>
          <a:xfrm>
            <a:off x="2889504" y="3081528"/>
            <a:ext cx="2157984" cy="123444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sp>
        <p:nvSpPr>
          <p:cNvPr id="37" name="Shape 28"/>
          <p:cNvSpPr/>
          <p:nvPr/>
        </p:nvSpPr>
        <p:spPr>
          <a:xfrm>
            <a:off x="2889504" y="3081528"/>
            <a:ext cx="2157984" cy="64008"/>
          </a:xfrm>
          <a:prstGeom prst="rect">
            <a:avLst/>
          </a:prstGeom>
          <a:solidFill>
            <a:srgbClr val="46C98B"/>
          </a:solidFill>
          <a:ln/>
        </p:spPr>
        <p:txBody>
          <a:bodyPr/>
          <a:lstStyle/>
          <a:p>
            <a:endParaRPr lang="es-ES"/>
          </a:p>
        </p:txBody>
      </p:sp>
      <p:sp>
        <p:nvSpPr>
          <p:cNvPr id="38" name="Text 29"/>
          <p:cNvSpPr/>
          <p:nvPr/>
        </p:nvSpPr>
        <p:spPr>
          <a:xfrm>
            <a:off x="3026664" y="3218688"/>
            <a:ext cx="914400" cy="320040"/>
          </a:xfrm>
          <a:prstGeom prst="rect">
            <a:avLst/>
          </a:prstGeom>
          <a:noFill/>
          <a:ln/>
        </p:spPr>
        <p:txBody>
          <a:bodyPr wrap="square" lIns="0" tIns="0" rIns="0" bIns="0" rtlCol="0" anchor="ctr"/>
          <a:lstStyle/>
          <a:p>
            <a:pPr marL="0" indent="0">
              <a:buNone/>
            </a:pPr>
            <a:r>
              <a:rPr lang="en-US" sz="1500" b="1" dirty="0">
                <a:solidFill>
                  <a:srgbClr val="46C98B"/>
                </a:solidFill>
                <a:latin typeface="Georgia" pitchFamily="34" charset="0"/>
                <a:ea typeface="Georgia" pitchFamily="34" charset="-122"/>
                <a:cs typeface="Georgia" pitchFamily="34" charset="-120"/>
              </a:rPr>
              <a:t>A07</a:t>
            </a:r>
            <a:endParaRPr lang="en-US" sz="1500" dirty="0"/>
          </a:p>
        </p:txBody>
      </p:sp>
      <p:pic>
        <p:nvPicPr>
          <p:cNvPr id="39" name="Image 7" descr="preencoded.png"/>
          <p:cNvPicPr>
            <a:picLocks noChangeAspect="1"/>
          </p:cNvPicPr>
          <p:nvPr/>
        </p:nvPicPr>
        <p:blipFill>
          <a:blip r:embed="rId5"/>
          <a:stretch>
            <a:fillRect/>
          </a:stretch>
        </p:blipFill>
        <p:spPr>
          <a:xfrm>
            <a:off x="4590288" y="3227832"/>
            <a:ext cx="292608" cy="292608"/>
          </a:xfrm>
          <a:prstGeom prst="rect">
            <a:avLst/>
          </a:prstGeom>
        </p:spPr>
      </p:pic>
      <p:sp>
        <p:nvSpPr>
          <p:cNvPr id="40" name="Text 30"/>
          <p:cNvSpPr/>
          <p:nvPr/>
        </p:nvSpPr>
        <p:spPr>
          <a:xfrm>
            <a:off x="3026664" y="3584448"/>
            <a:ext cx="1883664" cy="640080"/>
          </a:xfrm>
          <a:prstGeom prst="rect">
            <a:avLst/>
          </a:prstGeom>
          <a:noFill/>
          <a:ln/>
        </p:spPr>
        <p:txBody>
          <a:bodyPr wrap="square" lIns="0" tIns="0" rIns="0" bIns="0" rtlCol="0" anchor="t"/>
          <a:lstStyle/>
          <a:p>
            <a:pPr marL="0" indent="0">
              <a:buNone/>
            </a:pPr>
            <a:r>
              <a:rPr lang="en-US" sz="1200" dirty="0">
                <a:solidFill>
                  <a:srgbClr val="C3CEDE"/>
                </a:solidFill>
                <a:latin typeface="Calibri" pitchFamily="34" charset="0"/>
                <a:ea typeface="Calibri" pitchFamily="34" charset="-122"/>
                <a:cs typeface="Calibri" pitchFamily="34" charset="-120"/>
              </a:rPr>
              <a:t>Fallos de autenticación</a:t>
            </a:r>
            <a:endParaRPr lang="en-US" sz="1200" dirty="0"/>
          </a:p>
        </p:txBody>
      </p:sp>
      <p:sp>
        <p:nvSpPr>
          <p:cNvPr id="41" name="Shape 31"/>
          <p:cNvSpPr/>
          <p:nvPr/>
        </p:nvSpPr>
        <p:spPr>
          <a:xfrm>
            <a:off x="5212080" y="3081528"/>
            <a:ext cx="2157984" cy="123444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sp>
        <p:nvSpPr>
          <p:cNvPr id="42" name="Shape 32"/>
          <p:cNvSpPr/>
          <p:nvPr/>
        </p:nvSpPr>
        <p:spPr>
          <a:xfrm>
            <a:off x="5212080" y="3081528"/>
            <a:ext cx="2157984" cy="64008"/>
          </a:xfrm>
          <a:prstGeom prst="rect">
            <a:avLst/>
          </a:prstGeom>
          <a:solidFill>
            <a:srgbClr val="46C98B"/>
          </a:solidFill>
          <a:ln/>
        </p:spPr>
        <p:txBody>
          <a:bodyPr/>
          <a:lstStyle/>
          <a:p>
            <a:endParaRPr lang="es-ES"/>
          </a:p>
        </p:txBody>
      </p:sp>
      <p:sp>
        <p:nvSpPr>
          <p:cNvPr id="43" name="Text 33"/>
          <p:cNvSpPr/>
          <p:nvPr/>
        </p:nvSpPr>
        <p:spPr>
          <a:xfrm>
            <a:off x="5349240" y="3218688"/>
            <a:ext cx="914400" cy="320040"/>
          </a:xfrm>
          <a:prstGeom prst="rect">
            <a:avLst/>
          </a:prstGeom>
          <a:noFill/>
          <a:ln/>
        </p:spPr>
        <p:txBody>
          <a:bodyPr wrap="square" lIns="0" tIns="0" rIns="0" bIns="0" rtlCol="0" anchor="ctr"/>
          <a:lstStyle/>
          <a:p>
            <a:pPr marL="0" indent="0">
              <a:buNone/>
            </a:pPr>
            <a:r>
              <a:rPr lang="en-US" sz="1500" b="1" dirty="0">
                <a:solidFill>
                  <a:srgbClr val="46C98B"/>
                </a:solidFill>
                <a:latin typeface="Georgia" pitchFamily="34" charset="0"/>
                <a:ea typeface="Georgia" pitchFamily="34" charset="-122"/>
                <a:cs typeface="Georgia" pitchFamily="34" charset="-120"/>
              </a:rPr>
              <a:t>A08</a:t>
            </a:r>
            <a:endParaRPr lang="en-US" sz="1500" dirty="0"/>
          </a:p>
        </p:txBody>
      </p:sp>
      <p:pic>
        <p:nvPicPr>
          <p:cNvPr id="44" name="Image 8" descr="preencoded.png"/>
          <p:cNvPicPr>
            <a:picLocks noChangeAspect="1"/>
          </p:cNvPicPr>
          <p:nvPr/>
        </p:nvPicPr>
        <p:blipFill>
          <a:blip r:embed="rId5"/>
          <a:stretch>
            <a:fillRect/>
          </a:stretch>
        </p:blipFill>
        <p:spPr>
          <a:xfrm>
            <a:off x="6912864" y="3227832"/>
            <a:ext cx="292608" cy="292608"/>
          </a:xfrm>
          <a:prstGeom prst="rect">
            <a:avLst/>
          </a:prstGeom>
        </p:spPr>
      </p:pic>
      <p:sp>
        <p:nvSpPr>
          <p:cNvPr id="45" name="Text 34"/>
          <p:cNvSpPr/>
          <p:nvPr/>
        </p:nvSpPr>
        <p:spPr>
          <a:xfrm>
            <a:off x="5349240" y="3584448"/>
            <a:ext cx="1883664" cy="640080"/>
          </a:xfrm>
          <a:prstGeom prst="rect">
            <a:avLst/>
          </a:prstGeom>
          <a:noFill/>
          <a:ln/>
        </p:spPr>
        <p:txBody>
          <a:bodyPr wrap="square" lIns="0" tIns="0" rIns="0" bIns="0" rtlCol="0" anchor="t"/>
          <a:lstStyle/>
          <a:p>
            <a:pPr marL="0" indent="0">
              <a:buNone/>
            </a:pPr>
            <a:r>
              <a:rPr lang="en-US" sz="1200" dirty="0">
                <a:solidFill>
                  <a:srgbClr val="C3CEDE"/>
                </a:solidFill>
                <a:latin typeface="Calibri" pitchFamily="34" charset="0"/>
                <a:ea typeface="Calibri" pitchFamily="34" charset="-122"/>
                <a:cs typeface="Calibri" pitchFamily="34" charset="-120"/>
              </a:rPr>
              <a:t>Integridad de datos</a:t>
            </a:r>
            <a:endParaRPr lang="en-US" sz="1200" dirty="0"/>
          </a:p>
        </p:txBody>
      </p:sp>
      <p:sp>
        <p:nvSpPr>
          <p:cNvPr id="46" name="Shape 35"/>
          <p:cNvSpPr/>
          <p:nvPr/>
        </p:nvSpPr>
        <p:spPr>
          <a:xfrm>
            <a:off x="7534656" y="3081528"/>
            <a:ext cx="2157984" cy="123444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sp>
        <p:nvSpPr>
          <p:cNvPr id="47" name="Shape 36"/>
          <p:cNvSpPr/>
          <p:nvPr/>
        </p:nvSpPr>
        <p:spPr>
          <a:xfrm>
            <a:off x="7534656" y="3081528"/>
            <a:ext cx="2157984" cy="64008"/>
          </a:xfrm>
          <a:prstGeom prst="rect">
            <a:avLst/>
          </a:prstGeom>
          <a:solidFill>
            <a:srgbClr val="46C98B"/>
          </a:solidFill>
          <a:ln/>
        </p:spPr>
        <p:txBody>
          <a:bodyPr/>
          <a:lstStyle/>
          <a:p>
            <a:endParaRPr lang="es-ES"/>
          </a:p>
        </p:txBody>
      </p:sp>
      <p:sp>
        <p:nvSpPr>
          <p:cNvPr id="48" name="Text 37"/>
          <p:cNvSpPr/>
          <p:nvPr/>
        </p:nvSpPr>
        <p:spPr>
          <a:xfrm>
            <a:off x="7671816" y="3218688"/>
            <a:ext cx="914400" cy="320040"/>
          </a:xfrm>
          <a:prstGeom prst="rect">
            <a:avLst/>
          </a:prstGeom>
          <a:noFill/>
          <a:ln/>
        </p:spPr>
        <p:txBody>
          <a:bodyPr wrap="square" lIns="0" tIns="0" rIns="0" bIns="0" rtlCol="0" anchor="ctr"/>
          <a:lstStyle/>
          <a:p>
            <a:pPr marL="0" indent="0">
              <a:buNone/>
            </a:pPr>
            <a:r>
              <a:rPr lang="en-US" sz="1500" b="1" dirty="0">
                <a:solidFill>
                  <a:srgbClr val="46C98B"/>
                </a:solidFill>
                <a:latin typeface="Georgia" pitchFamily="34" charset="0"/>
                <a:ea typeface="Georgia" pitchFamily="34" charset="-122"/>
                <a:cs typeface="Georgia" pitchFamily="34" charset="-120"/>
              </a:rPr>
              <a:t>A09</a:t>
            </a:r>
            <a:endParaRPr lang="en-US" sz="1500" dirty="0"/>
          </a:p>
        </p:txBody>
      </p:sp>
      <p:pic>
        <p:nvPicPr>
          <p:cNvPr id="49" name="Image 9" descr="preencoded.png"/>
          <p:cNvPicPr>
            <a:picLocks noChangeAspect="1"/>
          </p:cNvPicPr>
          <p:nvPr/>
        </p:nvPicPr>
        <p:blipFill>
          <a:blip r:embed="rId5"/>
          <a:stretch>
            <a:fillRect/>
          </a:stretch>
        </p:blipFill>
        <p:spPr>
          <a:xfrm>
            <a:off x="9235440" y="3227832"/>
            <a:ext cx="292608" cy="292608"/>
          </a:xfrm>
          <a:prstGeom prst="rect">
            <a:avLst/>
          </a:prstGeom>
        </p:spPr>
      </p:pic>
      <p:sp>
        <p:nvSpPr>
          <p:cNvPr id="50" name="Text 38"/>
          <p:cNvSpPr/>
          <p:nvPr/>
        </p:nvSpPr>
        <p:spPr>
          <a:xfrm>
            <a:off x="7671816" y="3584448"/>
            <a:ext cx="1883664" cy="640080"/>
          </a:xfrm>
          <a:prstGeom prst="rect">
            <a:avLst/>
          </a:prstGeom>
          <a:noFill/>
          <a:ln/>
        </p:spPr>
        <p:txBody>
          <a:bodyPr wrap="square" lIns="0" tIns="0" rIns="0" bIns="0" rtlCol="0" anchor="t"/>
          <a:lstStyle/>
          <a:p>
            <a:pPr marL="0" indent="0">
              <a:buNone/>
            </a:pPr>
            <a:r>
              <a:rPr lang="en-US" sz="1200" dirty="0">
                <a:solidFill>
                  <a:srgbClr val="C3CEDE"/>
                </a:solidFill>
                <a:latin typeface="Calibri" pitchFamily="34" charset="0"/>
                <a:ea typeface="Calibri" pitchFamily="34" charset="-122"/>
                <a:cs typeface="Calibri" pitchFamily="34" charset="-120"/>
              </a:rPr>
              <a:t>Logging y monitorización</a:t>
            </a:r>
            <a:endParaRPr lang="en-US" sz="1200" dirty="0"/>
          </a:p>
        </p:txBody>
      </p:sp>
      <p:sp>
        <p:nvSpPr>
          <p:cNvPr id="51" name="Shape 39"/>
          <p:cNvSpPr/>
          <p:nvPr/>
        </p:nvSpPr>
        <p:spPr>
          <a:xfrm>
            <a:off x="9857232" y="3081528"/>
            <a:ext cx="2157984" cy="123444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sp>
        <p:nvSpPr>
          <p:cNvPr id="52" name="Shape 40"/>
          <p:cNvSpPr/>
          <p:nvPr/>
        </p:nvSpPr>
        <p:spPr>
          <a:xfrm>
            <a:off x="9857232" y="3081528"/>
            <a:ext cx="2157984" cy="64008"/>
          </a:xfrm>
          <a:prstGeom prst="rect">
            <a:avLst/>
          </a:prstGeom>
          <a:solidFill>
            <a:srgbClr val="46C98B"/>
          </a:solidFill>
          <a:ln/>
        </p:spPr>
        <p:txBody>
          <a:bodyPr/>
          <a:lstStyle/>
          <a:p>
            <a:endParaRPr lang="es-ES"/>
          </a:p>
        </p:txBody>
      </p:sp>
      <p:sp>
        <p:nvSpPr>
          <p:cNvPr id="53" name="Text 41"/>
          <p:cNvSpPr/>
          <p:nvPr/>
        </p:nvSpPr>
        <p:spPr>
          <a:xfrm>
            <a:off x="9994392" y="3218688"/>
            <a:ext cx="914400" cy="320040"/>
          </a:xfrm>
          <a:prstGeom prst="rect">
            <a:avLst/>
          </a:prstGeom>
          <a:noFill/>
          <a:ln/>
        </p:spPr>
        <p:txBody>
          <a:bodyPr wrap="square" lIns="0" tIns="0" rIns="0" bIns="0" rtlCol="0" anchor="ctr"/>
          <a:lstStyle/>
          <a:p>
            <a:pPr marL="0" indent="0">
              <a:buNone/>
            </a:pPr>
            <a:r>
              <a:rPr lang="en-US" sz="1500" b="1" dirty="0">
                <a:solidFill>
                  <a:srgbClr val="46C98B"/>
                </a:solidFill>
                <a:latin typeface="Georgia" pitchFamily="34" charset="0"/>
                <a:ea typeface="Georgia" pitchFamily="34" charset="-122"/>
                <a:cs typeface="Georgia" pitchFamily="34" charset="-120"/>
              </a:rPr>
              <a:t>A10</a:t>
            </a:r>
            <a:endParaRPr lang="en-US" sz="1500" dirty="0"/>
          </a:p>
        </p:txBody>
      </p:sp>
      <p:pic>
        <p:nvPicPr>
          <p:cNvPr id="54" name="Image 10" descr="preencoded.png"/>
          <p:cNvPicPr>
            <a:picLocks noChangeAspect="1"/>
          </p:cNvPicPr>
          <p:nvPr/>
        </p:nvPicPr>
        <p:blipFill>
          <a:blip r:embed="rId5"/>
          <a:stretch>
            <a:fillRect/>
          </a:stretch>
        </p:blipFill>
        <p:spPr>
          <a:xfrm>
            <a:off x="11558016" y="3227832"/>
            <a:ext cx="292608" cy="292608"/>
          </a:xfrm>
          <a:prstGeom prst="rect">
            <a:avLst/>
          </a:prstGeom>
        </p:spPr>
      </p:pic>
      <p:sp>
        <p:nvSpPr>
          <p:cNvPr id="55" name="Text 42"/>
          <p:cNvSpPr/>
          <p:nvPr/>
        </p:nvSpPr>
        <p:spPr>
          <a:xfrm>
            <a:off x="9994392" y="3584448"/>
            <a:ext cx="1883664" cy="640080"/>
          </a:xfrm>
          <a:prstGeom prst="rect">
            <a:avLst/>
          </a:prstGeom>
          <a:noFill/>
          <a:ln/>
        </p:spPr>
        <p:txBody>
          <a:bodyPr wrap="square" lIns="0" tIns="0" rIns="0" bIns="0" rtlCol="0" anchor="t"/>
          <a:lstStyle/>
          <a:p>
            <a:pPr marL="0" indent="0">
              <a:buNone/>
            </a:pPr>
            <a:r>
              <a:rPr lang="en-US" sz="1200" dirty="0">
                <a:solidFill>
                  <a:srgbClr val="C3CEDE"/>
                </a:solidFill>
                <a:latin typeface="Calibri" pitchFamily="34" charset="0"/>
                <a:ea typeface="Calibri" pitchFamily="34" charset="-122"/>
                <a:cs typeface="Calibri" pitchFamily="34" charset="-120"/>
              </a:rPr>
              <a:t>SSRF</a:t>
            </a:r>
            <a:endParaRPr lang="en-US" sz="1200" dirty="0"/>
          </a:p>
        </p:txBody>
      </p:sp>
      <p:sp>
        <p:nvSpPr>
          <p:cNvPr id="56" name="Shape 43"/>
          <p:cNvSpPr/>
          <p:nvPr/>
        </p:nvSpPr>
        <p:spPr>
          <a:xfrm>
            <a:off x="566928" y="5074920"/>
            <a:ext cx="11057839" cy="868680"/>
          </a:xfrm>
          <a:prstGeom prst="rect">
            <a:avLst/>
          </a:prstGeom>
          <a:solidFill>
            <a:srgbClr val="0E1830"/>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sp>
        <p:nvSpPr>
          <p:cNvPr id="57" name="Shape 44"/>
          <p:cNvSpPr/>
          <p:nvPr/>
        </p:nvSpPr>
        <p:spPr>
          <a:xfrm>
            <a:off x="566928" y="5074920"/>
            <a:ext cx="82296" cy="868680"/>
          </a:xfrm>
          <a:prstGeom prst="rect">
            <a:avLst/>
          </a:prstGeom>
          <a:solidFill>
            <a:srgbClr val="46C98B"/>
          </a:solidFill>
          <a:ln/>
        </p:spPr>
        <p:txBody>
          <a:bodyPr/>
          <a:lstStyle/>
          <a:p>
            <a:endParaRPr lang="es-ES"/>
          </a:p>
        </p:txBody>
      </p:sp>
      <p:pic>
        <p:nvPicPr>
          <p:cNvPr id="58" name="Image 11" descr="preencoded.png"/>
          <p:cNvPicPr>
            <a:picLocks noChangeAspect="1"/>
          </p:cNvPicPr>
          <p:nvPr/>
        </p:nvPicPr>
        <p:blipFill>
          <a:blip r:embed="rId6"/>
          <a:stretch>
            <a:fillRect/>
          </a:stretch>
        </p:blipFill>
        <p:spPr>
          <a:xfrm>
            <a:off x="859536" y="5285232"/>
            <a:ext cx="457200" cy="457200"/>
          </a:xfrm>
          <a:prstGeom prst="rect">
            <a:avLst/>
          </a:prstGeom>
        </p:spPr>
      </p:pic>
      <p:sp>
        <p:nvSpPr>
          <p:cNvPr id="59" name="Text 45"/>
          <p:cNvSpPr/>
          <p:nvPr/>
        </p:nvSpPr>
        <p:spPr>
          <a:xfrm>
            <a:off x="1527048" y="5074920"/>
            <a:ext cx="10058400" cy="868680"/>
          </a:xfrm>
          <a:prstGeom prst="rect">
            <a:avLst/>
          </a:prstGeom>
          <a:noFill/>
          <a:ln/>
        </p:spPr>
        <p:txBody>
          <a:bodyPr wrap="square" lIns="0" tIns="0" rIns="0" bIns="0" rtlCol="0" anchor="ctr"/>
          <a:lstStyle/>
          <a:p>
            <a:pPr marL="0" indent="0">
              <a:buNone/>
            </a:pPr>
            <a:r>
              <a:rPr lang="en-US" sz="1500" b="1" dirty="0">
                <a:solidFill>
                  <a:srgbClr val="F3F7FD"/>
                </a:solidFill>
                <a:latin typeface="Calibri" pitchFamily="34" charset="0"/>
                <a:ea typeface="Calibri" pitchFamily="34" charset="-122"/>
                <a:cs typeface="Calibri" pitchFamily="34" charset="-120"/>
              </a:rPr>
              <a:t>0 CVEs en producción</a:t>
            </a:r>
            <a:r>
              <a:rPr lang="en-US" sz="1300" dirty="0">
                <a:solidFill>
                  <a:srgbClr val="C3CEDE"/>
                </a:solidFill>
                <a:latin typeface="Calibri" pitchFamily="34" charset="0"/>
                <a:ea typeface="Calibri" pitchFamily="34" charset="-122"/>
                <a:cs typeface="Calibri" pitchFamily="34" charset="-120"/>
              </a:rPr>
              <a:t>   —   pip-audit + npm audit limpios · Dependabot semanal · CI con gate de seguridad</a:t>
            </a:r>
            <a:endParaRPr lang="en-US" sz="1500" dirty="0"/>
          </a:p>
        </p:txBody>
      </p:sp>
      <p:sp>
        <p:nvSpPr>
          <p:cNvPr id="61" name="Text 46"/>
          <p:cNvSpPr/>
          <p:nvPr/>
        </p:nvSpPr>
        <p:spPr>
          <a:xfrm>
            <a:off x="566928" y="6446520"/>
            <a:ext cx="8229600" cy="292608"/>
          </a:xfrm>
          <a:prstGeom prst="rect">
            <a:avLst/>
          </a:prstGeom>
          <a:noFill/>
          <a:ln/>
        </p:spPr>
        <p:txBody>
          <a:bodyPr wrap="square" lIns="0" tIns="0" rIns="0" bIns="0" rtlCol="0" anchor="ctr"/>
          <a:lstStyle/>
          <a:p>
            <a:pPr marL="0" indent="0">
              <a:buNone/>
            </a:pPr>
            <a:r>
              <a:rPr lang="en-US" sz="900" dirty="0">
                <a:solidFill>
                  <a:srgbClr val="8492A6"/>
                </a:solidFill>
                <a:latin typeface="Calibri" pitchFamily="34" charset="0"/>
                <a:ea typeface="Calibri" pitchFamily="34" charset="-122"/>
                <a:cs typeface="Calibri" pitchFamily="34" charset="-120"/>
              </a:rPr>
              <a:t>BuenCholloTech · TFM Máster en Desarrollo con IA 2025</a:t>
            </a:r>
            <a:endParaRPr lang="en-US" sz="900" dirty="0"/>
          </a:p>
        </p:txBody>
      </p:sp>
      <p:sp>
        <p:nvSpPr>
          <p:cNvPr id="62" name="Text 47"/>
          <p:cNvSpPr/>
          <p:nvPr/>
        </p:nvSpPr>
        <p:spPr>
          <a:xfrm>
            <a:off x="10527487" y="6446520"/>
            <a:ext cx="1097280" cy="292608"/>
          </a:xfrm>
          <a:prstGeom prst="rect">
            <a:avLst/>
          </a:prstGeom>
          <a:noFill/>
          <a:ln/>
        </p:spPr>
        <p:txBody>
          <a:bodyPr wrap="square" lIns="0" tIns="0" rIns="0" bIns="0"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928" y="457200"/>
            <a:ext cx="2783434" cy="310896"/>
          </a:xfrm>
          <a:prstGeom prst="roundRect">
            <a:avLst>
              <a:gd name="adj" fmla="val 50000"/>
            </a:avLst>
          </a:prstGeom>
          <a:solidFill>
            <a:srgbClr val="FF6A2B"/>
          </a:solidFill>
          <a:ln/>
        </p:spPr>
        <p:txBody>
          <a:bodyPr/>
          <a:lstStyle/>
          <a:p>
            <a:endParaRPr lang="es-ES"/>
          </a:p>
        </p:txBody>
      </p:sp>
      <p:sp>
        <p:nvSpPr>
          <p:cNvPr id="3" name="Text 1"/>
          <p:cNvSpPr/>
          <p:nvPr/>
        </p:nvSpPr>
        <p:spPr>
          <a:xfrm>
            <a:off x="566928" y="457200"/>
            <a:ext cx="2783434" cy="310896"/>
          </a:xfrm>
          <a:prstGeom prst="rect">
            <a:avLst/>
          </a:prstGeom>
          <a:noFill/>
          <a:ln/>
        </p:spPr>
        <p:txBody>
          <a:bodyPr wrap="square" lIns="0" tIns="0" rIns="0" bIns="0" rtlCol="0" anchor="ctr"/>
          <a:lstStyle/>
          <a:p>
            <a:pPr marL="0" indent="0" algn="ctr">
              <a:buNone/>
            </a:pPr>
            <a:r>
              <a:rPr lang="en-US" sz="1050" b="1" kern="0" spc="100" dirty="0">
                <a:solidFill>
                  <a:srgbClr val="0A0F1A"/>
                </a:solidFill>
                <a:latin typeface="Calibri" pitchFamily="34" charset="0"/>
                <a:ea typeface="Calibri" pitchFamily="34" charset="-122"/>
                <a:cs typeface="Calibri" pitchFamily="34" charset="-120"/>
              </a:rPr>
              <a:t>DEFENSA EN PROFUNDIDAD</a:t>
            </a:r>
            <a:endParaRPr lang="en-US" sz="1050" dirty="0"/>
          </a:p>
        </p:txBody>
      </p:sp>
      <p:pic>
        <p:nvPicPr>
          <p:cNvPr id="4" name="Image 0" descr="preencoded.png"/>
          <p:cNvPicPr>
            <a:picLocks noChangeAspect="1"/>
          </p:cNvPicPr>
          <p:nvPr/>
        </p:nvPicPr>
        <p:blipFill>
          <a:blip r:embed="rId4"/>
          <a:stretch>
            <a:fillRect/>
          </a:stretch>
        </p:blipFill>
        <p:spPr>
          <a:xfrm>
            <a:off x="11057839" y="384048"/>
            <a:ext cx="457200" cy="457200"/>
          </a:xfrm>
          <a:prstGeom prst="rect">
            <a:avLst/>
          </a:prstGeom>
        </p:spPr>
      </p:pic>
      <p:sp>
        <p:nvSpPr>
          <p:cNvPr id="5" name="Text 2"/>
          <p:cNvSpPr/>
          <p:nvPr/>
        </p:nvSpPr>
        <p:spPr>
          <a:xfrm>
            <a:off x="566928" y="841248"/>
            <a:ext cx="10554919" cy="640080"/>
          </a:xfrm>
          <a:prstGeom prst="rect">
            <a:avLst/>
          </a:prstGeom>
          <a:noFill/>
          <a:ln/>
        </p:spPr>
        <p:txBody>
          <a:bodyPr wrap="square" lIns="0" tIns="0" rIns="0" bIns="0" rtlCol="0" anchor="ctr"/>
          <a:lstStyle/>
          <a:p>
            <a:pPr marL="0" indent="0">
              <a:buNone/>
            </a:pPr>
            <a:r>
              <a:rPr lang="en-US" sz="2700" b="1" dirty="0">
                <a:solidFill>
                  <a:srgbClr val="F3F7FD"/>
                </a:solidFill>
                <a:latin typeface="Georgia" pitchFamily="34" charset="0"/>
                <a:ea typeface="Georgia" pitchFamily="34" charset="-122"/>
                <a:cs typeface="Georgia" pitchFamily="34" charset="-120"/>
              </a:rPr>
              <a:t>Seguridad por diseño y por defecto</a:t>
            </a:r>
            <a:endParaRPr lang="en-US" sz="2700" dirty="0"/>
          </a:p>
        </p:txBody>
      </p:sp>
      <p:sp>
        <p:nvSpPr>
          <p:cNvPr id="6" name="Shape 3"/>
          <p:cNvSpPr/>
          <p:nvPr/>
        </p:nvSpPr>
        <p:spPr>
          <a:xfrm>
            <a:off x="566928" y="1645920"/>
            <a:ext cx="3602736" cy="21031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7" name="Image 1" descr="preencoded.png"/>
          <p:cNvPicPr>
            <a:picLocks noChangeAspect="1"/>
          </p:cNvPicPr>
          <p:nvPr/>
        </p:nvPicPr>
        <p:blipFill>
          <a:blip r:embed="rId5"/>
          <a:stretch>
            <a:fillRect/>
          </a:stretch>
        </p:blipFill>
        <p:spPr>
          <a:xfrm>
            <a:off x="566928" y="1645920"/>
            <a:ext cx="3602736" cy="73152"/>
          </a:xfrm>
          <a:prstGeom prst="rect">
            <a:avLst/>
          </a:prstGeom>
        </p:spPr>
      </p:pic>
      <p:sp>
        <p:nvSpPr>
          <p:cNvPr id="8" name="Shape 4"/>
          <p:cNvSpPr/>
          <p:nvPr/>
        </p:nvSpPr>
        <p:spPr>
          <a:xfrm>
            <a:off x="841248" y="1938528"/>
            <a:ext cx="658368" cy="658368"/>
          </a:xfrm>
          <a:prstGeom prst="ellipse">
            <a:avLst/>
          </a:prstGeom>
          <a:solidFill>
            <a:srgbClr val="FF6A2B"/>
          </a:solidFill>
          <a:ln/>
        </p:spPr>
        <p:txBody>
          <a:bodyPr/>
          <a:lstStyle/>
          <a:p>
            <a:endParaRPr lang="es-ES"/>
          </a:p>
        </p:txBody>
      </p:sp>
      <p:pic>
        <p:nvPicPr>
          <p:cNvPr id="9" name="Image 2" descr="preencoded.png"/>
          <p:cNvPicPr>
            <a:picLocks noChangeAspect="1"/>
          </p:cNvPicPr>
          <p:nvPr/>
        </p:nvPicPr>
        <p:blipFill>
          <a:blip r:embed="rId6"/>
          <a:stretch>
            <a:fillRect/>
          </a:stretch>
        </p:blipFill>
        <p:spPr>
          <a:xfrm>
            <a:off x="1005840" y="2103120"/>
            <a:ext cx="329184" cy="329184"/>
          </a:xfrm>
          <a:prstGeom prst="rect">
            <a:avLst/>
          </a:prstGeom>
        </p:spPr>
      </p:pic>
      <p:sp>
        <p:nvSpPr>
          <p:cNvPr id="10" name="Text 5"/>
          <p:cNvSpPr/>
          <p:nvPr/>
        </p:nvSpPr>
        <p:spPr>
          <a:xfrm>
            <a:off x="1645920" y="1938528"/>
            <a:ext cx="2322576" cy="658368"/>
          </a:xfrm>
          <a:prstGeom prst="rect">
            <a:avLst/>
          </a:prstGeom>
          <a:noFill/>
          <a:ln/>
        </p:spPr>
        <p:txBody>
          <a:bodyPr wrap="square" lIns="0" tIns="0" rIns="0" bIns="0" rtlCol="0" anchor="ctr"/>
          <a:lstStyle/>
          <a:p>
            <a:pPr marL="0" indent="0">
              <a:buNone/>
            </a:pPr>
            <a:r>
              <a:rPr lang="en-US" sz="1500" b="1" dirty="0">
                <a:solidFill>
                  <a:srgbClr val="F3F7FD"/>
                </a:solidFill>
                <a:latin typeface="Georgia" pitchFamily="34" charset="0"/>
                <a:ea typeface="Georgia" pitchFamily="34" charset="-122"/>
                <a:cs typeface="Georgia" pitchFamily="34" charset="-120"/>
              </a:rPr>
              <a:t>require_admin × 47</a:t>
            </a:r>
            <a:endParaRPr lang="en-US" sz="1500" dirty="0"/>
          </a:p>
        </p:txBody>
      </p:sp>
      <p:sp>
        <p:nvSpPr>
          <p:cNvPr id="11" name="Text 6"/>
          <p:cNvSpPr/>
          <p:nvPr/>
        </p:nvSpPr>
        <p:spPr>
          <a:xfrm>
            <a:off x="841248" y="2724912"/>
            <a:ext cx="3054096" cy="914400"/>
          </a:xfrm>
          <a:prstGeom prst="rect">
            <a:avLst/>
          </a:prstGeom>
          <a:noFill/>
          <a:ln/>
        </p:spPr>
        <p:txBody>
          <a:bodyPr wrap="square" lIns="0" tIns="0" rIns="0" bIns="0" rtlCol="0" anchor="t"/>
          <a:lstStyle/>
          <a:p>
            <a:pPr marL="0" indent="0">
              <a:lnSpc>
                <a:spcPct val="110000"/>
              </a:lnSpc>
              <a:buNone/>
            </a:pPr>
            <a:r>
              <a:rPr lang="en-US" sz="1250" dirty="0">
                <a:solidFill>
                  <a:srgbClr val="C3CEDE"/>
                </a:solidFill>
                <a:latin typeface="Calibri" pitchFamily="34" charset="0"/>
                <a:ea typeface="Calibri" pitchFamily="34" charset="-122"/>
                <a:cs typeface="Calibri" pitchFamily="34" charset="-120"/>
              </a:rPr>
              <a:t>Autorización centralizada con consultas parametrizadas.</a:t>
            </a:r>
            <a:endParaRPr lang="en-US" sz="1250" dirty="0"/>
          </a:p>
        </p:txBody>
      </p:sp>
      <p:sp>
        <p:nvSpPr>
          <p:cNvPr id="12" name="Shape 7"/>
          <p:cNvSpPr/>
          <p:nvPr/>
        </p:nvSpPr>
        <p:spPr>
          <a:xfrm>
            <a:off x="4462272" y="1645920"/>
            <a:ext cx="3602736" cy="21031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3" name="Image 3" descr="preencoded.png"/>
          <p:cNvPicPr>
            <a:picLocks noChangeAspect="1"/>
          </p:cNvPicPr>
          <p:nvPr/>
        </p:nvPicPr>
        <p:blipFill>
          <a:blip r:embed="rId5"/>
          <a:stretch>
            <a:fillRect/>
          </a:stretch>
        </p:blipFill>
        <p:spPr>
          <a:xfrm>
            <a:off x="4462272" y="1645920"/>
            <a:ext cx="3602736" cy="73152"/>
          </a:xfrm>
          <a:prstGeom prst="rect">
            <a:avLst/>
          </a:prstGeom>
        </p:spPr>
      </p:pic>
      <p:sp>
        <p:nvSpPr>
          <p:cNvPr id="14" name="Shape 8"/>
          <p:cNvSpPr/>
          <p:nvPr/>
        </p:nvSpPr>
        <p:spPr>
          <a:xfrm>
            <a:off x="4736592" y="1938528"/>
            <a:ext cx="658368" cy="658368"/>
          </a:xfrm>
          <a:prstGeom prst="ellipse">
            <a:avLst/>
          </a:prstGeom>
          <a:solidFill>
            <a:srgbClr val="37D6C3"/>
          </a:solidFill>
          <a:ln/>
        </p:spPr>
        <p:txBody>
          <a:bodyPr/>
          <a:lstStyle/>
          <a:p>
            <a:endParaRPr lang="es-ES"/>
          </a:p>
        </p:txBody>
      </p:sp>
      <p:pic>
        <p:nvPicPr>
          <p:cNvPr id="15" name="Image 4" descr="preencoded.png"/>
          <p:cNvPicPr>
            <a:picLocks noChangeAspect="1"/>
          </p:cNvPicPr>
          <p:nvPr/>
        </p:nvPicPr>
        <p:blipFill>
          <a:blip r:embed="rId7"/>
          <a:stretch>
            <a:fillRect/>
          </a:stretch>
        </p:blipFill>
        <p:spPr>
          <a:xfrm>
            <a:off x="4901184" y="2103120"/>
            <a:ext cx="329184" cy="329184"/>
          </a:xfrm>
          <a:prstGeom prst="rect">
            <a:avLst/>
          </a:prstGeom>
        </p:spPr>
      </p:pic>
      <p:sp>
        <p:nvSpPr>
          <p:cNvPr id="16" name="Text 9"/>
          <p:cNvSpPr/>
          <p:nvPr/>
        </p:nvSpPr>
        <p:spPr>
          <a:xfrm>
            <a:off x="5541264" y="1938528"/>
            <a:ext cx="2322576" cy="658368"/>
          </a:xfrm>
          <a:prstGeom prst="rect">
            <a:avLst/>
          </a:prstGeom>
          <a:noFill/>
          <a:ln/>
        </p:spPr>
        <p:txBody>
          <a:bodyPr wrap="square" lIns="0" tIns="0" rIns="0" bIns="0" rtlCol="0" anchor="ctr"/>
          <a:lstStyle/>
          <a:p>
            <a:pPr marL="0" indent="0">
              <a:buNone/>
            </a:pPr>
            <a:r>
              <a:rPr lang="en-US" sz="1500" b="1" dirty="0">
                <a:solidFill>
                  <a:srgbClr val="F3F7FD"/>
                </a:solidFill>
                <a:latin typeface="Georgia" pitchFamily="34" charset="0"/>
                <a:ea typeface="Georgia" pitchFamily="34" charset="-122"/>
                <a:cs typeface="Georgia" pitchFamily="34" charset="-120"/>
              </a:rPr>
              <a:t>RLS en 12 tablas</a:t>
            </a:r>
            <a:endParaRPr lang="en-US" sz="1500" dirty="0"/>
          </a:p>
        </p:txBody>
      </p:sp>
      <p:sp>
        <p:nvSpPr>
          <p:cNvPr id="17" name="Text 10"/>
          <p:cNvSpPr/>
          <p:nvPr/>
        </p:nvSpPr>
        <p:spPr>
          <a:xfrm>
            <a:off x="4736592" y="2724912"/>
            <a:ext cx="3054096" cy="914400"/>
          </a:xfrm>
          <a:prstGeom prst="rect">
            <a:avLst/>
          </a:prstGeom>
          <a:noFill/>
          <a:ln/>
        </p:spPr>
        <p:txBody>
          <a:bodyPr wrap="square" lIns="0" tIns="0" rIns="0" bIns="0" rtlCol="0" anchor="t"/>
          <a:lstStyle/>
          <a:p>
            <a:pPr marL="0" indent="0">
              <a:lnSpc>
                <a:spcPct val="110000"/>
              </a:lnSpc>
              <a:buNone/>
            </a:pPr>
            <a:r>
              <a:rPr lang="en-US" sz="1250" dirty="0">
                <a:solidFill>
                  <a:srgbClr val="C3CEDE"/>
                </a:solidFill>
                <a:latin typeface="Calibri" pitchFamily="34" charset="0"/>
                <a:ea typeface="Calibri" pitchFamily="34" charset="-122"/>
                <a:cs typeface="Calibri" pitchFamily="34" charset="-120"/>
              </a:rPr>
              <a:t>Defensa adicional aunque el frontend nunca toque la BD.</a:t>
            </a:r>
            <a:endParaRPr lang="en-US" sz="1250" dirty="0"/>
          </a:p>
        </p:txBody>
      </p:sp>
      <p:sp>
        <p:nvSpPr>
          <p:cNvPr id="18" name="Shape 11"/>
          <p:cNvSpPr/>
          <p:nvPr/>
        </p:nvSpPr>
        <p:spPr>
          <a:xfrm>
            <a:off x="8357616" y="1645920"/>
            <a:ext cx="3602736" cy="21031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9" name="Image 5" descr="preencoded.png"/>
          <p:cNvPicPr>
            <a:picLocks noChangeAspect="1"/>
          </p:cNvPicPr>
          <p:nvPr/>
        </p:nvPicPr>
        <p:blipFill>
          <a:blip r:embed="rId5"/>
          <a:stretch>
            <a:fillRect/>
          </a:stretch>
        </p:blipFill>
        <p:spPr>
          <a:xfrm>
            <a:off x="8357616" y="1645920"/>
            <a:ext cx="3602736" cy="73152"/>
          </a:xfrm>
          <a:prstGeom prst="rect">
            <a:avLst/>
          </a:prstGeom>
        </p:spPr>
      </p:pic>
      <p:sp>
        <p:nvSpPr>
          <p:cNvPr id="20" name="Shape 12"/>
          <p:cNvSpPr/>
          <p:nvPr/>
        </p:nvSpPr>
        <p:spPr>
          <a:xfrm>
            <a:off x="8631936" y="1938528"/>
            <a:ext cx="658368" cy="658368"/>
          </a:xfrm>
          <a:prstGeom prst="ellipse">
            <a:avLst/>
          </a:prstGeom>
          <a:solidFill>
            <a:srgbClr val="FF6A2B"/>
          </a:solidFill>
          <a:ln/>
        </p:spPr>
        <p:txBody>
          <a:bodyPr/>
          <a:lstStyle/>
          <a:p>
            <a:endParaRPr lang="es-ES"/>
          </a:p>
        </p:txBody>
      </p:sp>
      <p:pic>
        <p:nvPicPr>
          <p:cNvPr id="21" name="Image 6" descr="preencoded.png"/>
          <p:cNvPicPr>
            <a:picLocks noChangeAspect="1"/>
          </p:cNvPicPr>
          <p:nvPr/>
        </p:nvPicPr>
        <p:blipFill>
          <a:blip r:embed="rId8"/>
          <a:stretch>
            <a:fillRect/>
          </a:stretch>
        </p:blipFill>
        <p:spPr>
          <a:xfrm>
            <a:off x="8796528" y="2103120"/>
            <a:ext cx="329184" cy="329184"/>
          </a:xfrm>
          <a:prstGeom prst="rect">
            <a:avLst/>
          </a:prstGeom>
        </p:spPr>
      </p:pic>
      <p:sp>
        <p:nvSpPr>
          <p:cNvPr id="22" name="Text 13"/>
          <p:cNvSpPr/>
          <p:nvPr/>
        </p:nvSpPr>
        <p:spPr>
          <a:xfrm>
            <a:off x="9436608" y="1938528"/>
            <a:ext cx="2322576" cy="658368"/>
          </a:xfrm>
          <a:prstGeom prst="rect">
            <a:avLst/>
          </a:prstGeom>
          <a:noFill/>
          <a:ln/>
        </p:spPr>
        <p:txBody>
          <a:bodyPr wrap="square" lIns="0" tIns="0" rIns="0" bIns="0" rtlCol="0" anchor="ctr"/>
          <a:lstStyle/>
          <a:p>
            <a:pPr marL="0" indent="0">
              <a:buNone/>
            </a:pPr>
            <a:r>
              <a:rPr lang="en-US" sz="1500" b="1" dirty="0">
                <a:solidFill>
                  <a:srgbClr val="F3F7FD"/>
                </a:solidFill>
                <a:latin typeface="Georgia" pitchFamily="34" charset="0"/>
                <a:ea typeface="Georgia" pitchFamily="34" charset="-122"/>
                <a:cs typeface="Georgia" pitchFamily="34" charset="-120"/>
              </a:rPr>
              <a:t>Audit log con request_id</a:t>
            </a:r>
            <a:endParaRPr lang="en-US" sz="1500" dirty="0"/>
          </a:p>
        </p:txBody>
      </p:sp>
      <p:sp>
        <p:nvSpPr>
          <p:cNvPr id="23" name="Text 14"/>
          <p:cNvSpPr/>
          <p:nvPr/>
        </p:nvSpPr>
        <p:spPr>
          <a:xfrm>
            <a:off x="8631936" y="2724912"/>
            <a:ext cx="3054096" cy="914400"/>
          </a:xfrm>
          <a:prstGeom prst="rect">
            <a:avLst/>
          </a:prstGeom>
          <a:noFill/>
          <a:ln/>
        </p:spPr>
        <p:txBody>
          <a:bodyPr wrap="square" lIns="0" tIns="0" rIns="0" bIns="0" rtlCol="0" anchor="t"/>
          <a:lstStyle/>
          <a:p>
            <a:pPr marL="0" indent="0">
              <a:lnSpc>
                <a:spcPct val="110000"/>
              </a:lnSpc>
              <a:buNone/>
            </a:pPr>
            <a:r>
              <a:rPr lang="en-US" sz="1250" dirty="0">
                <a:solidFill>
                  <a:srgbClr val="C3CEDE"/>
                </a:solidFill>
                <a:latin typeface="Calibri" pitchFamily="34" charset="0"/>
                <a:ea typeface="Calibri" pitchFamily="34" charset="-122"/>
                <a:cs typeface="Calibri" pitchFamily="34" charset="-120"/>
              </a:rPr>
              <a:t>Cada acción admin trazable y correlada con Sentry.</a:t>
            </a:r>
            <a:endParaRPr lang="en-US" sz="1250" dirty="0"/>
          </a:p>
        </p:txBody>
      </p:sp>
      <p:sp>
        <p:nvSpPr>
          <p:cNvPr id="24" name="Shape 15"/>
          <p:cNvSpPr/>
          <p:nvPr/>
        </p:nvSpPr>
        <p:spPr>
          <a:xfrm>
            <a:off x="566928" y="4023360"/>
            <a:ext cx="3602736" cy="21031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25" name="Image 7" descr="preencoded.png"/>
          <p:cNvPicPr>
            <a:picLocks noChangeAspect="1"/>
          </p:cNvPicPr>
          <p:nvPr/>
        </p:nvPicPr>
        <p:blipFill>
          <a:blip r:embed="rId5"/>
          <a:stretch>
            <a:fillRect/>
          </a:stretch>
        </p:blipFill>
        <p:spPr>
          <a:xfrm>
            <a:off x="566928" y="4023360"/>
            <a:ext cx="3602736" cy="73152"/>
          </a:xfrm>
          <a:prstGeom prst="rect">
            <a:avLst/>
          </a:prstGeom>
        </p:spPr>
      </p:pic>
      <p:sp>
        <p:nvSpPr>
          <p:cNvPr id="26" name="Shape 16"/>
          <p:cNvSpPr/>
          <p:nvPr/>
        </p:nvSpPr>
        <p:spPr>
          <a:xfrm>
            <a:off x="841248" y="4315968"/>
            <a:ext cx="658368" cy="658368"/>
          </a:xfrm>
          <a:prstGeom prst="ellipse">
            <a:avLst/>
          </a:prstGeom>
          <a:solidFill>
            <a:srgbClr val="37D6C3"/>
          </a:solidFill>
          <a:ln/>
        </p:spPr>
        <p:txBody>
          <a:bodyPr/>
          <a:lstStyle/>
          <a:p>
            <a:endParaRPr lang="es-ES"/>
          </a:p>
        </p:txBody>
      </p:sp>
      <p:pic>
        <p:nvPicPr>
          <p:cNvPr id="27" name="Image 8" descr="preencoded.png"/>
          <p:cNvPicPr>
            <a:picLocks noChangeAspect="1"/>
          </p:cNvPicPr>
          <p:nvPr/>
        </p:nvPicPr>
        <p:blipFill>
          <a:blip r:embed="rId9"/>
          <a:stretch>
            <a:fillRect/>
          </a:stretch>
        </p:blipFill>
        <p:spPr>
          <a:xfrm>
            <a:off x="1005840" y="4480560"/>
            <a:ext cx="329184" cy="329184"/>
          </a:xfrm>
          <a:prstGeom prst="rect">
            <a:avLst/>
          </a:prstGeom>
        </p:spPr>
      </p:pic>
      <p:sp>
        <p:nvSpPr>
          <p:cNvPr id="28" name="Text 17"/>
          <p:cNvSpPr/>
          <p:nvPr/>
        </p:nvSpPr>
        <p:spPr>
          <a:xfrm>
            <a:off x="1645920" y="4315968"/>
            <a:ext cx="2322576" cy="658368"/>
          </a:xfrm>
          <a:prstGeom prst="rect">
            <a:avLst/>
          </a:prstGeom>
          <a:noFill/>
          <a:ln/>
        </p:spPr>
        <p:txBody>
          <a:bodyPr wrap="square" lIns="0" tIns="0" rIns="0" bIns="0" rtlCol="0" anchor="ctr"/>
          <a:lstStyle/>
          <a:p>
            <a:pPr marL="0" indent="0">
              <a:buNone/>
            </a:pPr>
            <a:r>
              <a:rPr lang="en-US" sz="1500" b="1" dirty="0">
                <a:solidFill>
                  <a:srgbClr val="F3F7FD"/>
                </a:solidFill>
                <a:latin typeface="Georgia" pitchFamily="34" charset="0"/>
                <a:ea typeface="Georgia" pitchFamily="34" charset="-122"/>
                <a:cs typeface="Georgia" pitchFamily="34" charset="-120"/>
              </a:rPr>
              <a:t>Rate limiting por IP</a:t>
            </a:r>
            <a:endParaRPr lang="en-US" sz="1500" dirty="0"/>
          </a:p>
        </p:txBody>
      </p:sp>
      <p:sp>
        <p:nvSpPr>
          <p:cNvPr id="29" name="Text 18"/>
          <p:cNvSpPr/>
          <p:nvPr/>
        </p:nvSpPr>
        <p:spPr>
          <a:xfrm>
            <a:off x="841248" y="5102352"/>
            <a:ext cx="3054096" cy="914400"/>
          </a:xfrm>
          <a:prstGeom prst="rect">
            <a:avLst/>
          </a:prstGeom>
          <a:noFill/>
          <a:ln/>
        </p:spPr>
        <p:txBody>
          <a:bodyPr wrap="square" lIns="0" tIns="0" rIns="0" bIns="0" rtlCol="0" anchor="t"/>
          <a:lstStyle/>
          <a:p>
            <a:pPr marL="0" indent="0">
              <a:lnSpc>
                <a:spcPct val="110000"/>
              </a:lnSpc>
              <a:buNone/>
            </a:pPr>
            <a:r>
              <a:rPr lang="en-US" sz="1250" dirty="0">
                <a:solidFill>
                  <a:srgbClr val="C3CEDE"/>
                </a:solidFill>
                <a:latin typeface="Calibri" pitchFamily="34" charset="0"/>
                <a:ea typeface="Calibri" pitchFamily="34" charset="-122"/>
                <a:cs typeface="Calibri" pitchFamily="34" charset="-120"/>
              </a:rPr>
              <a:t>SlowAPI en 5 endpoints sensibles (votos, comentarios…).</a:t>
            </a:r>
            <a:endParaRPr lang="en-US" sz="1250" dirty="0"/>
          </a:p>
        </p:txBody>
      </p:sp>
      <p:sp>
        <p:nvSpPr>
          <p:cNvPr id="30" name="Shape 19"/>
          <p:cNvSpPr/>
          <p:nvPr/>
        </p:nvSpPr>
        <p:spPr>
          <a:xfrm>
            <a:off x="4462272" y="4023360"/>
            <a:ext cx="3602736" cy="21031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31" name="Image 9" descr="preencoded.png"/>
          <p:cNvPicPr>
            <a:picLocks noChangeAspect="1"/>
          </p:cNvPicPr>
          <p:nvPr/>
        </p:nvPicPr>
        <p:blipFill>
          <a:blip r:embed="rId5"/>
          <a:stretch>
            <a:fillRect/>
          </a:stretch>
        </p:blipFill>
        <p:spPr>
          <a:xfrm>
            <a:off x="4462272" y="4023360"/>
            <a:ext cx="3602736" cy="73152"/>
          </a:xfrm>
          <a:prstGeom prst="rect">
            <a:avLst/>
          </a:prstGeom>
        </p:spPr>
      </p:pic>
      <p:sp>
        <p:nvSpPr>
          <p:cNvPr id="32" name="Shape 20"/>
          <p:cNvSpPr/>
          <p:nvPr/>
        </p:nvSpPr>
        <p:spPr>
          <a:xfrm>
            <a:off x="4736592" y="4315968"/>
            <a:ext cx="658368" cy="658368"/>
          </a:xfrm>
          <a:prstGeom prst="ellipse">
            <a:avLst/>
          </a:prstGeom>
          <a:solidFill>
            <a:srgbClr val="FF6A2B"/>
          </a:solidFill>
          <a:ln/>
        </p:spPr>
        <p:txBody>
          <a:bodyPr/>
          <a:lstStyle/>
          <a:p>
            <a:endParaRPr lang="es-ES"/>
          </a:p>
        </p:txBody>
      </p:sp>
      <p:pic>
        <p:nvPicPr>
          <p:cNvPr id="33" name="Image 10" descr="preencoded.png"/>
          <p:cNvPicPr>
            <a:picLocks noChangeAspect="1"/>
          </p:cNvPicPr>
          <p:nvPr/>
        </p:nvPicPr>
        <p:blipFill>
          <a:blip r:embed="rId10"/>
          <a:stretch>
            <a:fillRect/>
          </a:stretch>
        </p:blipFill>
        <p:spPr>
          <a:xfrm>
            <a:off x="4901184" y="4480560"/>
            <a:ext cx="329184" cy="329184"/>
          </a:xfrm>
          <a:prstGeom prst="rect">
            <a:avLst/>
          </a:prstGeom>
        </p:spPr>
      </p:pic>
      <p:sp>
        <p:nvSpPr>
          <p:cNvPr id="34" name="Text 21"/>
          <p:cNvSpPr/>
          <p:nvPr/>
        </p:nvSpPr>
        <p:spPr>
          <a:xfrm>
            <a:off x="5541264" y="4315968"/>
            <a:ext cx="2322576" cy="658368"/>
          </a:xfrm>
          <a:prstGeom prst="rect">
            <a:avLst/>
          </a:prstGeom>
          <a:noFill/>
          <a:ln/>
        </p:spPr>
        <p:txBody>
          <a:bodyPr wrap="square" lIns="0" tIns="0" rIns="0" bIns="0" rtlCol="0" anchor="ctr"/>
          <a:lstStyle/>
          <a:p>
            <a:pPr marL="0" indent="0">
              <a:buNone/>
            </a:pPr>
            <a:r>
              <a:rPr lang="en-US" sz="1500" b="1" dirty="0">
                <a:solidFill>
                  <a:srgbClr val="F3F7FD"/>
                </a:solidFill>
                <a:latin typeface="Georgia" pitchFamily="34" charset="0"/>
                <a:ea typeface="Georgia" pitchFamily="34" charset="-122"/>
                <a:cs typeface="Georgia" pitchFamily="34" charset="-120"/>
              </a:rPr>
              <a:t>Cabeceras CSP / HSTS</a:t>
            </a:r>
            <a:endParaRPr lang="en-US" sz="1500" dirty="0"/>
          </a:p>
        </p:txBody>
      </p:sp>
      <p:sp>
        <p:nvSpPr>
          <p:cNvPr id="35" name="Text 22"/>
          <p:cNvSpPr/>
          <p:nvPr/>
        </p:nvSpPr>
        <p:spPr>
          <a:xfrm>
            <a:off x="4736592" y="5102352"/>
            <a:ext cx="3054096" cy="914400"/>
          </a:xfrm>
          <a:prstGeom prst="rect">
            <a:avLst/>
          </a:prstGeom>
          <a:noFill/>
          <a:ln/>
        </p:spPr>
        <p:txBody>
          <a:bodyPr wrap="square" lIns="0" tIns="0" rIns="0" bIns="0" rtlCol="0" anchor="t"/>
          <a:lstStyle/>
          <a:p>
            <a:pPr marL="0" indent="0">
              <a:lnSpc>
                <a:spcPct val="110000"/>
              </a:lnSpc>
              <a:buNone/>
            </a:pPr>
            <a:r>
              <a:rPr lang="en-US" sz="1250" dirty="0">
                <a:solidFill>
                  <a:srgbClr val="C3CEDE"/>
                </a:solidFill>
                <a:latin typeface="Calibri" pitchFamily="34" charset="0"/>
                <a:ea typeface="Calibri" pitchFamily="34" charset="-122"/>
                <a:cs typeface="Calibri" pitchFamily="34" charset="-120"/>
              </a:rPr>
              <a:t>CSP, X-Frame-Options, HSTS y Referrer-Policy en prod.</a:t>
            </a:r>
            <a:endParaRPr lang="en-US" sz="1250" dirty="0"/>
          </a:p>
        </p:txBody>
      </p:sp>
      <p:sp>
        <p:nvSpPr>
          <p:cNvPr id="36" name="Shape 23"/>
          <p:cNvSpPr/>
          <p:nvPr/>
        </p:nvSpPr>
        <p:spPr>
          <a:xfrm>
            <a:off x="8357616" y="4023360"/>
            <a:ext cx="3602736" cy="210312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37" name="Image 11" descr="preencoded.png"/>
          <p:cNvPicPr>
            <a:picLocks noChangeAspect="1"/>
          </p:cNvPicPr>
          <p:nvPr/>
        </p:nvPicPr>
        <p:blipFill>
          <a:blip r:embed="rId5"/>
          <a:stretch>
            <a:fillRect/>
          </a:stretch>
        </p:blipFill>
        <p:spPr>
          <a:xfrm>
            <a:off x="8357616" y="4023360"/>
            <a:ext cx="3602736" cy="73152"/>
          </a:xfrm>
          <a:prstGeom prst="rect">
            <a:avLst/>
          </a:prstGeom>
        </p:spPr>
      </p:pic>
      <p:sp>
        <p:nvSpPr>
          <p:cNvPr id="38" name="Shape 24"/>
          <p:cNvSpPr/>
          <p:nvPr/>
        </p:nvSpPr>
        <p:spPr>
          <a:xfrm>
            <a:off x="8631936" y="4315968"/>
            <a:ext cx="658368" cy="658368"/>
          </a:xfrm>
          <a:prstGeom prst="ellipse">
            <a:avLst/>
          </a:prstGeom>
          <a:solidFill>
            <a:srgbClr val="37D6C3"/>
          </a:solidFill>
          <a:ln/>
        </p:spPr>
        <p:txBody>
          <a:bodyPr/>
          <a:lstStyle/>
          <a:p>
            <a:endParaRPr lang="es-ES"/>
          </a:p>
        </p:txBody>
      </p:sp>
      <p:pic>
        <p:nvPicPr>
          <p:cNvPr id="39" name="Image 12" descr="preencoded.png"/>
          <p:cNvPicPr>
            <a:picLocks noChangeAspect="1"/>
          </p:cNvPicPr>
          <p:nvPr/>
        </p:nvPicPr>
        <p:blipFill>
          <a:blip r:embed="rId11"/>
          <a:stretch>
            <a:fillRect/>
          </a:stretch>
        </p:blipFill>
        <p:spPr>
          <a:xfrm>
            <a:off x="8796528" y="4480560"/>
            <a:ext cx="329184" cy="329184"/>
          </a:xfrm>
          <a:prstGeom prst="rect">
            <a:avLst/>
          </a:prstGeom>
        </p:spPr>
      </p:pic>
      <p:sp>
        <p:nvSpPr>
          <p:cNvPr id="40" name="Text 25"/>
          <p:cNvSpPr/>
          <p:nvPr/>
        </p:nvSpPr>
        <p:spPr>
          <a:xfrm>
            <a:off x="9436608" y="4315968"/>
            <a:ext cx="2322576" cy="658368"/>
          </a:xfrm>
          <a:prstGeom prst="rect">
            <a:avLst/>
          </a:prstGeom>
          <a:noFill/>
          <a:ln/>
        </p:spPr>
        <p:txBody>
          <a:bodyPr wrap="square" lIns="0" tIns="0" rIns="0" bIns="0" rtlCol="0" anchor="ctr"/>
          <a:lstStyle/>
          <a:p>
            <a:pPr marL="0" indent="0">
              <a:buNone/>
            </a:pPr>
            <a:r>
              <a:rPr lang="en-US" sz="1500" b="1" dirty="0">
                <a:solidFill>
                  <a:srgbClr val="F3F7FD"/>
                </a:solidFill>
                <a:latin typeface="Georgia" pitchFamily="34" charset="0"/>
                <a:ea typeface="Georgia" pitchFamily="34" charset="-122"/>
                <a:cs typeface="Georgia" pitchFamily="34" charset="-120"/>
              </a:rPr>
              <a:t>Allowlist anti-SSRF</a:t>
            </a:r>
            <a:endParaRPr lang="en-US" sz="1500" dirty="0"/>
          </a:p>
        </p:txBody>
      </p:sp>
      <p:sp>
        <p:nvSpPr>
          <p:cNvPr id="41" name="Text 26"/>
          <p:cNvSpPr/>
          <p:nvPr/>
        </p:nvSpPr>
        <p:spPr>
          <a:xfrm>
            <a:off x="8631936" y="5102352"/>
            <a:ext cx="3054096" cy="914400"/>
          </a:xfrm>
          <a:prstGeom prst="rect">
            <a:avLst/>
          </a:prstGeom>
          <a:noFill/>
          <a:ln/>
        </p:spPr>
        <p:txBody>
          <a:bodyPr wrap="square" lIns="0" tIns="0" rIns="0" bIns="0" rtlCol="0" anchor="t"/>
          <a:lstStyle/>
          <a:p>
            <a:pPr marL="0" indent="0">
              <a:lnSpc>
                <a:spcPct val="110000"/>
              </a:lnSpc>
              <a:buNone/>
            </a:pPr>
            <a:r>
              <a:rPr lang="en-US" sz="1250" dirty="0">
                <a:solidFill>
                  <a:srgbClr val="C3CEDE"/>
                </a:solidFill>
                <a:latin typeface="Calibri" pitchFamily="34" charset="0"/>
                <a:ea typeface="Calibri" pitchFamily="34" charset="-122"/>
                <a:cs typeface="Calibri" pitchFamily="34" charset="-120"/>
              </a:rPr>
              <a:t>Solo Amazon; bloqueo de IPs privadas al extraer el ASIN.</a:t>
            </a:r>
            <a:endParaRPr lang="en-US" sz="1250" dirty="0"/>
          </a:p>
        </p:txBody>
      </p:sp>
      <p:sp>
        <p:nvSpPr>
          <p:cNvPr id="43" name="Text 27"/>
          <p:cNvSpPr/>
          <p:nvPr/>
        </p:nvSpPr>
        <p:spPr>
          <a:xfrm>
            <a:off x="566928" y="6446520"/>
            <a:ext cx="8229600" cy="292608"/>
          </a:xfrm>
          <a:prstGeom prst="rect">
            <a:avLst/>
          </a:prstGeom>
          <a:noFill/>
          <a:ln/>
        </p:spPr>
        <p:txBody>
          <a:bodyPr wrap="square" lIns="0" tIns="0" rIns="0" bIns="0" rtlCol="0" anchor="ctr"/>
          <a:lstStyle/>
          <a:p>
            <a:pPr marL="0" indent="0">
              <a:buNone/>
            </a:pPr>
            <a:r>
              <a:rPr lang="en-US" sz="900" dirty="0">
                <a:solidFill>
                  <a:srgbClr val="8492A6"/>
                </a:solidFill>
                <a:latin typeface="Calibri" pitchFamily="34" charset="0"/>
                <a:ea typeface="Calibri" pitchFamily="34" charset="-122"/>
                <a:cs typeface="Calibri" pitchFamily="34" charset="-120"/>
              </a:rPr>
              <a:t>BuenCholloTech · TFM Máster en Desarrollo con IA 2025</a:t>
            </a:r>
            <a:endParaRPr lang="en-US" sz="900" dirty="0"/>
          </a:p>
        </p:txBody>
      </p:sp>
      <p:sp>
        <p:nvSpPr>
          <p:cNvPr id="44" name="Text 28"/>
          <p:cNvSpPr/>
          <p:nvPr/>
        </p:nvSpPr>
        <p:spPr>
          <a:xfrm>
            <a:off x="10527487" y="6446520"/>
            <a:ext cx="1097280" cy="292608"/>
          </a:xfrm>
          <a:prstGeom prst="rect">
            <a:avLst/>
          </a:prstGeom>
          <a:noFill/>
          <a:ln/>
        </p:spPr>
        <p:txBody>
          <a:bodyPr wrap="square" lIns="0" tIns="0" rIns="0" bIns="0"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928" y="457200"/>
            <a:ext cx="2225650" cy="310896"/>
          </a:xfrm>
          <a:prstGeom prst="roundRect">
            <a:avLst>
              <a:gd name="adj" fmla="val 50000"/>
            </a:avLst>
          </a:prstGeom>
          <a:solidFill>
            <a:srgbClr val="FF6A2B"/>
          </a:solidFill>
          <a:ln/>
        </p:spPr>
        <p:txBody>
          <a:bodyPr/>
          <a:lstStyle/>
          <a:p>
            <a:endParaRPr lang="es-ES"/>
          </a:p>
        </p:txBody>
      </p:sp>
      <p:sp>
        <p:nvSpPr>
          <p:cNvPr id="3" name="Text 1"/>
          <p:cNvSpPr/>
          <p:nvPr/>
        </p:nvSpPr>
        <p:spPr>
          <a:xfrm>
            <a:off x="566928" y="457200"/>
            <a:ext cx="2225650" cy="310896"/>
          </a:xfrm>
          <a:prstGeom prst="rect">
            <a:avLst/>
          </a:prstGeom>
          <a:noFill/>
          <a:ln/>
        </p:spPr>
        <p:txBody>
          <a:bodyPr wrap="square" lIns="0" tIns="0" rIns="0" bIns="0" rtlCol="0" anchor="ctr"/>
          <a:lstStyle/>
          <a:p>
            <a:pPr marL="0" indent="0" algn="ctr">
              <a:buNone/>
            </a:pPr>
            <a:r>
              <a:rPr lang="en-US" sz="1050" b="1" kern="0" spc="100" dirty="0">
                <a:solidFill>
                  <a:srgbClr val="0A0F1A"/>
                </a:solidFill>
                <a:latin typeface="Calibri" pitchFamily="34" charset="0"/>
                <a:ea typeface="Calibri" pitchFamily="34" charset="-122"/>
                <a:cs typeface="Calibri" pitchFamily="34" charset="-120"/>
              </a:rPr>
              <a:t>DESARROLLO CON IA</a:t>
            </a:r>
            <a:endParaRPr lang="en-US" sz="1050" dirty="0"/>
          </a:p>
        </p:txBody>
      </p:sp>
      <p:pic>
        <p:nvPicPr>
          <p:cNvPr id="4" name="Image 0" descr="preencoded.png"/>
          <p:cNvPicPr>
            <a:picLocks noChangeAspect="1"/>
          </p:cNvPicPr>
          <p:nvPr/>
        </p:nvPicPr>
        <p:blipFill>
          <a:blip r:embed="rId4"/>
          <a:stretch>
            <a:fillRect/>
          </a:stretch>
        </p:blipFill>
        <p:spPr>
          <a:xfrm>
            <a:off x="11057839" y="384048"/>
            <a:ext cx="457200" cy="457200"/>
          </a:xfrm>
          <a:prstGeom prst="rect">
            <a:avLst/>
          </a:prstGeom>
        </p:spPr>
      </p:pic>
      <p:sp>
        <p:nvSpPr>
          <p:cNvPr id="5" name="Text 2"/>
          <p:cNvSpPr/>
          <p:nvPr/>
        </p:nvSpPr>
        <p:spPr>
          <a:xfrm>
            <a:off x="566928" y="841248"/>
            <a:ext cx="10554919" cy="640080"/>
          </a:xfrm>
          <a:prstGeom prst="rect">
            <a:avLst/>
          </a:prstGeom>
          <a:noFill/>
          <a:ln/>
        </p:spPr>
        <p:txBody>
          <a:bodyPr wrap="square" lIns="0" tIns="0" rIns="0" bIns="0" rtlCol="0" anchor="ctr"/>
          <a:lstStyle/>
          <a:p>
            <a:pPr marL="0" indent="0">
              <a:buNone/>
            </a:pPr>
            <a:r>
              <a:rPr lang="en-US" sz="2700" b="1" dirty="0">
                <a:solidFill>
                  <a:srgbClr val="F3F7FD"/>
                </a:solidFill>
                <a:latin typeface="Georgia" pitchFamily="34" charset="0"/>
                <a:ea typeface="Georgia" pitchFamily="34" charset="-122"/>
                <a:cs typeface="Georgia" pitchFamily="34" charset="-120"/>
              </a:rPr>
              <a:t>Claude Code como apoyo supervisado, no como sustituto</a:t>
            </a:r>
            <a:endParaRPr lang="en-US" sz="2700" dirty="0"/>
          </a:p>
        </p:txBody>
      </p:sp>
      <p:sp>
        <p:nvSpPr>
          <p:cNvPr id="6" name="Text 3"/>
          <p:cNvSpPr/>
          <p:nvPr/>
        </p:nvSpPr>
        <p:spPr>
          <a:xfrm>
            <a:off x="566928" y="1481328"/>
            <a:ext cx="5486400" cy="274320"/>
          </a:xfrm>
          <a:prstGeom prst="rect">
            <a:avLst/>
          </a:prstGeom>
          <a:noFill/>
          <a:ln/>
        </p:spPr>
        <p:txBody>
          <a:bodyPr wrap="square" lIns="0" tIns="0" rIns="0" bIns="0" rtlCol="0" anchor="ctr"/>
          <a:lstStyle/>
          <a:p>
            <a:pPr marL="0" indent="0">
              <a:buNone/>
            </a:pPr>
            <a:r>
              <a:rPr lang="en-US" sz="1200" b="1" kern="0" spc="150" dirty="0">
                <a:solidFill>
                  <a:srgbClr val="37D6C3"/>
                </a:solidFill>
                <a:latin typeface="Calibri" pitchFamily="34" charset="0"/>
                <a:ea typeface="Calibri" pitchFamily="34" charset="-122"/>
                <a:cs typeface="Calibri" pitchFamily="34" charset="-120"/>
              </a:rPr>
              <a:t>TRES PATRONES DE USO</a:t>
            </a:r>
            <a:endParaRPr lang="en-US" sz="1200" dirty="0"/>
          </a:p>
        </p:txBody>
      </p:sp>
      <p:sp>
        <p:nvSpPr>
          <p:cNvPr id="7" name="Shape 4"/>
          <p:cNvSpPr/>
          <p:nvPr/>
        </p:nvSpPr>
        <p:spPr>
          <a:xfrm>
            <a:off x="566928" y="1810512"/>
            <a:ext cx="5440680" cy="132588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8" name="Image 1" descr="preencoded.png"/>
          <p:cNvPicPr>
            <a:picLocks noChangeAspect="1"/>
          </p:cNvPicPr>
          <p:nvPr/>
        </p:nvPicPr>
        <p:blipFill>
          <a:blip r:embed="rId5"/>
          <a:stretch>
            <a:fillRect/>
          </a:stretch>
        </p:blipFill>
        <p:spPr>
          <a:xfrm>
            <a:off x="566928" y="1810512"/>
            <a:ext cx="5440680" cy="73152"/>
          </a:xfrm>
          <a:prstGeom prst="rect">
            <a:avLst/>
          </a:prstGeom>
        </p:spPr>
      </p:pic>
      <p:sp>
        <p:nvSpPr>
          <p:cNvPr id="9" name="Shape 5"/>
          <p:cNvSpPr/>
          <p:nvPr/>
        </p:nvSpPr>
        <p:spPr>
          <a:xfrm>
            <a:off x="822960" y="2121408"/>
            <a:ext cx="713232" cy="713232"/>
          </a:xfrm>
          <a:prstGeom prst="ellipse">
            <a:avLst/>
          </a:prstGeom>
          <a:solidFill>
            <a:srgbClr val="FF6A2B"/>
          </a:solidFill>
          <a:ln/>
        </p:spPr>
        <p:txBody>
          <a:bodyPr/>
          <a:lstStyle/>
          <a:p>
            <a:endParaRPr lang="es-ES"/>
          </a:p>
        </p:txBody>
      </p:sp>
      <p:pic>
        <p:nvPicPr>
          <p:cNvPr id="10" name="Image 2" descr="preencoded.png"/>
          <p:cNvPicPr>
            <a:picLocks noChangeAspect="1"/>
          </p:cNvPicPr>
          <p:nvPr/>
        </p:nvPicPr>
        <p:blipFill>
          <a:blip r:embed="rId6"/>
          <a:stretch>
            <a:fillRect/>
          </a:stretch>
        </p:blipFill>
        <p:spPr>
          <a:xfrm>
            <a:off x="996696" y="2295144"/>
            <a:ext cx="365760" cy="365760"/>
          </a:xfrm>
          <a:prstGeom prst="rect">
            <a:avLst/>
          </a:prstGeom>
        </p:spPr>
      </p:pic>
      <p:sp>
        <p:nvSpPr>
          <p:cNvPr id="11" name="Text 6"/>
          <p:cNvSpPr/>
          <p:nvPr/>
        </p:nvSpPr>
        <p:spPr>
          <a:xfrm>
            <a:off x="1700784" y="1901952"/>
            <a:ext cx="4160520" cy="1143000"/>
          </a:xfrm>
          <a:prstGeom prst="rect">
            <a:avLst/>
          </a:prstGeom>
          <a:noFill/>
          <a:ln/>
        </p:spPr>
        <p:txBody>
          <a:bodyPr wrap="square" lIns="0" tIns="0" rIns="0" bIns="0" rtlCol="0" anchor="ctr"/>
          <a:lstStyle/>
          <a:p>
            <a:pPr marL="0" indent="0">
              <a:lnSpc>
                <a:spcPct val="108000"/>
              </a:lnSpc>
              <a:buNone/>
            </a:pPr>
            <a:r>
              <a:rPr lang="en-US" sz="1500" b="1" dirty="0">
                <a:solidFill>
                  <a:srgbClr val="F3F7FD"/>
                </a:solidFill>
                <a:latin typeface="Calibri" pitchFamily="34" charset="0"/>
                <a:ea typeface="Calibri" pitchFamily="34" charset="-122"/>
                <a:cs typeface="Calibri" pitchFamily="34" charset="-120"/>
              </a:rPr>
              <a:t>Auditorías por módulo</a:t>
            </a:r>
            <a:endParaRPr lang="en-US" sz="1500" dirty="0"/>
          </a:p>
          <a:p>
            <a:pPr marL="0" indent="0">
              <a:lnSpc>
                <a:spcPct val="108000"/>
              </a:lnSpc>
              <a:buNone/>
            </a:pPr>
            <a:r>
              <a:rPr lang="en-US" sz="1250" dirty="0">
                <a:solidFill>
                  <a:srgbClr val="C3CEDE"/>
                </a:solidFill>
                <a:latin typeface="Calibri" pitchFamily="34" charset="0"/>
                <a:ea typeface="Calibri" pitchFamily="34" charset="-122"/>
                <a:cs typeface="Calibri" pitchFamily="34" charset="-120"/>
              </a:rPr>
              <a:t>Prompts largos (200–400 líneas) + aprobación del plan antes de tocar código.</a:t>
            </a:r>
            <a:endParaRPr lang="en-US" sz="1500" dirty="0"/>
          </a:p>
        </p:txBody>
      </p:sp>
      <p:sp>
        <p:nvSpPr>
          <p:cNvPr id="12" name="Shape 7"/>
          <p:cNvSpPr/>
          <p:nvPr/>
        </p:nvSpPr>
        <p:spPr>
          <a:xfrm>
            <a:off x="566928" y="3273552"/>
            <a:ext cx="5440680" cy="132588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3" name="Image 3" descr="preencoded.png"/>
          <p:cNvPicPr>
            <a:picLocks noChangeAspect="1"/>
          </p:cNvPicPr>
          <p:nvPr/>
        </p:nvPicPr>
        <p:blipFill>
          <a:blip r:embed="rId5"/>
          <a:stretch>
            <a:fillRect/>
          </a:stretch>
        </p:blipFill>
        <p:spPr>
          <a:xfrm>
            <a:off x="566928" y="3273552"/>
            <a:ext cx="5440680" cy="73152"/>
          </a:xfrm>
          <a:prstGeom prst="rect">
            <a:avLst/>
          </a:prstGeom>
        </p:spPr>
      </p:pic>
      <p:sp>
        <p:nvSpPr>
          <p:cNvPr id="14" name="Shape 8"/>
          <p:cNvSpPr/>
          <p:nvPr/>
        </p:nvSpPr>
        <p:spPr>
          <a:xfrm>
            <a:off x="822960" y="3584448"/>
            <a:ext cx="713232" cy="713232"/>
          </a:xfrm>
          <a:prstGeom prst="ellipse">
            <a:avLst/>
          </a:prstGeom>
          <a:solidFill>
            <a:srgbClr val="FF6A2B"/>
          </a:solidFill>
          <a:ln/>
        </p:spPr>
        <p:txBody>
          <a:bodyPr/>
          <a:lstStyle/>
          <a:p>
            <a:endParaRPr lang="es-ES"/>
          </a:p>
        </p:txBody>
      </p:sp>
      <p:pic>
        <p:nvPicPr>
          <p:cNvPr id="15" name="Image 4" descr="preencoded.png"/>
          <p:cNvPicPr>
            <a:picLocks noChangeAspect="1"/>
          </p:cNvPicPr>
          <p:nvPr/>
        </p:nvPicPr>
        <p:blipFill>
          <a:blip r:embed="rId7"/>
          <a:stretch>
            <a:fillRect/>
          </a:stretch>
        </p:blipFill>
        <p:spPr>
          <a:xfrm>
            <a:off x="996696" y="3758184"/>
            <a:ext cx="365760" cy="365760"/>
          </a:xfrm>
          <a:prstGeom prst="rect">
            <a:avLst/>
          </a:prstGeom>
        </p:spPr>
      </p:pic>
      <p:sp>
        <p:nvSpPr>
          <p:cNvPr id="16" name="Text 9"/>
          <p:cNvSpPr/>
          <p:nvPr/>
        </p:nvSpPr>
        <p:spPr>
          <a:xfrm>
            <a:off x="1700784" y="3364992"/>
            <a:ext cx="4160520" cy="1143000"/>
          </a:xfrm>
          <a:prstGeom prst="rect">
            <a:avLst/>
          </a:prstGeom>
          <a:noFill/>
          <a:ln/>
        </p:spPr>
        <p:txBody>
          <a:bodyPr wrap="square" lIns="0" tIns="0" rIns="0" bIns="0" rtlCol="0" anchor="ctr"/>
          <a:lstStyle/>
          <a:p>
            <a:pPr marL="0" indent="0">
              <a:lnSpc>
                <a:spcPct val="108000"/>
              </a:lnSpc>
              <a:buNone/>
            </a:pPr>
            <a:r>
              <a:rPr lang="en-US" sz="1500" b="1" dirty="0">
                <a:solidFill>
                  <a:srgbClr val="F3F7FD"/>
                </a:solidFill>
                <a:latin typeface="Calibri" pitchFamily="34" charset="0"/>
                <a:ea typeface="Calibri" pitchFamily="34" charset="-122"/>
                <a:cs typeface="Calibri" pitchFamily="34" charset="-120"/>
              </a:rPr>
              <a:t>Implementación guiada</a:t>
            </a:r>
            <a:endParaRPr lang="en-US" sz="1500" dirty="0"/>
          </a:p>
          <a:p>
            <a:pPr marL="0" indent="0">
              <a:lnSpc>
                <a:spcPct val="108000"/>
              </a:lnSpc>
              <a:buNone/>
            </a:pPr>
            <a:r>
              <a:rPr lang="en-US" sz="1250" dirty="0">
                <a:solidFill>
                  <a:srgbClr val="C3CEDE"/>
                </a:solidFill>
                <a:latin typeface="Calibri" pitchFamily="34" charset="0"/>
                <a:ea typeface="Calibri" pitchFamily="34" charset="-122"/>
                <a:cs typeface="Calibri" pitchFamily="34" charset="-120"/>
              </a:rPr>
              <a:t>CLAUDE.md persistente con rol, principios y restricciones del proyecto.</a:t>
            </a:r>
            <a:endParaRPr lang="en-US" sz="1500" dirty="0"/>
          </a:p>
        </p:txBody>
      </p:sp>
      <p:sp>
        <p:nvSpPr>
          <p:cNvPr id="17" name="Shape 10"/>
          <p:cNvSpPr/>
          <p:nvPr/>
        </p:nvSpPr>
        <p:spPr>
          <a:xfrm>
            <a:off x="566928" y="4736592"/>
            <a:ext cx="5440680" cy="132588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8" name="Image 5" descr="preencoded.png"/>
          <p:cNvPicPr>
            <a:picLocks noChangeAspect="1"/>
          </p:cNvPicPr>
          <p:nvPr/>
        </p:nvPicPr>
        <p:blipFill>
          <a:blip r:embed="rId5"/>
          <a:stretch>
            <a:fillRect/>
          </a:stretch>
        </p:blipFill>
        <p:spPr>
          <a:xfrm>
            <a:off x="566928" y="4736592"/>
            <a:ext cx="5440680" cy="73152"/>
          </a:xfrm>
          <a:prstGeom prst="rect">
            <a:avLst/>
          </a:prstGeom>
        </p:spPr>
      </p:pic>
      <p:sp>
        <p:nvSpPr>
          <p:cNvPr id="19" name="Shape 11"/>
          <p:cNvSpPr/>
          <p:nvPr/>
        </p:nvSpPr>
        <p:spPr>
          <a:xfrm>
            <a:off x="822960" y="5047488"/>
            <a:ext cx="713232" cy="713232"/>
          </a:xfrm>
          <a:prstGeom prst="ellipse">
            <a:avLst/>
          </a:prstGeom>
          <a:solidFill>
            <a:srgbClr val="FF6A2B"/>
          </a:solidFill>
          <a:ln/>
        </p:spPr>
        <p:txBody>
          <a:bodyPr/>
          <a:lstStyle/>
          <a:p>
            <a:endParaRPr lang="es-ES"/>
          </a:p>
        </p:txBody>
      </p:sp>
      <p:pic>
        <p:nvPicPr>
          <p:cNvPr id="20" name="Image 6" descr="preencoded.png"/>
          <p:cNvPicPr>
            <a:picLocks noChangeAspect="1"/>
          </p:cNvPicPr>
          <p:nvPr/>
        </p:nvPicPr>
        <p:blipFill>
          <a:blip r:embed="rId8"/>
          <a:stretch>
            <a:fillRect/>
          </a:stretch>
        </p:blipFill>
        <p:spPr>
          <a:xfrm>
            <a:off x="996696" y="5221224"/>
            <a:ext cx="365760" cy="365760"/>
          </a:xfrm>
          <a:prstGeom prst="rect">
            <a:avLst/>
          </a:prstGeom>
        </p:spPr>
      </p:pic>
      <p:sp>
        <p:nvSpPr>
          <p:cNvPr id="21" name="Text 12"/>
          <p:cNvSpPr/>
          <p:nvPr/>
        </p:nvSpPr>
        <p:spPr>
          <a:xfrm>
            <a:off x="1700784" y="4828032"/>
            <a:ext cx="4160520" cy="1143000"/>
          </a:xfrm>
          <a:prstGeom prst="rect">
            <a:avLst/>
          </a:prstGeom>
          <a:noFill/>
          <a:ln/>
        </p:spPr>
        <p:txBody>
          <a:bodyPr wrap="square" lIns="0" tIns="0" rIns="0" bIns="0" rtlCol="0" anchor="ctr"/>
          <a:lstStyle/>
          <a:p>
            <a:pPr marL="0" indent="0">
              <a:lnSpc>
                <a:spcPct val="108000"/>
              </a:lnSpc>
              <a:buNone/>
            </a:pPr>
            <a:r>
              <a:rPr lang="en-US" sz="1500" b="1" dirty="0">
                <a:solidFill>
                  <a:srgbClr val="F3F7FD"/>
                </a:solidFill>
                <a:latin typeface="Calibri" pitchFamily="34" charset="0"/>
                <a:ea typeface="Calibri" pitchFamily="34" charset="-122"/>
                <a:cs typeface="Calibri" pitchFamily="34" charset="-120"/>
              </a:rPr>
              <a:t>Refactor seguro</a:t>
            </a:r>
            <a:endParaRPr lang="en-US" sz="1500" dirty="0"/>
          </a:p>
          <a:p>
            <a:pPr marL="0" indent="0">
              <a:lnSpc>
                <a:spcPct val="108000"/>
              </a:lnSpc>
              <a:buNone/>
            </a:pPr>
            <a:r>
              <a:rPr lang="en-US" sz="1250" dirty="0">
                <a:solidFill>
                  <a:srgbClr val="C3CEDE"/>
                </a:solidFill>
                <a:latin typeface="Calibri" pitchFamily="34" charset="0"/>
                <a:ea typeface="Calibri" pitchFamily="34" charset="-122"/>
                <a:cs typeface="Calibri" pitchFamily="34" charset="-120"/>
              </a:rPr>
              <a:t>Tests primero, luego refactor, CI en verde antes de mergear.</a:t>
            </a:r>
            <a:endParaRPr lang="en-US" sz="1500" dirty="0"/>
          </a:p>
        </p:txBody>
      </p:sp>
      <p:sp>
        <p:nvSpPr>
          <p:cNvPr id="22" name="Shape 13"/>
          <p:cNvSpPr/>
          <p:nvPr/>
        </p:nvSpPr>
        <p:spPr>
          <a:xfrm>
            <a:off x="6263640" y="1810512"/>
            <a:ext cx="5361127" cy="4251960"/>
          </a:xfrm>
          <a:prstGeom prst="rect">
            <a:avLst/>
          </a:prstGeom>
          <a:solidFill>
            <a:srgbClr val="0E1830"/>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23" name="Image 7" descr="preencoded.png"/>
          <p:cNvPicPr>
            <a:picLocks noChangeAspect="1"/>
          </p:cNvPicPr>
          <p:nvPr/>
        </p:nvPicPr>
        <p:blipFill>
          <a:blip r:embed="rId5"/>
          <a:stretch>
            <a:fillRect/>
          </a:stretch>
        </p:blipFill>
        <p:spPr>
          <a:xfrm>
            <a:off x="6263640" y="1810512"/>
            <a:ext cx="5361127" cy="73152"/>
          </a:xfrm>
          <a:prstGeom prst="rect">
            <a:avLst/>
          </a:prstGeom>
        </p:spPr>
      </p:pic>
      <p:pic>
        <p:nvPicPr>
          <p:cNvPr id="24" name="Image 8" descr="preencoded.png"/>
          <p:cNvPicPr>
            <a:picLocks noChangeAspect="1"/>
          </p:cNvPicPr>
          <p:nvPr/>
        </p:nvPicPr>
        <p:blipFill>
          <a:blip r:embed="rId9"/>
          <a:stretch>
            <a:fillRect/>
          </a:stretch>
        </p:blipFill>
        <p:spPr>
          <a:xfrm>
            <a:off x="10436047" y="914400"/>
            <a:ext cx="2011680" cy="2011680"/>
          </a:xfrm>
          <a:prstGeom prst="rect">
            <a:avLst/>
          </a:prstGeom>
        </p:spPr>
      </p:pic>
      <p:sp>
        <p:nvSpPr>
          <p:cNvPr id="25" name="Text 14"/>
          <p:cNvSpPr/>
          <p:nvPr/>
        </p:nvSpPr>
        <p:spPr>
          <a:xfrm>
            <a:off x="6583680" y="2057400"/>
            <a:ext cx="4721047" cy="320040"/>
          </a:xfrm>
          <a:prstGeom prst="rect">
            <a:avLst/>
          </a:prstGeom>
          <a:noFill/>
          <a:ln/>
        </p:spPr>
        <p:txBody>
          <a:bodyPr wrap="square" lIns="0" tIns="0" rIns="0" bIns="0" rtlCol="0" anchor="ctr"/>
          <a:lstStyle/>
          <a:p>
            <a:pPr marL="0" indent="0">
              <a:buNone/>
            </a:pPr>
            <a:r>
              <a:rPr lang="en-US" sz="1300" b="1" kern="0" spc="150" dirty="0">
                <a:solidFill>
                  <a:srgbClr val="FF6A2B"/>
                </a:solidFill>
                <a:latin typeface="Calibri" pitchFamily="34" charset="0"/>
                <a:ea typeface="Calibri" pitchFamily="34" charset="-122"/>
                <a:cs typeface="Calibri" pitchFamily="34" charset="-120"/>
              </a:rPr>
              <a:t>TRES LÍNEAS DEFENSIVAS</a:t>
            </a:r>
            <a:endParaRPr lang="en-US" sz="1300" dirty="0"/>
          </a:p>
        </p:txBody>
      </p:sp>
      <p:sp>
        <p:nvSpPr>
          <p:cNvPr id="26" name="Shape 15"/>
          <p:cNvSpPr/>
          <p:nvPr/>
        </p:nvSpPr>
        <p:spPr>
          <a:xfrm>
            <a:off x="6583680" y="2560320"/>
            <a:ext cx="713232" cy="713232"/>
          </a:xfrm>
          <a:prstGeom prst="ellipse">
            <a:avLst/>
          </a:prstGeom>
          <a:solidFill>
            <a:srgbClr val="37D6C3"/>
          </a:solidFill>
          <a:ln/>
        </p:spPr>
        <p:txBody>
          <a:bodyPr/>
          <a:lstStyle/>
          <a:p>
            <a:endParaRPr lang="es-ES"/>
          </a:p>
        </p:txBody>
      </p:sp>
      <p:pic>
        <p:nvPicPr>
          <p:cNvPr id="27" name="Image 9" descr="preencoded.png"/>
          <p:cNvPicPr>
            <a:picLocks noChangeAspect="1"/>
          </p:cNvPicPr>
          <p:nvPr/>
        </p:nvPicPr>
        <p:blipFill>
          <a:blip r:embed="rId10"/>
          <a:stretch>
            <a:fillRect/>
          </a:stretch>
        </p:blipFill>
        <p:spPr>
          <a:xfrm>
            <a:off x="6757416" y="2734056"/>
            <a:ext cx="365760" cy="365760"/>
          </a:xfrm>
          <a:prstGeom prst="rect">
            <a:avLst/>
          </a:prstGeom>
        </p:spPr>
      </p:pic>
      <p:sp>
        <p:nvSpPr>
          <p:cNvPr id="28" name="Text 16"/>
          <p:cNvSpPr/>
          <p:nvPr/>
        </p:nvSpPr>
        <p:spPr>
          <a:xfrm>
            <a:off x="7470648" y="2514600"/>
            <a:ext cx="3852367" cy="914400"/>
          </a:xfrm>
          <a:prstGeom prst="rect">
            <a:avLst/>
          </a:prstGeom>
          <a:noFill/>
          <a:ln/>
        </p:spPr>
        <p:txBody>
          <a:bodyPr wrap="square" lIns="0" tIns="0" rIns="0" bIns="0" rtlCol="0" anchor="t"/>
          <a:lstStyle/>
          <a:p>
            <a:pPr marL="0" indent="0">
              <a:lnSpc>
                <a:spcPct val="105000"/>
              </a:lnSpc>
              <a:buNone/>
            </a:pPr>
            <a:r>
              <a:rPr lang="en-US" sz="1500" b="1" dirty="0">
                <a:solidFill>
                  <a:srgbClr val="F3F7FD"/>
                </a:solidFill>
                <a:latin typeface="Calibri" pitchFamily="34" charset="0"/>
                <a:ea typeface="Calibri" pitchFamily="34" charset="-122"/>
                <a:cs typeface="Calibri" pitchFamily="34" charset="-120"/>
              </a:rPr>
              <a:t>Tests automáticos</a:t>
            </a:r>
            <a:endParaRPr lang="en-US" sz="1500" dirty="0"/>
          </a:p>
          <a:p>
            <a:pPr marL="0" indent="0">
              <a:lnSpc>
                <a:spcPct val="105000"/>
              </a:lnSpc>
              <a:buNone/>
            </a:pPr>
            <a:r>
              <a:rPr lang="en-US" sz="1250" dirty="0">
                <a:solidFill>
                  <a:srgbClr val="C3CEDE"/>
                </a:solidFill>
                <a:latin typeface="Calibri" pitchFamily="34" charset="0"/>
                <a:ea typeface="Calibri" pitchFamily="34" charset="-122"/>
                <a:cs typeface="Calibri" pitchFamily="34" charset="-120"/>
              </a:rPr>
              <a:t>167 pruebas que bloquean regresiones.</a:t>
            </a:r>
            <a:endParaRPr lang="en-US" sz="1500" dirty="0"/>
          </a:p>
        </p:txBody>
      </p:sp>
      <p:sp>
        <p:nvSpPr>
          <p:cNvPr id="29" name="Shape 17"/>
          <p:cNvSpPr/>
          <p:nvPr/>
        </p:nvSpPr>
        <p:spPr>
          <a:xfrm>
            <a:off x="6583680" y="3675888"/>
            <a:ext cx="713232" cy="713232"/>
          </a:xfrm>
          <a:prstGeom prst="ellipse">
            <a:avLst/>
          </a:prstGeom>
          <a:solidFill>
            <a:srgbClr val="37D6C3"/>
          </a:solidFill>
          <a:ln/>
        </p:spPr>
        <p:txBody>
          <a:bodyPr/>
          <a:lstStyle/>
          <a:p>
            <a:endParaRPr lang="es-ES"/>
          </a:p>
        </p:txBody>
      </p:sp>
      <p:pic>
        <p:nvPicPr>
          <p:cNvPr id="30" name="Image 10" descr="preencoded.png"/>
          <p:cNvPicPr>
            <a:picLocks noChangeAspect="1"/>
          </p:cNvPicPr>
          <p:nvPr/>
        </p:nvPicPr>
        <p:blipFill>
          <a:blip r:embed="rId11"/>
          <a:stretch>
            <a:fillRect/>
          </a:stretch>
        </p:blipFill>
        <p:spPr>
          <a:xfrm>
            <a:off x="6757416" y="3849624"/>
            <a:ext cx="365760" cy="365760"/>
          </a:xfrm>
          <a:prstGeom prst="rect">
            <a:avLst/>
          </a:prstGeom>
        </p:spPr>
      </p:pic>
      <p:sp>
        <p:nvSpPr>
          <p:cNvPr id="31" name="Text 18"/>
          <p:cNvSpPr/>
          <p:nvPr/>
        </p:nvSpPr>
        <p:spPr>
          <a:xfrm>
            <a:off x="7470648" y="3630168"/>
            <a:ext cx="3852367" cy="914400"/>
          </a:xfrm>
          <a:prstGeom prst="rect">
            <a:avLst/>
          </a:prstGeom>
          <a:noFill/>
          <a:ln/>
        </p:spPr>
        <p:txBody>
          <a:bodyPr wrap="square" lIns="0" tIns="0" rIns="0" bIns="0" rtlCol="0" anchor="t"/>
          <a:lstStyle/>
          <a:p>
            <a:pPr marL="0" indent="0">
              <a:lnSpc>
                <a:spcPct val="105000"/>
              </a:lnSpc>
              <a:buNone/>
            </a:pPr>
            <a:r>
              <a:rPr lang="en-US" sz="1500" b="1" dirty="0">
                <a:solidFill>
                  <a:srgbClr val="F3F7FD"/>
                </a:solidFill>
                <a:latin typeface="Calibri" pitchFamily="34" charset="0"/>
                <a:ea typeface="Calibri" pitchFamily="34" charset="-122"/>
                <a:cs typeface="Calibri" pitchFamily="34" charset="-120"/>
              </a:rPr>
              <a:t>Revisión humana</a:t>
            </a:r>
            <a:endParaRPr lang="en-US" sz="1500" dirty="0"/>
          </a:p>
          <a:p>
            <a:pPr marL="0" indent="0">
              <a:lnSpc>
                <a:spcPct val="105000"/>
              </a:lnSpc>
              <a:buNone/>
            </a:pPr>
            <a:r>
              <a:rPr lang="en-US" sz="1250" dirty="0">
                <a:solidFill>
                  <a:srgbClr val="C3CEDE"/>
                </a:solidFill>
                <a:latin typeface="Calibri" pitchFamily="34" charset="0"/>
                <a:ea typeface="Calibri" pitchFamily="34" charset="-122"/>
                <a:cs typeface="Calibri" pitchFamily="34" charset="-120"/>
              </a:rPr>
              <a:t>Cada commit se aprueba manualmente; sin auto-commit.</a:t>
            </a:r>
            <a:endParaRPr lang="en-US" sz="1500" dirty="0"/>
          </a:p>
        </p:txBody>
      </p:sp>
      <p:sp>
        <p:nvSpPr>
          <p:cNvPr id="32" name="Shape 19"/>
          <p:cNvSpPr/>
          <p:nvPr/>
        </p:nvSpPr>
        <p:spPr>
          <a:xfrm>
            <a:off x="6583680" y="4791456"/>
            <a:ext cx="713232" cy="713232"/>
          </a:xfrm>
          <a:prstGeom prst="ellipse">
            <a:avLst/>
          </a:prstGeom>
          <a:solidFill>
            <a:srgbClr val="37D6C3"/>
          </a:solidFill>
          <a:ln/>
        </p:spPr>
        <p:txBody>
          <a:bodyPr/>
          <a:lstStyle/>
          <a:p>
            <a:endParaRPr lang="es-ES"/>
          </a:p>
        </p:txBody>
      </p:sp>
      <p:pic>
        <p:nvPicPr>
          <p:cNvPr id="33" name="Image 11" descr="preencoded.png"/>
          <p:cNvPicPr>
            <a:picLocks noChangeAspect="1"/>
          </p:cNvPicPr>
          <p:nvPr/>
        </p:nvPicPr>
        <p:blipFill>
          <a:blip r:embed="rId12"/>
          <a:stretch>
            <a:fillRect/>
          </a:stretch>
        </p:blipFill>
        <p:spPr>
          <a:xfrm>
            <a:off x="6757416" y="4965192"/>
            <a:ext cx="365760" cy="365760"/>
          </a:xfrm>
          <a:prstGeom prst="rect">
            <a:avLst/>
          </a:prstGeom>
        </p:spPr>
      </p:pic>
      <p:sp>
        <p:nvSpPr>
          <p:cNvPr id="34" name="Text 20"/>
          <p:cNvSpPr/>
          <p:nvPr/>
        </p:nvSpPr>
        <p:spPr>
          <a:xfrm>
            <a:off x="7470648" y="4745736"/>
            <a:ext cx="3852367" cy="914400"/>
          </a:xfrm>
          <a:prstGeom prst="rect">
            <a:avLst/>
          </a:prstGeom>
          <a:noFill/>
          <a:ln/>
        </p:spPr>
        <p:txBody>
          <a:bodyPr wrap="square" lIns="0" tIns="0" rIns="0" bIns="0" rtlCol="0" anchor="t"/>
          <a:lstStyle/>
          <a:p>
            <a:pPr marL="0" indent="0">
              <a:lnSpc>
                <a:spcPct val="105000"/>
              </a:lnSpc>
              <a:buNone/>
            </a:pPr>
            <a:r>
              <a:rPr lang="en-US" sz="1500" b="1" dirty="0">
                <a:solidFill>
                  <a:srgbClr val="F3F7FD"/>
                </a:solidFill>
                <a:latin typeface="Calibri" pitchFamily="34" charset="0"/>
                <a:ea typeface="Calibri" pitchFamily="34" charset="-122"/>
                <a:cs typeface="Calibri" pitchFamily="34" charset="-120"/>
              </a:rPr>
              <a:t>Auditorías cruzadas</a:t>
            </a:r>
            <a:endParaRPr lang="en-US" sz="1500" dirty="0"/>
          </a:p>
          <a:p>
            <a:pPr marL="0" indent="0">
              <a:lnSpc>
                <a:spcPct val="105000"/>
              </a:lnSpc>
              <a:buNone/>
            </a:pPr>
            <a:r>
              <a:rPr lang="en-US" sz="1250" dirty="0">
                <a:solidFill>
                  <a:srgbClr val="C3CEDE"/>
                </a:solidFill>
                <a:latin typeface="Calibri" pitchFamily="34" charset="0"/>
                <a:ea typeface="Calibri" pitchFamily="34" charset="-122"/>
                <a:cs typeface="Calibri" pitchFamily="34" charset="-120"/>
              </a:rPr>
              <a:t>Revisión por módulos (sprints F1–F7, Q1–Q7, S1–S7).</a:t>
            </a:r>
            <a:endParaRPr lang="en-US" sz="1500" dirty="0"/>
          </a:p>
        </p:txBody>
      </p:sp>
      <p:sp>
        <p:nvSpPr>
          <p:cNvPr id="36" name="Text 21"/>
          <p:cNvSpPr/>
          <p:nvPr/>
        </p:nvSpPr>
        <p:spPr>
          <a:xfrm>
            <a:off x="566928" y="6446520"/>
            <a:ext cx="8229600" cy="292608"/>
          </a:xfrm>
          <a:prstGeom prst="rect">
            <a:avLst/>
          </a:prstGeom>
          <a:noFill/>
          <a:ln/>
        </p:spPr>
        <p:txBody>
          <a:bodyPr wrap="square" lIns="0" tIns="0" rIns="0" bIns="0" rtlCol="0" anchor="ctr"/>
          <a:lstStyle/>
          <a:p>
            <a:pPr marL="0" indent="0">
              <a:buNone/>
            </a:pPr>
            <a:r>
              <a:rPr lang="en-US" sz="900" dirty="0">
                <a:solidFill>
                  <a:srgbClr val="8492A6"/>
                </a:solidFill>
                <a:latin typeface="Calibri" pitchFamily="34" charset="0"/>
                <a:ea typeface="Calibri" pitchFamily="34" charset="-122"/>
                <a:cs typeface="Calibri" pitchFamily="34" charset="-120"/>
              </a:rPr>
              <a:t>BuenCholloTech · TFM Máster en Desarrollo con IA 2025</a:t>
            </a:r>
            <a:endParaRPr lang="en-US" sz="900" dirty="0"/>
          </a:p>
        </p:txBody>
      </p:sp>
      <p:sp>
        <p:nvSpPr>
          <p:cNvPr id="37" name="Text 22"/>
          <p:cNvSpPr/>
          <p:nvPr/>
        </p:nvSpPr>
        <p:spPr>
          <a:xfrm>
            <a:off x="10527487" y="6446520"/>
            <a:ext cx="1097280" cy="292608"/>
          </a:xfrm>
          <a:prstGeom prst="rect">
            <a:avLst/>
          </a:prstGeom>
          <a:noFill/>
          <a:ln/>
        </p:spPr>
        <p:txBody>
          <a:bodyPr wrap="square" lIns="0" tIns="0" rIns="0" bIns="0"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928" y="457200"/>
            <a:ext cx="2783434" cy="310896"/>
          </a:xfrm>
          <a:prstGeom prst="roundRect">
            <a:avLst>
              <a:gd name="adj" fmla="val 50000"/>
            </a:avLst>
          </a:prstGeom>
          <a:solidFill>
            <a:srgbClr val="FF6A2B"/>
          </a:solidFill>
          <a:ln/>
        </p:spPr>
        <p:txBody>
          <a:bodyPr/>
          <a:lstStyle/>
          <a:p>
            <a:endParaRPr lang="es-ES"/>
          </a:p>
        </p:txBody>
      </p:sp>
      <p:sp>
        <p:nvSpPr>
          <p:cNvPr id="3" name="Text 1"/>
          <p:cNvSpPr/>
          <p:nvPr/>
        </p:nvSpPr>
        <p:spPr>
          <a:xfrm>
            <a:off x="566928" y="457200"/>
            <a:ext cx="2783434" cy="310896"/>
          </a:xfrm>
          <a:prstGeom prst="rect">
            <a:avLst/>
          </a:prstGeom>
          <a:noFill/>
          <a:ln/>
        </p:spPr>
        <p:txBody>
          <a:bodyPr wrap="square" lIns="0" tIns="0" rIns="0" bIns="0" rtlCol="0" anchor="ctr"/>
          <a:lstStyle/>
          <a:p>
            <a:pPr marL="0" indent="0" algn="ctr">
              <a:buNone/>
            </a:pPr>
            <a:r>
              <a:rPr lang="en-US" sz="1050" b="1" kern="0" spc="100" dirty="0">
                <a:solidFill>
                  <a:srgbClr val="0A0F1A"/>
                </a:solidFill>
                <a:latin typeface="Calibri" pitchFamily="34" charset="0"/>
                <a:ea typeface="Calibri" pitchFamily="34" charset="-122"/>
                <a:cs typeface="Calibri" pitchFamily="34" charset="-120"/>
              </a:rPr>
              <a:t>DESPLIEGUE &amp; OPERACIÓN</a:t>
            </a:r>
            <a:endParaRPr lang="en-US" sz="1050" dirty="0"/>
          </a:p>
        </p:txBody>
      </p:sp>
      <p:pic>
        <p:nvPicPr>
          <p:cNvPr id="4" name="Image 0" descr="preencoded.png"/>
          <p:cNvPicPr>
            <a:picLocks noChangeAspect="1"/>
          </p:cNvPicPr>
          <p:nvPr/>
        </p:nvPicPr>
        <p:blipFill>
          <a:blip r:embed="rId4"/>
          <a:stretch>
            <a:fillRect/>
          </a:stretch>
        </p:blipFill>
        <p:spPr>
          <a:xfrm>
            <a:off x="11057839" y="384048"/>
            <a:ext cx="457200" cy="457200"/>
          </a:xfrm>
          <a:prstGeom prst="rect">
            <a:avLst/>
          </a:prstGeom>
        </p:spPr>
      </p:pic>
      <p:sp>
        <p:nvSpPr>
          <p:cNvPr id="5" name="Text 2"/>
          <p:cNvSpPr/>
          <p:nvPr/>
        </p:nvSpPr>
        <p:spPr>
          <a:xfrm>
            <a:off x="566928" y="841248"/>
            <a:ext cx="10554919" cy="640080"/>
          </a:xfrm>
          <a:prstGeom prst="rect">
            <a:avLst/>
          </a:prstGeom>
          <a:noFill/>
          <a:ln/>
        </p:spPr>
        <p:txBody>
          <a:bodyPr wrap="square" lIns="0" tIns="0" rIns="0" bIns="0" rtlCol="0" anchor="ctr"/>
          <a:lstStyle/>
          <a:p>
            <a:pPr marL="0" indent="0">
              <a:buNone/>
            </a:pPr>
            <a:r>
              <a:rPr lang="en-US" sz="2700" b="1" dirty="0">
                <a:solidFill>
                  <a:srgbClr val="F3F7FD"/>
                </a:solidFill>
                <a:latin typeface="Georgia" pitchFamily="34" charset="0"/>
                <a:ea typeface="Georgia" pitchFamily="34" charset="-122"/>
                <a:cs typeface="Georgia" pitchFamily="34" charset="-120"/>
              </a:rPr>
              <a:t>NAS propio + Cloudflare: sin abrir un solo puerto</a:t>
            </a:r>
            <a:endParaRPr lang="en-US" sz="2700" dirty="0"/>
          </a:p>
        </p:txBody>
      </p:sp>
      <p:sp>
        <p:nvSpPr>
          <p:cNvPr id="6" name="Shape 3"/>
          <p:cNvSpPr/>
          <p:nvPr/>
        </p:nvSpPr>
        <p:spPr>
          <a:xfrm>
            <a:off x="566928" y="2743200"/>
            <a:ext cx="2011680" cy="1371600"/>
          </a:xfrm>
          <a:prstGeom prst="rect">
            <a:avLst/>
          </a:prstGeom>
          <a:solidFill>
            <a:srgbClr val="152138"/>
          </a:solidFill>
          <a:ln w="15875">
            <a:solidFill>
              <a:srgbClr val="37D6C3"/>
            </a:solidFill>
            <a:prstDash val="solid"/>
          </a:ln>
          <a:effectLst>
            <a:outerShdw blurRad="152400" dist="50800" dir="5400000" algn="bl" rotWithShape="0">
              <a:srgbClr val="000000">
                <a:alpha val="35000"/>
              </a:srgbClr>
            </a:outerShdw>
          </a:effectLst>
        </p:spPr>
        <p:txBody>
          <a:bodyPr/>
          <a:lstStyle/>
          <a:p>
            <a:endParaRPr lang="es-ES"/>
          </a:p>
        </p:txBody>
      </p:sp>
      <p:sp>
        <p:nvSpPr>
          <p:cNvPr id="7" name="Text 4"/>
          <p:cNvSpPr/>
          <p:nvPr/>
        </p:nvSpPr>
        <p:spPr>
          <a:xfrm>
            <a:off x="676656" y="2743200"/>
            <a:ext cx="1792224" cy="1371600"/>
          </a:xfrm>
          <a:prstGeom prst="rect">
            <a:avLst/>
          </a:prstGeom>
          <a:noFill/>
          <a:ln/>
        </p:spPr>
        <p:txBody>
          <a:bodyPr wrap="square" lIns="0" tIns="0" rIns="0" bIns="0" rtlCol="0" anchor="ctr"/>
          <a:lstStyle/>
          <a:p>
            <a:pPr marL="0" indent="0" algn="ctr">
              <a:lnSpc>
                <a:spcPct val="105000"/>
              </a:lnSpc>
              <a:buNone/>
            </a:pPr>
            <a:r>
              <a:rPr lang="en-US" sz="1350" b="1" dirty="0">
                <a:solidFill>
                  <a:srgbClr val="F3F7FD"/>
                </a:solidFill>
                <a:latin typeface="Calibri" pitchFamily="34" charset="0"/>
                <a:ea typeface="Calibri" pitchFamily="34" charset="-122"/>
                <a:cs typeface="Calibri" pitchFamily="34" charset="-120"/>
              </a:rPr>
              <a:t>Usuario</a:t>
            </a:r>
            <a:endParaRPr lang="en-US" sz="1350" dirty="0"/>
          </a:p>
          <a:p>
            <a:pPr marL="0" indent="0" algn="ctr">
              <a:lnSpc>
                <a:spcPct val="105000"/>
              </a:lnSpc>
              <a:buNone/>
            </a:pPr>
            <a:r>
              <a:rPr lang="en-US" sz="1050" dirty="0">
                <a:solidFill>
                  <a:srgbClr val="C3CEDE"/>
                </a:solidFill>
                <a:latin typeface="Calibri" pitchFamily="34" charset="0"/>
                <a:ea typeface="Calibri" pitchFamily="34" charset="-122"/>
                <a:cs typeface="Calibri" pitchFamily="34" charset="-120"/>
              </a:rPr>
              <a:t>buenchollotech.com</a:t>
            </a:r>
            <a:endParaRPr lang="en-US" sz="1350" dirty="0"/>
          </a:p>
        </p:txBody>
      </p:sp>
      <p:sp>
        <p:nvSpPr>
          <p:cNvPr id="8" name="Shape 5"/>
          <p:cNvSpPr/>
          <p:nvPr/>
        </p:nvSpPr>
        <p:spPr>
          <a:xfrm>
            <a:off x="3017520" y="2651760"/>
            <a:ext cx="2377440" cy="1554480"/>
          </a:xfrm>
          <a:prstGeom prst="rect">
            <a:avLst/>
          </a:prstGeom>
          <a:solidFill>
            <a:srgbClr val="0E1830"/>
          </a:solidFill>
          <a:ln w="19050">
            <a:solidFill>
              <a:srgbClr val="FF6A2B"/>
            </a:solidFill>
            <a:prstDash val="solid"/>
          </a:ln>
          <a:effectLst>
            <a:outerShdw blurRad="152400" dist="50800" dir="5400000" algn="bl" rotWithShape="0">
              <a:srgbClr val="000000">
                <a:alpha val="35000"/>
              </a:srgbClr>
            </a:outerShdw>
          </a:effectLst>
        </p:spPr>
        <p:txBody>
          <a:bodyPr/>
          <a:lstStyle/>
          <a:p>
            <a:endParaRPr lang="es-ES"/>
          </a:p>
        </p:txBody>
      </p:sp>
      <p:pic>
        <p:nvPicPr>
          <p:cNvPr id="9" name="Image 1" descr="preencoded.png"/>
          <p:cNvPicPr>
            <a:picLocks noChangeAspect="1"/>
          </p:cNvPicPr>
          <p:nvPr/>
        </p:nvPicPr>
        <p:blipFill>
          <a:blip r:embed="rId5"/>
          <a:stretch>
            <a:fillRect/>
          </a:stretch>
        </p:blipFill>
        <p:spPr>
          <a:xfrm>
            <a:off x="3017520" y="2651760"/>
            <a:ext cx="2377440" cy="73152"/>
          </a:xfrm>
          <a:prstGeom prst="rect">
            <a:avLst/>
          </a:prstGeom>
        </p:spPr>
      </p:pic>
      <p:pic>
        <p:nvPicPr>
          <p:cNvPr id="10" name="Image 2" descr="preencoded.png"/>
          <p:cNvPicPr>
            <a:picLocks noChangeAspect="1"/>
          </p:cNvPicPr>
          <p:nvPr/>
        </p:nvPicPr>
        <p:blipFill>
          <a:blip r:embed="rId6"/>
          <a:stretch>
            <a:fillRect/>
          </a:stretch>
        </p:blipFill>
        <p:spPr>
          <a:xfrm>
            <a:off x="3200400" y="2423160"/>
            <a:ext cx="2011680" cy="2011680"/>
          </a:xfrm>
          <a:prstGeom prst="rect">
            <a:avLst/>
          </a:prstGeom>
        </p:spPr>
      </p:pic>
      <p:sp>
        <p:nvSpPr>
          <p:cNvPr id="11" name="Text 6"/>
          <p:cNvSpPr/>
          <p:nvPr/>
        </p:nvSpPr>
        <p:spPr>
          <a:xfrm>
            <a:off x="3017520" y="2651760"/>
            <a:ext cx="2377440" cy="1554480"/>
          </a:xfrm>
          <a:prstGeom prst="rect">
            <a:avLst/>
          </a:prstGeom>
          <a:noFill/>
          <a:ln/>
        </p:spPr>
        <p:txBody>
          <a:bodyPr wrap="square" lIns="0" tIns="0" rIns="0" bIns="0" rtlCol="0" anchor="ctr"/>
          <a:lstStyle/>
          <a:p>
            <a:pPr marL="0" indent="0" algn="ctr">
              <a:lnSpc>
                <a:spcPct val="105000"/>
              </a:lnSpc>
              <a:buNone/>
            </a:pPr>
            <a:r>
              <a:rPr lang="en-US" sz="1400" b="1" dirty="0">
                <a:solidFill>
                  <a:srgbClr val="F3F7FD"/>
                </a:solidFill>
                <a:latin typeface="Calibri" pitchFamily="34" charset="0"/>
                <a:ea typeface="Calibri" pitchFamily="34" charset="-122"/>
                <a:cs typeface="Calibri" pitchFamily="34" charset="-120"/>
              </a:rPr>
              <a:t>Cloudflare</a:t>
            </a:r>
            <a:endParaRPr lang="en-US" sz="1400" dirty="0"/>
          </a:p>
          <a:p>
            <a:pPr marL="0" indent="0" algn="ctr">
              <a:lnSpc>
                <a:spcPct val="105000"/>
              </a:lnSpc>
              <a:buNone/>
            </a:pPr>
            <a:r>
              <a:rPr lang="en-US" sz="1050" dirty="0">
                <a:solidFill>
                  <a:srgbClr val="C3CEDE"/>
                </a:solidFill>
                <a:latin typeface="Calibri" pitchFamily="34" charset="0"/>
                <a:ea typeface="Calibri" pitchFamily="34" charset="-122"/>
                <a:cs typeface="Calibri" pitchFamily="34" charset="-120"/>
              </a:rPr>
              <a:t>CDN · TLS Full (strict)</a:t>
            </a:r>
            <a:endParaRPr lang="en-US" sz="1400" dirty="0"/>
          </a:p>
          <a:p>
            <a:pPr marL="0" indent="0" algn="ctr">
              <a:lnSpc>
                <a:spcPct val="105000"/>
              </a:lnSpc>
              <a:buNone/>
            </a:pPr>
            <a:r>
              <a:rPr lang="en-US" sz="1050" dirty="0">
                <a:solidFill>
                  <a:srgbClr val="C3CEDE"/>
                </a:solidFill>
                <a:latin typeface="Calibri" pitchFamily="34" charset="0"/>
                <a:ea typeface="Calibri" pitchFamily="34" charset="-122"/>
                <a:cs typeface="Calibri" pitchFamily="34" charset="-120"/>
              </a:rPr>
              <a:t>HSTS · WAF · Bot Fight</a:t>
            </a:r>
            <a:endParaRPr lang="en-US" sz="1400" dirty="0"/>
          </a:p>
        </p:txBody>
      </p:sp>
      <p:sp>
        <p:nvSpPr>
          <p:cNvPr id="12" name="Shape 7"/>
          <p:cNvSpPr/>
          <p:nvPr/>
        </p:nvSpPr>
        <p:spPr>
          <a:xfrm>
            <a:off x="6053328" y="1691640"/>
            <a:ext cx="2743200" cy="1234440"/>
          </a:xfrm>
          <a:prstGeom prst="rect">
            <a:avLst/>
          </a:prstGeom>
          <a:solidFill>
            <a:srgbClr val="152138"/>
          </a:solidFill>
          <a:ln w="15875">
            <a:solidFill>
              <a:srgbClr val="37D6C3"/>
            </a:solidFill>
            <a:prstDash val="solid"/>
          </a:ln>
          <a:effectLst>
            <a:outerShdw blurRad="152400" dist="50800" dir="5400000" algn="bl" rotWithShape="0">
              <a:srgbClr val="000000">
                <a:alpha val="35000"/>
              </a:srgbClr>
            </a:outerShdw>
          </a:effectLst>
        </p:spPr>
        <p:txBody>
          <a:bodyPr/>
          <a:lstStyle/>
          <a:p>
            <a:endParaRPr lang="es-ES"/>
          </a:p>
        </p:txBody>
      </p:sp>
      <p:sp>
        <p:nvSpPr>
          <p:cNvPr id="13" name="Text 8"/>
          <p:cNvSpPr/>
          <p:nvPr/>
        </p:nvSpPr>
        <p:spPr>
          <a:xfrm>
            <a:off x="6163056" y="1691640"/>
            <a:ext cx="2523744" cy="1234440"/>
          </a:xfrm>
          <a:prstGeom prst="rect">
            <a:avLst/>
          </a:prstGeom>
          <a:noFill/>
          <a:ln/>
        </p:spPr>
        <p:txBody>
          <a:bodyPr wrap="square" lIns="0" tIns="0" rIns="0" bIns="0" rtlCol="0" anchor="ctr"/>
          <a:lstStyle/>
          <a:p>
            <a:pPr marL="0" indent="0" algn="ctr">
              <a:lnSpc>
                <a:spcPct val="105000"/>
              </a:lnSpc>
              <a:buNone/>
            </a:pPr>
            <a:r>
              <a:rPr lang="en-US" sz="1350" b="1" dirty="0">
                <a:solidFill>
                  <a:srgbClr val="F3F7FD"/>
                </a:solidFill>
                <a:latin typeface="Calibri" pitchFamily="34" charset="0"/>
                <a:ea typeface="Calibri" pitchFamily="34" charset="-122"/>
                <a:cs typeface="Calibri" pitchFamily="34" charset="-120"/>
              </a:rPr>
              <a:t>Frontend → Worker</a:t>
            </a:r>
            <a:endParaRPr lang="en-US" sz="1350" dirty="0"/>
          </a:p>
          <a:p>
            <a:pPr marL="0" indent="0" algn="ctr">
              <a:lnSpc>
                <a:spcPct val="105000"/>
              </a:lnSpc>
              <a:buNone/>
            </a:pPr>
            <a:r>
              <a:rPr lang="en-US" sz="1050" dirty="0">
                <a:solidFill>
                  <a:srgbClr val="C3CEDE"/>
                </a:solidFill>
                <a:latin typeface="Calibri" pitchFamily="34" charset="0"/>
                <a:ea typeface="Calibri" pitchFamily="34" charset="-122"/>
                <a:cs typeface="Calibri" pitchFamily="34" charset="-120"/>
              </a:rPr>
              <a:t>TanStack Start SSR</a:t>
            </a:r>
            <a:endParaRPr lang="en-US" sz="1350" dirty="0"/>
          </a:p>
          <a:p>
            <a:pPr marL="0" indent="0" algn="ctr">
              <a:lnSpc>
                <a:spcPct val="105000"/>
              </a:lnSpc>
              <a:buNone/>
            </a:pPr>
            <a:r>
              <a:rPr lang="en-US" sz="1050" dirty="0">
                <a:solidFill>
                  <a:srgbClr val="C3CEDE"/>
                </a:solidFill>
                <a:latin typeface="Calibri" pitchFamily="34" charset="0"/>
                <a:ea typeface="Calibri" pitchFamily="34" charset="-122"/>
                <a:cs typeface="Calibri" pitchFamily="34" charset="-120"/>
              </a:rPr>
              <a:t>deploy al push a main</a:t>
            </a:r>
            <a:endParaRPr lang="en-US" sz="1350" dirty="0"/>
          </a:p>
        </p:txBody>
      </p:sp>
      <p:sp>
        <p:nvSpPr>
          <p:cNvPr id="14" name="Shape 9"/>
          <p:cNvSpPr/>
          <p:nvPr/>
        </p:nvSpPr>
        <p:spPr>
          <a:xfrm>
            <a:off x="6053328" y="3886200"/>
            <a:ext cx="2743200" cy="1234440"/>
          </a:xfrm>
          <a:prstGeom prst="rect">
            <a:avLst/>
          </a:prstGeom>
          <a:solidFill>
            <a:srgbClr val="152138"/>
          </a:solidFill>
          <a:ln w="15875">
            <a:solidFill>
              <a:srgbClr val="FF6A2B"/>
            </a:solidFill>
            <a:prstDash val="solid"/>
          </a:ln>
          <a:effectLst>
            <a:outerShdw blurRad="152400" dist="50800" dir="5400000" algn="bl" rotWithShape="0">
              <a:srgbClr val="000000">
                <a:alpha val="35000"/>
              </a:srgbClr>
            </a:outerShdw>
          </a:effectLst>
        </p:spPr>
        <p:txBody>
          <a:bodyPr/>
          <a:lstStyle/>
          <a:p>
            <a:endParaRPr lang="es-ES"/>
          </a:p>
        </p:txBody>
      </p:sp>
      <p:sp>
        <p:nvSpPr>
          <p:cNvPr id="15" name="Text 10"/>
          <p:cNvSpPr/>
          <p:nvPr/>
        </p:nvSpPr>
        <p:spPr>
          <a:xfrm>
            <a:off x="6163056" y="3886200"/>
            <a:ext cx="2523744" cy="1234440"/>
          </a:xfrm>
          <a:prstGeom prst="rect">
            <a:avLst/>
          </a:prstGeom>
          <a:noFill/>
          <a:ln/>
        </p:spPr>
        <p:txBody>
          <a:bodyPr wrap="square" lIns="0" tIns="0" rIns="0" bIns="0" rtlCol="0" anchor="ctr"/>
          <a:lstStyle/>
          <a:p>
            <a:pPr marL="0" indent="0" algn="ctr">
              <a:lnSpc>
                <a:spcPct val="105000"/>
              </a:lnSpc>
              <a:buNone/>
            </a:pPr>
            <a:r>
              <a:rPr lang="en-US" sz="1350" b="1" dirty="0">
                <a:solidFill>
                  <a:srgbClr val="F3F7FD"/>
                </a:solidFill>
                <a:latin typeface="Calibri" pitchFamily="34" charset="0"/>
                <a:ea typeface="Calibri" pitchFamily="34" charset="-122"/>
                <a:cs typeface="Calibri" pitchFamily="34" charset="-120"/>
              </a:rPr>
              <a:t>Tunnel → NAS</a:t>
            </a:r>
            <a:endParaRPr lang="en-US" sz="1350" dirty="0"/>
          </a:p>
          <a:p>
            <a:pPr marL="0" indent="0" algn="ctr">
              <a:lnSpc>
                <a:spcPct val="105000"/>
              </a:lnSpc>
              <a:buNone/>
            </a:pPr>
            <a:r>
              <a:rPr lang="en-US" sz="1050" dirty="0">
                <a:solidFill>
                  <a:srgbClr val="C3CEDE"/>
                </a:solidFill>
                <a:latin typeface="Calibri" pitchFamily="34" charset="0"/>
                <a:ea typeface="Calibri" pitchFamily="34" charset="-122"/>
                <a:cs typeface="Calibri" pitchFamily="34" charset="-120"/>
              </a:rPr>
              <a:t>Synology · Docker Compose</a:t>
            </a:r>
            <a:endParaRPr lang="en-US" sz="1350" dirty="0"/>
          </a:p>
          <a:p>
            <a:pPr marL="0" indent="0" algn="ctr">
              <a:lnSpc>
                <a:spcPct val="105000"/>
              </a:lnSpc>
              <a:buNone/>
            </a:pPr>
            <a:r>
              <a:rPr lang="en-US" sz="1050" dirty="0">
                <a:solidFill>
                  <a:srgbClr val="C3CEDE"/>
                </a:solidFill>
                <a:latin typeface="Calibri" pitchFamily="34" charset="0"/>
                <a:ea typeface="Calibri" pitchFamily="34" charset="-122"/>
                <a:cs typeface="Calibri" pitchFamily="34" charset="-120"/>
              </a:rPr>
              <a:t>buenchollo-api + cloudflared</a:t>
            </a:r>
            <a:endParaRPr lang="en-US" sz="1350" dirty="0"/>
          </a:p>
        </p:txBody>
      </p:sp>
      <p:sp>
        <p:nvSpPr>
          <p:cNvPr id="16" name="Shape 11"/>
          <p:cNvSpPr/>
          <p:nvPr/>
        </p:nvSpPr>
        <p:spPr>
          <a:xfrm>
            <a:off x="9189720" y="3886200"/>
            <a:ext cx="2432304" cy="1234440"/>
          </a:xfrm>
          <a:prstGeom prst="rect">
            <a:avLst/>
          </a:prstGeom>
          <a:solidFill>
            <a:srgbClr val="152138"/>
          </a:solidFill>
          <a:ln w="15875">
            <a:solidFill>
              <a:srgbClr val="37D6C3"/>
            </a:solidFill>
            <a:prstDash val="solid"/>
          </a:ln>
          <a:effectLst>
            <a:outerShdw blurRad="152400" dist="50800" dir="5400000" algn="bl" rotWithShape="0">
              <a:srgbClr val="000000">
                <a:alpha val="35000"/>
              </a:srgbClr>
            </a:outerShdw>
          </a:effectLst>
        </p:spPr>
        <p:txBody>
          <a:bodyPr/>
          <a:lstStyle/>
          <a:p>
            <a:endParaRPr lang="es-ES"/>
          </a:p>
        </p:txBody>
      </p:sp>
      <p:sp>
        <p:nvSpPr>
          <p:cNvPr id="17" name="Text 12"/>
          <p:cNvSpPr/>
          <p:nvPr/>
        </p:nvSpPr>
        <p:spPr>
          <a:xfrm>
            <a:off x="9299448" y="3886200"/>
            <a:ext cx="2212848" cy="1234440"/>
          </a:xfrm>
          <a:prstGeom prst="rect">
            <a:avLst/>
          </a:prstGeom>
          <a:noFill/>
          <a:ln/>
        </p:spPr>
        <p:txBody>
          <a:bodyPr wrap="square" lIns="0" tIns="0" rIns="0" bIns="0" rtlCol="0" anchor="ctr"/>
          <a:lstStyle/>
          <a:p>
            <a:pPr marL="0" indent="0" algn="ctr">
              <a:lnSpc>
                <a:spcPct val="105000"/>
              </a:lnSpc>
              <a:buNone/>
            </a:pPr>
            <a:r>
              <a:rPr lang="en-US" sz="1350" b="1" dirty="0">
                <a:solidFill>
                  <a:srgbClr val="F3F7FD"/>
                </a:solidFill>
                <a:latin typeface="Calibri" pitchFamily="34" charset="0"/>
                <a:ea typeface="Calibri" pitchFamily="34" charset="-122"/>
                <a:cs typeface="Calibri" pitchFamily="34" charset="-120"/>
              </a:rPr>
              <a:t>PostgreSQL</a:t>
            </a:r>
            <a:endParaRPr lang="en-US" sz="1350" dirty="0"/>
          </a:p>
          <a:p>
            <a:pPr marL="0" indent="0" algn="ctr">
              <a:lnSpc>
                <a:spcPct val="105000"/>
              </a:lnSpc>
              <a:buNone/>
            </a:pPr>
            <a:r>
              <a:rPr lang="en-US" sz="1050" dirty="0">
                <a:solidFill>
                  <a:srgbClr val="C3CEDE"/>
                </a:solidFill>
                <a:latin typeface="Calibri" pitchFamily="34" charset="0"/>
                <a:ea typeface="Calibri" pitchFamily="34" charset="-122"/>
                <a:cs typeface="Calibri" pitchFamily="34" charset="-120"/>
              </a:rPr>
              <a:t>Supabase gestionado</a:t>
            </a:r>
            <a:endParaRPr lang="en-US" sz="1350" dirty="0"/>
          </a:p>
          <a:p>
            <a:pPr marL="0" indent="0" algn="ctr">
              <a:lnSpc>
                <a:spcPct val="105000"/>
              </a:lnSpc>
              <a:buNone/>
            </a:pPr>
            <a:r>
              <a:rPr lang="en-US" sz="1050" dirty="0">
                <a:solidFill>
                  <a:srgbClr val="C3CEDE"/>
                </a:solidFill>
                <a:latin typeface="Calibri" pitchFamily="34" charset="0"/>
                <a:ea typeface="Calibri" pitchFamily="34" charset="-122"/>
                <a:cs typeface="Calibri" pitchFamily="34" charset="-120"/>
              </a:rPr>
              <a:t>PgBouncer (6543)</a:t>
            </a:r>
            <a:endParaRPr lang="en-US" sz="1350" dirty="0"/>
          </a:p>
        </p:txBody>
      </p:sp>
      <p:sp>
        <p:nvSpPr>
          <p:cNvPr id="18" name="Shape 13"/>
          <p:cNvSpPr/>
          <p:nvPr/>
        </p:nvSpPr>
        <p:spPr>
          <a:xfrm>
            <a:off x="2578608" y="3429000"/>
            <a:ext cx="438912" cy="0"/>
          </a:xfrm>
          <a:prstGeom prst="line">
            <a:avLst/>
          </a:prstGeom>
          <a:noFill/>
          <a:ln w="31750">
            <a:solidFill>
              <a:srgbClr val="FF6A2B"/>
            </a:solidFill>
            <a:prstDash val="solid"/>
            <a:tailEnd type="triangle"/>
          </a:ln>
        </p:spPr>
        <p:txBody>
          <a:bodyPr/>
          <a:lstStyle/>
          <a:p>
            <a:endParaRPr lang="es-ES"/>
          </a:p>
        </p:txBody>
      </p:sp>
      <p:sp>
        <p:nvSpPr>
          <p:cNvPr id="19" name="Shape 14"/>
          <p:cNvSpPr/>
          <p:nvPr/>
        </p:nvSpPr>
        <p:spPr>
          <a:xfrm flipV="1">
            <a:off x="5394960" y="2304288"/>
            <a:ext cx="658368" cy="914400"/>
          </a:xfrm>
          <a:prstGeom prst="line">
            <a:avLst/>
          </a:prstGeom>
          <a:noFill/>
          <a:ln w="25400">
            <a:solidFill>
              <a:srgbClr val="37D6C3"/>
            </a:solidFill>
            <a:prstDash val="solid"/>
            <a:tailEnd type="triangle"/>
          </a:ln>
        </p:spPr>
        <p:txBody>
          <a:bodyPr/>
          <a:lstStyle/>
          <a:p>
            <a:endParaRPr lang="es-ES"/>
          </a:p>
        </p:txBody>
      </p:sp>
      <p:sp>
        <p:nvSpPr>
          <p:cNvPr id="20" name="Shape 15"/>
          <p:cNvSpPr/>
          <p:nvPr/>
        </p:nvSpPr>
        <p:spPr>
          <a:xfrm>
            <a:off x="5394960" y="3611880"/>
            <a:ext cx="658368" cy="914400"/>
          </a:xfrm>
          <a:prstGeom prst="line">
            <a:avLst/>
          </a:prstGeom>
          <a:noFill/>
          <a:ln w="25400">
            <a:solidFill>
              <a:srgbClr val="37D6C3"/>
            </a:solidFill>
            <a:prstDash val="solid"/>
            <a:tailEnd type="triangle"/>
          </a:ln>
        </p:spPr>
        <p:txBody>
          <a:bodyPr/>
          <a:lstStyle/>
          <a:p>
            <a:endParaRPr lang="es-ES"/>
          </a:p>
        </p:txBody>
      </p:sp>
      <p:sp>
        <p:nvSpPr>
          <p:cNvPr id="21" name="Shape 16"/>
          <p:cNvSpPr/>
          <p:nvPr/>
        </p:nvSpPr>
        <p:spPr>
          <a:xfrm>
            <a:off x="8796528" y="4480560"/>
            <a:ext cx="393192" cy="0"/>
          </a:xfrm>
          <a:prstGeom prst="line">
            <a:avLst/>
          </a:prstGeom>
          <a:noFill/>
          <a:ln w="25400">
            <a:solidFill>
              <a:srgbClr val="37D6C3"/>
            </a:solidFill>
            <a:prstDash val="solid"/>
            <a:tailEnd type="triangle"/>
          </a:ln>
        </p:spPr>
        <p:txBody>
          <a:bodyPr/>
          <a:lstStyle/>
          <a:p>
            <a:endParaRPr lang="es-ES"/>
          </a:p>
        </p:txBody>
      </p:sp>
      <p:sp>
        <p:nvSpPr>
          <p:cNvPr id="22" name="Shape 17"/>
          <p:cNvSpPr/>
          <p:nvPr/>
        </p:nvSpPr>
        <p:spPr>
          <a:xfrm>
            <a:off x="566928" y="5349240"/>
            <a:ext cx="2706624" cy="86868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23" name="Image 3" descr="preencoded.png"/>
          <p:cNvPicPr>
            <a:picLocks noChangeAspect="1"/>
          </p:cNvPicPr>
          <p:nvPr/>
        </p:nvPicPr>
        <p:blipFill>
          <a:blip r:embed="rId7"/>
          <a:stretch>
            <a:fillRect/>
          </a:stretch>
        </p:blipFill>
        <p:spPr>
          <a:xfrm>
            <a:off x="566928" y="5349240"/>
            <a:ext cx="82296" cy="868680"/>
          </a:xfrm>
          <a:prstGeom prst="rect">
            <a:avLst/>
          </a:prstGeom>
        </p:spPr>
      </p:pic>
      <p:pic>
        <p:nvPicPr>
          <p:cNvPr id="24" name="Image 4" descr="preencoded.png"/>
          <p:cNvPicPr>
            <a:picLocks noChangeAspect="1"/>
          </p:cNvPicPr>
          <p:nvPr/>
        </p:nvPicPr>
        <p:blipFill>
          <a:blip r:embed="rId8"/>
          <a:stretch>
            <a:fillRect/>
          </a:stretch>
        </p:blipFill>
        <p:spPr>
          <a:xfrm>
            <a:off x="786384" y="5550408"/>
            <a:ext cx="457200" cy="457200"/>
          </a:xfrm>
          <a:prstGeom prst="rect">
            <a:avLst/>
          </a:prstGeom>
        </p:spPr>
      </p:pic>
      <p:sp>
        <p:nvSpPr>
          <p:cNvPr id="25" name="Text 18"/>
          <p:cNvSpPr/>
          <p:nvPr/>
        </p:nvSpPr>
        <p:spPr>
          <a:xfrm>
            <a:off x="1353312" y="5349240"/>
            <a:ext cx="1792224" cy="868680"/>
          </a:xfrm>
          <a:prstGeom prst="rect">
            <a:avLst/>
          </a:prstGeom>
          <a:noFill/>
          <a:ln/>
        </p:spPr>
        <p:txBody>
          <a:bodyPr wrap="square" lIns="0" tIns="0" rIns="0" bIns="0" rtlCol="0" anchor="ctr"/>
          <a:lstStyle/>
          <a:p>
            <a:pPr marL="0" indent="0">
              <a:buNone/>
            </a:pPr>
            <a:r>
              <a:rPr lang="en-US" sz="1250" b="1" dirty="0">
                <a:solidFill>
                  <a:srgbClr val="F3F7FD"/>
                </a:solidFill>
                <a:latin typeface="Calibri" pitchFamily="34" charset="0"/>
                <a:ea typeface="Calibri" pitchFamily="34" charset="-122"/>
                <a:cs typeface="Calibri" pitchFamily="34" charset="-120"/>
              </a:rPr>
              <a:t>0 puertos abiertos</a:t>
            </a:r>
            <a:endParaRPr lang="en-US" sz="1250" dirty="0"/>
          </a:p>
          <a:p>
            <a:pPr marL="0" indent="0">
              <a:buNone/>
            </a:pPr>
            <a:r>
              <a:rPr lang="en-US" sz="1050" dirty="0">
                <a:solidFill>
                  <a:srgbClr val="C3CEDE"/>
                </a:solidFill>
                <a:latin typeface="Calibri" pitchFamily="34" charset="0"/>
                <a:ea typeface="Calibri" pitchFamily="34" charset="-122"/>
                <a:cs typeface="Calibri" pitchFamily="34" charset="-120"/>
              </a:rPr>
              <a:t>Túnel saliente, sin DDNS</a:t>
            </a:r>
            <a:endParaRPr lang="en-US" sz="1250" dirty="0"/>
          </a:p>
        </p:txBody>
      </p:sp>
      <p:sp>
        <p:nvSpPr>
          <p:cNvPr id="26" name="Shape 19"/>
          <p:cNvSpPr/>
          <p:nvPr/>
        </p:nvSpPr>
        <p:spPr>
          <a:xfrm>
            <a:off x="3547872" y="5349240"/>
            <a:ext cx="2706624" cy="86868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27" name="Image 5" descr="preencoded.png"/>
          <p:cNvPicPr>
            <a:picLocks noChangeAspect="1"/>
          </p:cNvPicPr>
          <p:nvPr/>
        </p:nvPicPr>
        <p:blipFill>
          <a:blip r:embed="rId7"/>
          <a:stretch>
            <a:fillRect/>
          </a:stretch>
        </p:blipFill>
        <p:spPr>
          <a:xfrm>
            <a:off x="3547872" y="5349240"/>
            <a:ext cx="82296" cy="868680"/>
          </a:xfrm>
          <a:prstGeom prst="rect">
            <a:avLst/>
          </a:prstGeom>
        </p:spPr>
      </p:pic>
      <p:pic>
        <p:nvPicPr>
          <p:cNvPr id="28" name="Image 6" descr="preencoded.png"/>
          <p:cNvPicPr>
            <a:picLocks noChangeAspect="1"/>
          </p:cNvPicPr>
          <p:nvPr/>
        </p:nvPicPr>
        <p:blipFill>
          <a:blip r:embed="rId9"/>
          <a:stretch>
            <a:fillRect/>
          </a:stretch>
        </p:blipFill>
        <p:spPr>
          <a:xfrm>
            <a:off x="3767328" y="5550408"/>
            <a:ext cx="457200" cy="457200"/>
          </a:xfrm>
          <a:prstGeom prst="rect">
            <a:avLst/>
          </a:prstGeom>
        </p:spPr>
      </p:pic>
      <p:sp>
        <p:nvSpPr>
          <p:cNvPr id="29" name="Text 20"/>
          <p:cNvSpPr/>
          <p:nvPr/>
        </p:nvSpPr>
        <p:spPr>
          <a:xfrm>
            <a:off x="4334256" y="5349240"/>
            <a:ext cx="1792224" cy="868680"/>
          </a:xfrm>
          <a:prstGeom prst="rect">
            <a:avLst/>
          </a:prstGeom>
          <a:noFill/>
          <a:ln/>
        </p:spPr>
        <p:txBody>
          <a:bodyPr wrap="square" lIns="0" tIns="0" rIns="0" bIns="0" rtlCol="0" anchor="ctr"/>
          <a:lstStyle/>
          <a:p>
            <a:pPr marL="0" indent="0">
              <a:buNone/>
            </a:pPr>
            <a:r>
              <a:rPr lang="en-US" sz="1250" b="1" dirty="0">
                <a:solidFill>
                  <a:srgbClr val="F3F7FD"/>
                </a:solidFill>
                <a:latin typeface="Calibri" pitchFamily="34" charset="0"/>
                <a:ea typeface="Calibri" pitchFamily="34" charset="-122"/>
                <a:cs typeface="Calibri" pitchFamily="34" charset="-120"/>
              </a:rPr>
              <a:t>TLS Full (strict)</a:t>
            </a:r>
            <a:endParaRPr lang="en-US" sz="1250" dirty="0"/>
          </a:p>
          <a:p>
            <a:pPr marL="0" indent="0">
              <a:buNone/>
            </a:pPr>
            <a:r>
              <a:rPr lang="en-US" sz="1050" dirty="0">
                <a:solidFill>
                  <a:srgbClr val="C3CEDE"/>
                </a:solidFill>
                <a:latin typeface="Calibri" pitchFamily="34" charset="0"/>
                <a:ea typeface="Calibri" pitchFamily="34" charset="-122"/>
                <a:cs typeface="Calibri" pitchFamily="34" charset="-120"/>
              </a:rPr>
              <a:t>HSTS + WAF + rate limiting</a:t>
            </a:r>
            <a:endParaRPr lang="en-US" sz="1250" dirty="0"/>
          </a:p>
        </p:txBody>
      </p:sp>
      <p:sp>
        <p:nvSpPr>
          <p:cNvPr id="30" name="Shape 21"/>
          <p:cNvSpPr/>
          <p:nvPr/>
        </p:nvSpPr>
        <p:spPr>
          <a:xfrm>
            <a:off x="6528816" y="5349240"/>
            <a:ext cx="2706624" cy="86868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31" name="Image 7" descr="preencoded.png"/>
          <p:cNvPicPr>
            <a:picLocks noChangeAspect="1"/>
          </p:cNvPicPr>
          <p:nvPr/>
        </p:nvPicPr>
        <p:blipFill>
          <a:blip r:embed="rId7"/>
          <a:stretch>
            <a:fillRect/>
          </a:stretch>
        </p:blipFill>
        <p:spPr>
          <a:xfrm>
            <a:off x="6528816" y="5349240"/>
            <a:ext cx="82296" cy="868680"/>
          </a:xfrm>
          <a:prstGeom prst="rect">
            <a:avLst/>
          </a:prstGeom>
        </p:spPr>
      </p:pic>
      <p:pic>
        <p:nvPicPr>
          <p:cNvPr id="32" name="Image 8" descr="preencoded.png"/>
          <p:cNvPicPr>
            <a:picLocks noChangeAspect="1"/>
          </p:cNvPicPr>
          <p:nvPr/>
        </p:nvPicPr>
        <p:blipFill>
          <a:blip r:embed="rId10"/>
          <a:stretch>
            <a:fillRect/>
          </a:stretch>
        </p:blipFill>
        <p:spPr>
          <a:xfrm>
            <a:off x="6748272" y="5550408"/>
            <a:ext cx="457200" cy="457200"/>
          </a:xfrm>
          <a:prstGeom prst="rect">
            <a:avLst/>
          </a:prstGeom>
        </p:spPr>
      </p:pic>
      <p:sp>
        <p:nvSpPr>
          <p:cNvPr id="33" name="Text 22"/>
          <p:cNvSpPr/>
          <p:nvPr/>
        </p:nvSpPr>
        <p:spPr>
          <a:xfrm>
            <a:off x="7315200" y="5349240"/>
            <a:ext cx="1792224" cy="868680"/>
          </a:xfrm>
          <a:prstGeom prst="rect">
            <a:avLst/>
          </a:prstGeom>
          <a:noFill/>
          <a:ln/>
        </p:spPr>
        <p:txBody>
          <a:bodyPr wrap="square" lIns="0" tIns="0" rIns="0" bIns="0" rtlCol="0" anchor="ctr"/>
          <a:lstStyle/>
          <a:p>
            <a:pPr marL="0" indent="0">
              <a:buNone/>
            </a:pPr>
            <a:r>
              <a:rPr lang="en-US" sz="1250" b="1" dirty="0">
                <a:solidFill>
                  <a:srgbClr val="F3F7FD"/>
                </a:solidFill>
                <a:latin typeface="Calibri" pitchFamily="34" charset="0"/>
                <a:ea typeface="Calibri" pitchFamily="34" charset="-122"/>
                <a:cs typeface="Calibri" pitchFamily="34" charset="-120"/>
              </a:rPr>
              <a:t>Migración automática</a:t>
            </a:r>
            <a:endParaRPr lang="en-US" sz="1250" dirty="0"/>
          </a:p>
          <a:p>
            <a:pPr marL="0" indent="0">
              <a:buNone/>
            </a:pPr>
            <a:r>
              <a:rPr lang="en-US" sz="1050" dirty="0">
                <a:solidFill>
                  <a:srgbClr val="C3CEDE"/>
                </a:solidFill>
                <a:latin typeface="Calibri" pitchFamily="34" charset="0"/>
                <a:ea typeface="Calibri" pitchFamily="34" charset="-122"/>
                <a:cs typeface="Calibri" pitchFamily="34" charset="-120"/>
              </a:rPr>
              <a:t>Alembic al arrancar el contenedor</a:t>
            </a:r>
            <a:endParaRPr lang="en-US" sz="1250" dirty="0"/>
          </a:p>
        </p:txBody>
      </p:sp>
      <p:sp>
        <p:nvSpPr>
          <p:cNvPr id="34" name="Shape 23"/>
          <p:cNvSpPr/>
          <p:nvPr/>
        </p:nvSpPr>
        <p:spPr>
          <a:xfrm>
            <a:off x="9509760" y="5349240"/>
            <a:ext cx="2706624" cy="868680"/>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35" name="Image 9" descr="preencoded.png"/>
          <p:cNvPicPr>
            <a:picLocks noChangeAspect="1"/>
          </p:cNvPicPr>
          <p:nvPr/>
        </p:nvPicPr>
        <p:blipFill>
          <a:blip r:embed="rId7"/>
          <a:stretch>
            <a:fillRect/>
          </a:stretch>
        </p:blipFill>
        <p:spPr>
          <a:xfrm>
            <a:off x="9509760" y="5349240"/>
            <a:ext cx="82296" cy="868680"/>
          </a:xfrm>
          <a:prstGeom prst="rect">
            <a:avLst/>
          </a:prstGeom>
        </p:spPr>
      </p:pic>
      <p:pic>
        <p:nvPicPr>
          <p:cNvPr id="36" name="Image 10" descr="preencoded.png"/>
          <p:cNvPicPr>
            <a:picLocks noChangeAspect="1"/>
          </p:cNvPicPr>
          <p:nvPr/>
        </p:nvPicPr>
        <p:blipFill>
          <a:blip r:embed="rId11"/>
          <a:stretch>
            <a:fillRect/>
          </a:stretch>
        </p:blipFill>
        <p:spPr>
          <a:xfrm>
            <a:off x="9729216" y="5550408"/>
            <a:ext cx="457200" cy="457200"/>
          </a:xfrm>
          <a:prstGeom prst="rect">
            <a:avLst/>
          </a:prstGeom>
        </p:spPr>
      </p:pic>
      <p:sp>
        <p:nvSpPr>
          <p:cNvPr id="37" name="Text 24"/>
          <p:cNvSpPr/>
          <p:nvPr/>
        </p:nvSpPr>
        <p:spPr>
          <a:xfrm>
            <a:off x="10296144" y="5349240"/>
            <a:ext cx="1792224" cy="868680"/>
          </a:xfrm>
          <a:prstGeom prst="rect">
            <a:avLst/>
          </a:prstGeom>
          <a:noFill/>
          <a:ln/>
        </p:spPr>
        <p:txBody>
          <a:bodyPr wrap="square" lIns="0" tIns="0" rIns="0" bIns="0" rtlCol="0" anchor="ctr"/>
          <a:lstStyle/>
          <a:p>
            <a:pPr marL="0" indent="0">
              <a:buNone/>
            </a:pPr>
            <a:r>
              <a:rPr lang="en-US" sz="1250" b="1" dirty="0">
                <a:solidFill>
                  <a:srgbClr val="F3F7FD"/>
                </a:solidFill>
                <a:latin typeface="Calibri" pitchFamily="34" charset="0"/>
                <a:ea typeface="Calibri" pitchFamily="34" charset="-122"/>
                <a:cs typeface="Calibri" pitchFamily="34" charset="-120"/>
              </a:rPr>
              <a:t>Health checks</a:t>
            </a:r>
            <a:endParaRPr lang="en-US" sz="1250" dirty="0"/>
          </a:p>
          <a:p>
            <a:pPr marL="0" indent="0">
              <a:buNone/>
            </a:pPr>
            <a:r>
              <a:rPr lang="en-US" sz="1050" dirty="0">
                <a:solidFill>
                  <a:srgbClr val="C3CEDE"/>
                </a:solidFill>
                <a:latin typeface="Calibri" pitchFamily="34" charset="0"/>
                <a:ea typeface="Calibri" pitchFamily="34" charset="-122"/>
                <a:cs typeface="Calibri" pitchFamily="34" charset="-120"/>
              </a:rPr>
              <a:t>/health y /health/ready con latencia BD</a:t>
            </a:r>
            <a:endParaRPr lang="en-US" sz="1250" dirty="0"/>
          </a:p>
        </p:txBody>
      </p:sp>
      <p:sp>
        <p:nvSpPr>
          <p:cNvPr id="39" name="Text 25"/>
          <p:cNvSpPr/>
          <p:nvPr/>
        </p:nvSpPr>
        <p:spPr>
          <a:xfrm>
            <a:off x="566928" y="6446520"/>
            <a:ext cx="8229600" cy="292608"/>
          </a:xfrm>
          <a:prstGeom prst="rect">
            <a:avLst/>
          </a:prstGeom>
          <a:noFill/>
          <a:ln/>
        </p:spPr>
        <p:txBody>
          <a:bodyPr wrap="square" lIns="0" tIns="0" rIns="0" bIns="0" rtlCol="0" anchor="ctr"/>
          <a:lstStyle/>
          <a:p>
            <a:pPr marL="0" indent="0">
              <a:buNone/>
            </a:pPr>
            <a:r>
              <a:rPr lang="en-US" sz="900" dirty="0">
                <a:solidFill>
                  <a:srgbClr val="8492A6"/>
                </a:solidFill>
                <a:latin typeface="Calibri" pitchFamily="34" charset="0"/>
                <a:ea typeface="Calibri" pitchFamily="34" charset="-122"/>
                <a:cs typeface="Calibri" pitchFamily="34" charset="-120"/>
              </a:rPr>
              <a:t>BuenCholloTech · TFM Máster en Desarrollo con IA 2025</a:t>
            </a:r>
            <a:endParaRPr lang="en-US" sz="900" dirty="0"/>
          </a:p>
        </p:txBody>
      </p:sp>
      <p:sp>
        <p:nvSpPr>
          <p:cNvPr id="40" name="Text 26"/>
          <p:cNvSpPr/>
          <p:nvPr/>
        </p:nvSpPr>
        <p:spPr>
          <a:xfrm>
            <a:off x="10527487" y="6446520"/>
            <a:ext cx="1097280" cy="292608"/>
          </a:xfrm>
          <a:prstGeom prst="rect">
            <a:avLst/>
          </a:prstGeom>
          <a:noFill/>
          <a:ln/>
        </p:spPr>
        <p:txBody>
          <a:bodyPr wrap="square" lIns="0" tIns="0" rIns="0" bIns="0"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6928" y="457200"/>
            <a:ext cx="2894990" cy="310896"/>
          </a:xfrm>
          <a:prstGeom prst="roundRect">
            <a:avLst>
              <a:gd name="adj" fmla="val 50000"/>
            </a:avLst>
          </a:prstGeom>
          <a:solidFill>
            <a:srgbClr val="FF6A2B"/>
          </a:solidFill>
          <a:ln/>
        </p:spPr>
        <p:txBody>
          <a:bodyPr/>
          <a:lstStyle/>
          <a:p>
            <a:endParaRPr lang="es-ES"/>
          </a:p>
        </p:txBody>
      </p:sp>
      <p:sp>
        <p:nvSpPr>
          <p:cNvPr id="3" name="Text 1"/>
          <p:cNvSpPr/>
          <p:nvPr/>
        </p:nvSpPr>
        <p:spPr>
          <a:xfrm>
            <a:off x="566928" y="457200"/>
            <a:ext cx="2894990" cy="310896"/>
          </a:xfrm>
          <a:prstGeom prst="rect">
            <a:avLst/>
          </a:prstGeom>
          <a:noFill/>
          <a:ln/>
        </p:spPr>
        <p:txBody>
          <a:bodyPr wrap="square" lIns="0" tIns="0" rIns="0" bIns="0" rtlCol="0" anchor="ctr"/>
          <a:lstStyle/>
          <a:p>
            <a:pPr marL="0" indent="0" algn="ctr">
              <a:buNone/>
            </a:pPr>
            <a:r>
              <a:rPr lang="en-US" sz="1050" b="1" kern="0" spc="100" dirty="0">
                <a:solidFill>
                  <a:srgbClr val="0A0F1A"/>
                </a:solidFill>
                <a:latin typeface="Calibri" pitchFamily="34" charset="0"/>
                <a:ea typeface="Calibri" pitchFamily="34" charset="-122"/>
                <a:cs typeface="Calibri" pitchFamily="34" charset="-120"/>
              </a:rPr>
              <a:t>ESTADO ACTUAL &amp; ROADMAP</a:t>
            </a:r>
            <a:endParaRPr lang="en-US" sz="1050" dirty="0"/>
          </a:p>
        </p:txBody>
      </p:sp>
      <p:pic>
        <p:nvPicPr>
          <p:cNvPr id="4" name="Image 0" descr="preencoded.png"/>
          <p:cNvPicPr>
            <a:picLocks noChangeAspect="1"/>
          </p:cNvPicPr>
          <p:nvPr/>
        </p:nvPicPr>
        <p:blipFill>
          <a:blip r:embed="rId4"/>
          <a:stretch>
            <a:fillRect/>
          </a:stretch>
        </p:blipFill>
        <p:spPr>
          <a:xfrm>
            <a:off x="11057839" y="384048"/>
            <a:ext cx="457200" cy="457200"/>
          </a:xfrm>
          <a:prstGeom prst="rect">
            <a:avLst/>
          </a:prstGeom>
        </p:spPr>
      </p:pic>
      <p:sp>
        <p:nvSpPr>
          <p:cNvPr id="5" name="Text 2"/>
          <p:cNvSpPr/>
          <p:nvPr/>
        </p:nvSpPr>
        <p:spPr>
          <a:xfrm>
            <a:off x="566928" y="841248"/>
            <a:ext cx="10554919" cy="640080"/>
          </a:xfrm>
          <a:prstGeom prst="rect">
            <a:avLst/>
          </a:prstGeom>
          <a:noFill/>
          <a:ln/>
        </p:spPr>
        <p:txBody>
          <a:bodyPr wrap="square" lIns="0" tIns="0" rIns="0" bIns="0" rtlCol="0" anchor="ctr"/>
          <a:lstStyle/>
          <a:p>
            <a:pPr marL="0" indent="0">
              <a:buNone/>
            </a:pPr>
            <a:r>
              <a:rPr lang="en-US" sz="2700" b="1" dirty="0">
                <a:solidFill>
                  <a:srgbClr val="F3F7FD"/>
                </a:solidFill>
                <a:latin typeface="Georgia" pitchFamily="34" charset="0"/>
                <a:ea typeface="Georgia" pitchFamily="34" charset="-122"/>
                <a:cs typeface="Georgia" pitchFamily="34" charset="-120"/>
              </a:rPr>
              <a:t>v1.0.0-tfm en producción, con deuda técnica gestionada</a:t>
            </a:r>
            <a:endParaRPr lang="en-US" sz="2700" dirty="0"/>
          </a:p>
        </p:txBody>
      </p:sp>
      <p:sp>
        <p:nvSpPr>
          <p:cNvPr id="6" name="Shape 3"/>
          <p:cNvSpPr/>
          <p:nvPr/>
        </p:nvSpPr>
        <p:spPr>
          <a:xfrm>
            <a:off x="566928" y="1627632"/>
            <a:ext cx="5349240" cy="4498848"/>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7" name="Image 1" descr="preencoded.png"/>
          <p:cNvPicPr>
            <a:picLocks noChangeAspect="1"/>
          </p:cNvPicPr>
          <p:nvPr/>
        </p:nvPicPr>
        <p:blipFill>
          <a:blip r:embed="rId5"/>
          <a:stretch>
            <a:fillRect/>
          </a:stretch>
        </p:blipFill>
        <p:spPr>
          <a:xfrm>
            <a:off x="566928" y="1627632"/>
            <a:ext cx="5349240" cy="73152"/>
          </a:xfrm>
          <a:prstGeom prst="rect">
            <a:avLst/>
          </a:prstGeom>
        </p:spPr>
      </p:pic>
      <p:pic>
        <p:nvPicPr>
          <p:cNvPr id="8" name="Image 2" descr="preencoded.png"/>
          <p:cNvPicPr>
            <a:picLocks noChangeAspect="1"/>
          </p:cNvPicPr>
          <p:nvPr/>
        </p:nvPicPr>
        <p:blipFill>
          <a:blip r:embed="rId6"/>
          <a:stretch>
            <a:fillRect/>
          </a:stretch>
        </p:blipFill>
        <p:spPr>
          <a:xfrm>
            <a:off x="841248" y="1847088"/>
            <a:ext cx="457200" cy="457200"/>
          </a:xfrm>
          <a:prstGeom prst="rect">
            <a:avLst/>
          </a:prstGeom>
        </p:spPr>
      </p:pic>
      <p:sp>
        <p:nvSpPr>
          <p:cNvPr id="9" name="Text 4"/>
          <p:cNvSpPr/>
          <p:nvPr/>
        </p:nvSpPr>
        <p:spPr>
          <a:xfrm>
            <a:off x="1435608" y="1819656"/>
            <a:ext cx="4389120" cy="457200"/>
          </a:xfrm>
          <a:prstGeom prst="rect">
            <a:avLst/>
          </a:prstGeom>
          <a:noFill/>
          <a:ln/>
        </p:spPr>
        <p:txBody>
          <a:bodyPr wrap="square" lIns="0" tIns="0" rIns="0" bIns="0" rtlCol="0" anchor="ctr"/>
          <a:lstStyle/>
          <a:p>
            <a:pPr marL="0" indent="0">
              <a:buNone/>
            </a:pPr>
            <a:r>
              <a:rPr lang="en-US" sz="1800" b="1" dirty="0">
                <a:solidFill>
                  <a:srgbClr val="F3F7FD"/>
                </a:solidFill>
                <a:latin typeface="Georgia" pitchFamily="34" charset="0"/>
                <a:ea typeface="Georgia" pitchFamily="34" charset="-122"/>
                <a:cs typeface="Georgia" pitchFamily="34" charset="-120"/>
              </a:rPr>
              <a:t>Entregado y en producción</a:t>
            </a:r>
            <a:endParaRPr lang="en-US" sz="1800" dirty="0"/>
          </a:p>
        </p:txBody>
      </p:sp>
      <p:sp>
        <p:nvSpPr>
          <p:cNvPr id="10" name="Text 5"/>
          <p:cNvSpPr/>
          <p:nvPr/>
        </p:nvSpPr>
        <p:spPr>
          <a:xfrm>
            <a:off x="841248" y="2468880"/>
            <a:ext cx="4846320" cy="3566160"/>
          </a:xfrm>
          <a:prstGeom prst="rect">
            <a:avLst/>
          </a:prstGeom>
          <a:noFill/>
          <a:ln/>
        </p:spPr>
        <p:txBody>
          <a:bodyPr wrap="square" lIns="0" tIns="0" rIns="0" bIns="0" rtlCol="0" anchor="t"/>
          <a:lstStyle/>
          <a:p>
            <a:pPr marL="203200" indent="-203200">
              <a:spcAft>
                <a:spcPts val="900"/>
              </a:spcAft>
              <a:buSzPct val="100000"/>
              <a:buChar char="•"/>
            </a:pPr>
            <a:r>
              <a:rPr lang="en-US" sz="1300" dirty="0">
                <a:solidFill>
                  <a:srgbClr val="C3CEDE"/>
                </a:solidFill>
                <a:latin typeface="Calibri" pitchFamily="34" charset="0"/>
                <a:ea typeface="Calibri" pitchFamily="34" charset="-122"/>
                <a:cs typeface="Calibri" pitchFamily="34" charset="-120"/>
              </a:rPr>
              <a:t>Web viva en buenchollotech.com (Cloudflare Worker).</a:t>
            </a:r>
            <a:endParaRPr lang="en-US" sz="1300" dirty="0"/>
          </a:p>
          <a:p>
            <a:pPr marL="203200" indent="-203200">
              <a:spcAft>
                <a:spcPts val="900"/>
              </a:spcAft>
              <a:buSzPct val="100000"/>
              <a:buChar char="•"/>
            </a:pPr>
            <a:r>
              <a:rPr lang="en-US" sz="1300" dirty="0">
                <a:solidFill>
                  <a:srgbClr val="C3CEDE"/>
                </a:solidFill>
                <a:latin typeface="Calibri" pitchFamily="34" charset="0"/>
                <a:ea typeface="Calibri" pitchFamily="34" charset="-122"/>
                <a:cs typeface="Calibri" pitchFamily="34" charset="-120"/>
              </a:rPr>
              <a:t>API FastAPI en el NAS vía Cloudflare Tunnel.</a:t>
            </a:r>
            <a:endParaRPr lang="en-US" sz="1300" dirty="0"/>
          </a:p>
          <a:p>
            <a:pPr marL="203200" indent="-203200">
              <a:spcAft>
                <a:spcPts val="900"/>
              </a:spcAft>
              <a:buSzPct val="100000"/>
              <a:buChar char="•"/>
            </a:pPr>
            <a:r>
              <a:rPr lang="en-US" sz="1300" dirty="0">
                <a:solidFill>
                  <a:srgbClr val="C3CEDE"/>
                </a:solidFill>
                <a:latin typeface="Calibri" pitchFamily="34" charset="0"/>
                <a:ea typeface="Calibri" pitchFamily="34" charset="-122"/>
                <a:cs typeface="Calibri" pitchFamily="34" charset="-120"/>
              </a:rPr>
              <a:t>MVP completo: feed, búsqueda, alertas, votos, comentarios.</a:t>
            </a:r>
            <a:endParaRPr lang="en-US" sz="1300" dirty="0"/>
          </a:p>
          <a:p>
            <a:pPr marL="203200" indent="-203200">
              <a:spcAft>
                <a:spcPts val="900"/>
              </a:spcAft>
              <a:buSzPct val="100000"/>
              <a:buChar char="•"/>
            </a:pPr>
            <a:r>
              <a:rPr lang="en-US" sz="1300" dirty="0">
                <a:solidFill>
                  <a:srgbClr val="C3CEDE"/>
                </a:solidFill>
                <a:latin typeface="Calibri" pitchFamily="34" charset="0"/>
                <a:ea typeface="Calibri" pitchFamily="34" charset="-122"/>
                <a:cs typeface="Calibri" pitchFamily="34" charset="-120"/>
              </a:rPr>
              <a:t>Panel admin con CRUD, autocompletar y audit log.</a:t>
            </a:r>
            <a:endParaRPr lang="en-US" sz="1300" dirty="0"/>
          </a:p>
          <a:p>
            <a:pPr marL="203200" indent="-203200">
              <a:spcAft>
                <a:spcPts val="900"/>
              </a:spcAft>
              <a:buSzPct val="100000"/>
              <a:buChar char="•"/>
            </a:pPr>
            <a:r>
              <a:rPr lang="en-US" sz="1300" dirty="0">
                <a:solidFill>
                  <a:srgbClr val="C3CEDE"/>
                </a:solidFill>
                <a:latin typeface="Calibri" pitchFamily="34" charset="0"/>
                <a:ea typeface="Calibri" pitchFamily="34" charset="-122"/>
                <a:cs typeface="Calibri" pitchFamily="34" charset="-120"/>
              </a:rPr>
              <a:t>Automatización de chollos a Telegram con IA.</a:t>
            </a:r>
            <a:endParaRPr lang="en-US" sz="1300" dirty="0"/>
          </a:p>
          <a:p>
            <a:pPr marL="203200" indent="-203200">
              <a:spcAft>
                <a:spcPts val="900"/>
              </a:spcAft>
              <a:buSzPct val="100000"/>
              <a:buChar char="•"/>
            </a:pPr>
            <a:r>
              <a:rPr lang="en-US" sz="1300" dirty="0">
                <a:solidFill>
                  <a:srgbClr val="C3CEDE"/>
                </a:solidFill>
                <a:latin typeface="Calibri" pitchFamily="34" charset="0"/>
                <a:ea typeface="Calibri" pitchFamily="34" charset="-122"/>
                <a:cs typeface="Calibri" pitchFamily="34" charset="-120"/>
              </a:rPr>
              <a:t>167 tests · CI en verde · auditoría OWASP.</a:t>
            </a:r>
            <a:endParaRPr lang="en-US" sz="1300" dirty="0"/>
          </a:p>
          <a:p>
            <a:pPr marL="203200" indent="-203200">
              <a:spcAft>
                <a:spcPts val="900"/>
              </a:spcAft>
              <a:buSzPct val="100000"/>
              <a:buChar char="•"/>
            </a:pPr>
            <a:r>
              <a:rPr lang="en-US" sz="1300" dirty="0">
                <a:solidFill>
                  <a:srgbClr val="C3CEDE"/>
                </a:solidFill>
                <a:latin typeface="Calibri" pitchFamily="34" charset="0"/>
                <a:ea typeface="Calibri" pitchFamily="34" charset="-122"/>
                <a:cs typeface="Calibri" pitchFamily="34" charset="-120"/>
              </a:rPr>
              <a:t>Tag v1.0.0-tfm · documentación dual completa.</a:t>
            </a:r>
            <a:endParaRPr lang="en-US" sz="1300" dirty="0"/>
          </a:p>
        </p:txBody>
      </p:sp>
      <p:sp>
        <p:nvSpPr>
          <p:cNvPr id="11" name="Shape 6"/>
          <p:cNvSpPr/>
          <p:nvPr/>
        </p:nvSpPr>
        <p:spPr>
          <a:xfrm>
            <a:off x="6263640" y="1627632"/>
            <a:ext cx="5358384" cy="4498848"/>
          </a:xfrm>
          <a:prstGeom prst="rect">
            <a:avLst/>
          </a:prstGeom>
          <a:solidFill>
            <a:srgbClr val="152138"/>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2" name="Image 3" descr="preencoded.png"/>
          <p:cNvPicPr>
            <a:picLocks noChangeAspect="1"/>
          </p:cNvPicPr>
          <p:nvPr/>
        </p:nvPicPr>
        <p:blipFill>
          <a:blip r:embed="rId5"/>
          <a:stretch>
            <a:fillRect/>
          </a:stretch>
        </p:blipFill>
        <p:spPr>
          <a:xfrm>
            <a:off x="6263640" y="1627632"/>
            <a:ext cx="5358384" cy="73152"/>
          </a:xfrm>
          <a:prstGeom prst="rect">
            <a:avLst/>
          </a:prstGeom>
        </p:spPr>
      </p:pic>
      <p:pic>
        <p:nvPicPr>
          <p:cNvPr id="13" name="Image 4" descr="preencoded.png"/>
          <p:cNvPicPr>
            <a:picLocks noChangeAspect="1"/>
          </p:cNvPicPr>
          <p:nvPr/>
        </p:nvPicPr>
        <p:blipFill>
          <a:blip r:embed="rId7"/>
          <a:stretch>
            <a:fillRect/>
          </a:stretch>
        </p:blipFill>
        <p:spPr>
          <a:xfrm>
            <a:off x="6537960" y="1847088"/>
            <a:ext cx="457200" cy="457200"/>
          </a:xfrm>
          <a:prstGeom prst="rect">
            <a:avLst/>
          </a:prstGeom>
        </p:spPr>
      </p:pic>
      <p:sp>
        <p:nvSpPr>
          <p:cNvPr id="14" name="Text 7"/>
          <p:cNvSpPr/>
          <p:nvPr/>
        </p:nvSpPr>
        <p:spPr>
          <a:xfrm>
            <a:off x="7132320" y="1819656"/>
            <a:ext cx="4389120" cy="457200"/>
          </a:xfrm>
          <a:prstGeom prst="rect">
            <a:avLst/>
          </a:prstGeom>
          <a:noFill/>
          <a:ln/>
        </p:spPr>
        <p:txBody>
          <a:bodyPr wrap="square" lIns="0" tIns="0" rIns="0" bIns="0" rtlCol="0" anchor="ctr"/>
          <a:lstStyle/>
          <a:p>
            <a:pPr marL="0" indent="0">
              <a:buNone/>
            </a:pPr>
            <a:r>
              <a:rPr lang="en-US" sz="1800" b="1" dirty="0">
                <a:solidFill>
                  <a:srgbClr val="F3F7FD"/>
                </a:solidFill>
                <a:latin typeface="Georgia" pitchFamily="34" charset="0"/>
                <a:ea typeface="Georgia" pitchFamily="34" charset="-122"/>
                <a:cs typeface="Georgia" pitchFamily="34" charset="-120"/>
              </a:rPr>
              <a:t>Roadmap &amp; deuda técnica</a:t>
            </a:r>
            <a:endParaRPr lang="en-US" sz="1800" dirty="0"/>
          </a:p>
        </p:txBody>
      </p:sp>
      <p:sp>
        <p:nvSpPr>
          <p:cNvPr id="15" name="Text 8"/>
          <p:cNvSpPr/>
          <p:nvPr/>
        </p:nvSpPr>
        <p:spPr>
          <a:xfrm>
            <a:off x="6556248" y="2450592"/>
            <a:ext cx="4937760" cy="274320"/>
          </a:xfrm>
          <a:prstGeom prst="rect">
            <a:avLst/>
          </a:prstGeom>
          <a:noFill/>
          <a:ln/>
        </p:spPr>
        <p:txBody>
          <a:bodyPr wrap="square" lIns="0" tIns="0" rIns="0" bIns="0" rtlCol="0" anchor="ctr"/>
          <a:lstStyle/>
          <a:p>
            <a:pPr marL="0" indent="0">
              <a:buNone/>
            </a:pPr>
            <a:r>
              <a:rPr lang="en-US" sz="1100" b="1" kern="0" spc="100" dirty="0">
                <a:solidFill>
                  <a:srgbClr val="FF6A2B"/>
                </a:solidFill>
                <a:latin typeface="Calibri" pitchFamily="34" charset="0"/>
                <a:ea typeface="Calibri" pitchFamily="34" charset="-122"/>
                <a:cs typeface="Calibri" pitchFamily="34" charset="-120"/>
              </a:rPr>
              <a:t>DEUDA PRIORITARIA (gestionada, no bloqueante)</a:t>
            </a:r>
            <a:endParaRPr lang="en-US" sz="1100" dirty="0"/>
          </a:p>
        </p:txBody>
      </p:sp>
      <p:sp>
        <p:nvSpPr>
          <p:cNvPr id="16" name="Text 9"/>
          <p:cNvSpPr/>
          <p:nvPr/>
        </p:nvSpPr>
        <p:spPr>
          <a:xfrm>
            <a:off x="6556248" y="2761488"/>
            <a:ext cx="4937760" cy="155448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C3CEDE"/>
                </a:solidFill>
                <a:latin typeface="Calibri" pitchFamily="34" charset="0"/>
                <a:ea typeface="Calibri" pitchFamily="34" charset="-122"/>
                <a:cs typeface="Calibri" pitchFamily="34" charset="-120"/>
              </a:rPr>
              <a:t>TD-01 · Reconciliar la cifra de tests en toda la doc.</a:t>
            </a:r>
            <a:endParaRPr lang="en-US" sz="1300" dirty="0"/>
          </a:p>
          <a:p>
            <a:pPr marL="203200" indent="-203200">
              <a:spcAft>
                <a:spcPts val="800"/>
              </a:spcAft>
              <a:buSzPct val="100000"/>
              <a:buChar char="•"/>
            </a:pPr>
            <a:r>
              <a:rPr lang="en-US" sz="1300" dirty="0">
                <a:solidFill>
                  <a:srgbClr val="C3CEDE"/>
                </a:solidFill>
                <a:latin typeface="Calibri" pitchFamily="34" charset="0"/>
                <a:ea typeface="Calibri" pitchFamily="34" charset="-122"/>
                <a:cs typeface="Calibri" pitchFamily="34" charset="-120"/>
              </a:rPr>
              <a:t>TD-02 · CORS_ORIGINS: aceptar CSV además de JSON array.</a:t>
            </a:r>
            <a:endParaRPr lang="en-US" sz="1300" dirty="0"/>
          </a:p>
          <a:p>
            <a:pPr marL="203200" indent="-203200">
              <a:spcAft>
                <a:spcPts val="800"/>
              </a:spcAft>
              <a:buSzPct val="100000"/>
              <a:buChar char="•"/>
            </a:pPr>
            <a:r>
              <a:rPr lang="en-US" sz="1300" dirty="0">
                <a:solidFill>
                  <a:srgbClr val="C3CEDE"/>
                </a:solidFill>
                <a:latin typeface="Calibri" pitchFamily="34" charset="0"/>
                <a:ea typeface="Calibri" pitchFamily="34" charset="-122"/>
                <a:cs typeface="Calibri" pitchFamily="34" charset="-120"/>
              </a:rPr>
              <a:t>TD-03 · Extraer hooks del componente admin.chollos.tsx.</a:t>
            </a:r>
            <a:endParaRPr lang="en-US" sz="1300" dirty="0"/>
          </a:p>
        </p:txBody>
      </p:sp>
      <p:sp>
        <p:nvSpPr>
          <p:cNvPr id="17" name="Text 10"/>
          <p:cNvSpPr/>
          <p:nvPr/>
        </p:nvSpPr>
        <p:spPr>
          <a:xfrm>
            <a:off x="6556248" y="4370832"/>
            <a:ext cx="4937760" cy="274320"/>
          </a:xfrm>
          <a:prstGeom prst="rect">
            <a:avLst/>
          </a:prstGeom>
          <a:noFill/>
          <a:ln/>
        </p:spPr>
        <p:txBody>
          <a:bodyPr wrap="square" lIns="0" tIns="0" rIns="0" bIns="0" rtlCol="0" anchor="ctr"/>
          <a:lstStyle/>
          <a:p>
            <a:pPr marL="0" indent="0">
              <a:buNone/>
            </a:pPr>
            <a:r>
              <a:rPr lang="en-US" sz="1100" b="1" kern="0" spc="100" dirty="0">
                <a:solidFill>
                  <a:srgbClr val="37D6C3"/>
                </a:solidFill>
                <a:latin typeface="Calibri" pitchFamily="34" charset="0"/>
                <a:ea typeface="Calibri" pitchFamily="34" charset="-122"/>
                <a:cs typeface="Calibri" pitchFamily="34" charset="-120"/>
              </a:rPr>
              <a:t>FUERA DE ALCANCE (consciente)</a:t>
            </a:r>
            <a:endParaRPr lang="en-US" sz="1100" dirty="0"/>
          </a:p>
        </p:txBody>
      </p:sp>
      <p:sp>
        <p:nvSpPr>
          <p:cNvPr id="18" name="Text 11"/>
          <p:cNvSpPr/>
          <p:nvPr/>
        </p:nvSpPr>
        <p:spPr>
          <a:xfrm>
            <a:off x="6556248" y="4681728"/>
            <a:ext cx="4937760" cy="137160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C3CEDE"/>
                </a:solidFill>
                <a:latin typeface="Calibri" pitchFamily="34" charset="0"/>
                <a:ea typeface="Calibri" pitchFamily="34" charset="-122"/>
                <a:cs typeface="Calibri" pitchFamily="34" charset="-120"/>
              </a:rPr>
              <a:t>Notificaciones por email · multi-admin.</a:t>
            </a:r>
            <a:endParaRPr lang="en-US" sz="1300" dirty="0"/>
          </a:p>
          <a:p>
            <a:pPr marL="203200" indent="-203200">
              <a:spcAft>
                <a:spcPts val="800"/>
              </a:spcAft>
              <a:buSzPct val="100000"/>
              <a:buChar char="•"/>
            </a:pPr>
            <a:r>
              <a:rPr lang="en-US" sz="1300" dirty="0">
                <a:solidFill>
                  <a:srgbClr val="C3CEDE"/>
                </a:solidFill>
                <a:latin typeface="Calibri" pitchFamily="34" charset="0"/>
                <a:ea typeface="Calibri" pitchFamily="34" charset="-122"/>
                <a:cs typeface="Calibri" pitchFamily="34" charset="-120"/>
              </a:rPr>
              <a:t>Búsqueda semántica · app móvil · i18n.</a:t>
            </a:r>
            <a:endParaRPr lang="en-US" sz="1300" dirty="0"/>
          </a:p>
          <a:p>
            <a:pPr marL="203200" indent="-203200">
              <a:spcAft>
                <a:spcPts val="800"/>
              </a:spcAft>
              <a:buSzPct val="100000"/>
              <a:buChar char="•"/>
            </a:pPr>
            <a:r>
              <a:rPr lang="en-US" sz="1300" dirty="0">
                <a:solidFill>
                  <a:srgbClr val="C3CEDE"/>
                </a:solidFill>
                <a:latin typeface="Calibri" pitchFamily="34" charset="0"/>
                <a:ea typeface="Calibri" pitchFamily="34" charset="-122"/>
                <a:cs typeface="Calibri" pitchFamily="34" charset="-120"/>
              </a:rPr>
              <a:t>2FA TOTP en UI · DAST automatizado.</a:t>
            </a:r>
            <a:endParaRPr lang="en-US" sz="1300" dirty="0"/>
          </a:p>
        </p:txBody>
      </p:sp>
      <p:sp>
        <p:nvSpPr>
          <p:cNvPr id="20" name="Text 12"/>
          <p:cNvSpPr/>
          <p:nvPr/>
        </p:nvSpPr>
        <p:spPr>
          <a:xfrm>
            <a:off x="566928" y="6446520"/>
            <a:ext cx="8229600" cy="292608"/>
          </a:xfrm>
          <a:prstGeom prst="rect">
            <a:avLst/>
          </a:prstGeom>
          <a:noFill/>
          <a:ln/>
        </p:spPr>
        <p:txBody>
          <a:bodyPr wrap="square" lIns="0" tIns="0" rIns="0" bIns="0" rtlCol="0" anchor="ctr"/>
          <a:lstStyle/>
          <a:p>
            <a:pPr marL="0" indent="0">
              <a:buNone/>
            </a:pPr>
            <a:r>
              <a:rPr lang="en-US" sz="900" dirty="0">
                <a:solidFill>
                  <a:srgbClr val="8492A6"/>
                </a:solidFill>
                <a:latin typeface="Calibri" pitchFamily="34" charset="0"/>
                <a:ea typeface="Calibri" pitchFamily="34" charset="-122"/>
                <a:cs typeface="Calibri" pitchFamily="34" charset="-120"/>
              </a:rPr>
              <a:t>BuenCholloTech · TFM Máster en Desarrollo con IA 2025</a:t>
            </a:r>
            <a:endParaRPr lang="en-US" sz="900" dirty="0"/>
          </a:p>
        </p:txBody>
      </p:sp>
      <p:sp>
        <p:nvSpPr>
          <p:cNvPr id="21" name="Text 13"/>
          <p:cNvSpPr/>
          <p:nvPr/>
        </p:nvSpPr>
        <p:spPr>
          <a:xfrm>
            <a:off x="10527487" y="6446520"/>
            <a:ext cx="1097280" cy="292608"/>
          </a:xfrm>
          <a:prstGeom prst="rect">
            <a:avLst/>
          </a:prstGeom>
          <a:noFill/>
          <a:ln/>
        </p:spPr>
        <p:txBody>
          <a:bodyPr wrap="square" lIns="0" tIns="0" rIns="0" bIns="0" rtlCol="0" anchor="ctr"/>
          <a:lstStyle/>
          <a:p>
            <a:pPr marL="0" indent="0" algn="r">
              <a:buNone/>
            </a:pPr>
            <a:r>
              <a:rPr lang="en-US" sz="900" dirty="0">
                <a:solidFill>
                  <a:srgbClr val="8492A6"/>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685800" y="3246120"/>
            <a:ext cx="4114800" cy="4114800"/>
          </a:xfrm>
          <a:prstGeom prst="rect">
            <a:avLst/>
          </a:prstGeom>
        </p:spPr>
      </p:pic>
      <p:sp>
        <p:nvSpPr>
          <p:cNvPr id="3" name="Shape 0"/>
          <p:cNvSpPr/>
          <p:nvPr/>
        </p:nvSpPr>
        <p:spPr>
          <a:xfrm>
            <a:off x="566928" y="777240"/>
            <a:ext cx="1667866" cy="310896"/>
          </a:xfrm>
          <a:prstGeom prst="roundRect">
            <a:avLst>
              <a:gd name="adj" fmla="val 50000"/>
            </a:avLst>
          </a:prstGeom>
          <a:solidFill>
            <a:srgbClr val="37D6C3"/>
          </a:solidFill>
          <a:ln/>
        </p:spPr>
        <p:txBody>
          <a:bodyPr/>
          <a:lstStyle/>
          <a:p>
            <a:endParaRPr lang="es-ES"/>
          </a:p>
        </p:txBody>
      </p:sp>
      <p:sp>
        <p:nvSpPr>
          <p:cNvPr id="4" name="Text 1"/>
          <p:cNvSpPr/>
          <p:nvPr/>
        </p:nvSpPr>
        <p:spPr>
          <a:xfrm>
            <a:off x="566928" y="777240"/>
            <a:ext cx="1667866" cy="310896"/>
          </a:xfrm>
          <a:prstGeom prst="rect">
            <a:avLst/>
          </a:prstGeom>
          <a:noFill/>
          <a:ln/>
        </p:spPr>
        <p:txBody>
          <a:bodyPr wrap="square" lIns="0" tIns="0" rIns="0" bIns="0" rtlCol="0" anchor="ctr"/>
          <a:lstStyle/>
          <a:p>
            <a:pPr marL="0" indent="0" algn="ctr">
              <a:buNone/>
            </a:pPr>
            <a:r>
              <a:rPr lang="en-US" sz="1050" b="1" kern="0" spc="100" dirty="0">
                <a:solidFill>
                  <a:srgbClr val="0A0F1A"/>
                </a:solidFill>
                <a:latin typeface="Calibri" pitchFamily="34" charset="0"/>
                <a:ea typeface="Calibri" pitchFamily="34" charset="-122"/>
                <a:cs typeface="Calibri" pitchFamily="34" charset="-120"/>
              </a:rPr>
              <a:t>CONCLUSIONES</a:t>
            </a:r>
            <a:endParaRPr lang="en-US" sz="1050" dirty="0"/>
          </a:p>
        </p:txBody>
      </p:sp>
      <p:sp>
        <p:nvSpPr>
          <p:cNvPr id="5" name="Text 2"/>
          <p:cNvSpPr/>
          <p:nvPr/>
        </p:nvSpPr>
        <p:spPr>
          <a:xfrm>
            <a:off x="566928" y="1188720"/>
            <a:ext cx="10515600" cy="777240"/>
          </a:xfrm>
          <a:prstGeom prst="rect">
            <a:avLst/>
          </a:prstGeom>
          <a:noFill/>
          <a:ln/>
        </p:spPr>
        <p:txBody>
          <a:bodyPr wrap="square" lIns="0" tIns="0" rIns="0" bIns="0" rtlCol="0" anchor="ctr"/>
          <a:lstStyle/>
          <a:p>
            <a:pPr marL="0" indent="0">
              <a:buNone/>
            </a:pPr>
            <a:r>
              <a:rPr lang="en-US" sz="3600" b="1" dirty="0">
                <a:solidFill>
                  <a:srgbClr val="F3F7FD"/>
                </a:solidFill>
                <a:latin typeface="Georgia" pitchFamily="34" charset="0"/>
                <a:ea typeface="Georgia" pitchFamily="34" charset="-122"/>
                <a:cs typeface="Georgia" pitchFamily="34" charset="-120"/>
              </a:rPr>
              <a:t>Lo que demuestra BuenCholloTech</a:t>
            </a:r>
            <a:endParaRPr lang="en-US" sz="3600" dirty="0"/>
          </a:p>
        </p:txBody>
      </p:sp>
      <p:sp>
        <p:nvSpPr>
          <p:cNvPr id="6" name="Shape 3"/>
          <p:cNvSpPr/>
          <p:nvPr/>
        </p:nvSpPr>
        <p:spPr>
          <a:xfrm>
            <a:off x="566928" y="2331720"/>
            <a:ext cx="585216" cy="585216"/>
          </a:xfrm>
          <a:prstGeom prst="ellipse">
            <a:avLst/>
          </a:prstGeom>
          <a:solidFill>
            <a:srgbClr val="FF6A2B"/>
          </a:solidFill>
          <a:ln/>
        </p:spPr>
        <p:txBody>
          <a:bodyPr/>
          <a:lstStyle/>
          <a:p>
            <a:endParaRPr lang="es-ES"/>
          </a:p>
        </p:txBody>
      </p:sp>
      <p:pic>
        <p:nvPicPr>
          <p:cNvPr id="7" name="Image 1" descr="preencoded.png"/>
          <p:cNvPicPr>
            <a:picLocks noChangeAspect="1"/>
          </p:cNvPicPr>
          <p:nvPr/>
        </p:nvPicPr>
        <p:blipFill>
          <a:blip r:embed="rId5"/>
          <a:stretch>
            <a:fillRect/>
          </a:stretch>
        </p:blipFill>
        <p:spPr>
          <a:xfrm>
            <a:off x="713232" y="2478024"/>
            <a:ext cx="292608" cy="292608"/>
          </a:xfrm>
          <a:prstGeom prst="rect">
            <a:avLst/>
          </a:prstGeom>
        </p:spPr>
      </p:pic>
      <p:sp>
        <p:nvSpPr>
          <p:cNvPr id="8" name="Text 4"/>
          <p:cNvSpPr/>
          <p:nvPr/>
        </p:nvSpPr>
        <p:spPr>
          <a:xfrm>
            <a:off x="1435608" y="2286000"/>
            <a:ext cx="7772400" cy="685800"/>
          </a:xfrm>
          <a:prstGeom prst="rect">
            <a:avLst/>
          </a:prstGeom>
          <a:noFill/>
          <a:ln/>
        </p:spPr>
        <p:txBody>
          <a:bodyPr wrap="square" lIns="0" tIns="0" rIns="0" bIns="0" rtlCol="0" anchor="ctr"/>
          <a:lstStyle/>
          <a:p>
            <a:pPr marL="0" indent="0">
              <a:lnSpc>
                <a:spcPct val="105000"/>
              </a:lnSpc>
              <a:buNone/>
            </a:pPr>
            <a:r>
              <a:rPr lang="en-US" sz="1600" dirty="0">
                <a:solidFill>
                  <a:srgbClr val="C3CEDE"/>
                </a:solidFill>
                <a:latin typeface="Calibri" pitchFamily="34" charset="0"/>
                <a:ea typeface="Calibri" pitchFamily="34" charset="-122"/>
                <a:cs typeface="Calibri" pitchFamily="34" charset="-120"/>
              </a:rPr>
              <a:t>El monolito modular es la opción correcta para el 80% de los proyectos.</a:t>
            </a:r>
            <a:endParaRPr lang="en-US" sz="1600" dirty="0"/>
          </a:p>
        </p:txBody>
      </p:sp>
      <p:sp>
        <p:nvSpPr>
          <p:cNvPr id="9" name="Shape 5"/>
          <p:cNvSpPr/>
          <p:nvPr/>
        </p:nvSpPr>
        <p:spPr>
          <a:xfrm>
            <a:off x="566928" y="3099816"/>
            <a:ext cx="585216" cy="585216"/>
          </a:xfrm>
          <a:prstGeom prst="ellipse">
            <a:avLst/>
          </a:prstGeom>
          <a:solidFill>
            <a:srgbClr val="FF6A2B"/>
          </a:solidFill>
          <a:ln/>
        </p:spPr>
        <p:txBody>
          <a:bodyPr/>
          <a:lstStyle/>
          <a:p>
            <a:endParaRPr lang="es-ES"/>
          </a:p>
        </p:txBody>
      </p:sp>
      <p:pic>
        <p:nvPicPr>
          <p:cNvPr id="10" name="Image 2" descr="preencoded.png"/>
          <p:cNvPicPr>
            <a:picLocks noChangeAspect="1"/>
          </p:cNvPicPr>
          <p:nvPr/>
        </p:nvPicPr>
        <p:blipFill>
          <a:blip r:embed="rId6"/>
          <a:stretch>
            <a:fillRect/>
          </a:stretch>
        </p:blipFill>
        <p:spPr>
          <a:xfrm>
            <a:off x="713232" y="3246120"/>
            <a:ext cx="292608" cy="292608"/>
          </a:xfrm>
          <a:prstGeom prst="rect">
            <a:avLst/>
          </a:prstGeom>
        </p:spPr>
      </p:pic>
      <p:sp>
        <p:nvSpPr>
          <p:cNvPr id="11" name="Text 6"/>
          <p:cNvSpPr/>
          <p:nvPr/>
        </p:nvSpPr>
        <p:spPr>
          <a:xfrm>
            <a:off x="1435608" y="3054096"/>
            <a:ext cx="7772400" cy="685800"/>
          </a:xfrm>
          <a:prstGeom prst="rect">
            <a:avLst/>
          </a:prstGeom>
          <a:noFill/>
          <a:ln/>
        </p:spPr>
        <p:txBody>
          <a:bodyPr wrap="square" lIns="0" tIns="0" rIns="0" bIns="0" rtlCol="0" anchor="ctr"/>
          <a:lstStyle/>
          <a:p>
            <a:pPr marL="0" indent="0">
              <a:lnSpc>
                <a:spcPct val="105000"/>
              </a:lnSpc>
              <a:buNone/>
            </a:pPr>
            <a:r>
              <a:rPr lang="en-US" sz="1600" dirty="0">
                <a:solidFill>
                  <a:srgbClr val="C3CEDE"/>
                </a:solidFill>
                <a:latin typeface="Calibri" pitchFamily="34" charset="0"/>
                <a:ea typeface="Calibri" pitchFamily="34" charset="-122"/>
                <a:cs typeface="Calibri" pitchFamily="34" charset="-120"/>
              </a:rPr>
              <a:t>90%+ de cobertura en la lógica núcleo vale más que 100% global.</a:t>
            </a:r>
            <a:endParaRPr lang="en-US" sz="1600" dirty="0"/>
          </a:p>
        </p:txBody>
      </p:sp>
      <p:sp>
        <p:nvSpPr>
          <p:cNvPr id="12" name="Shape 7"/>
          <p:cNvSpPr/>
          <p:nvPr/>
        </p:nvSpPr>
        <p:spPr>
          <a:xfrm>
            <a:off x="566928" y="3867912"/>
            <a:ext cx="585216" cy="585216"/>
          </a:xfrm>
          <a:prstGeom prst="ellipse">
            <a:avLst/>
          </a:prstGeom>
          <a:solidFill>
            <a:srgbClr val="FF6A2B"/>
          </a:solidFill>
          <a:ln/>
        </p:spPr>
        <p:txBody>
          <a:bodyPr/>
          <a:lstStyle/>
          <a:p>
            <a:endParaRPr lang="es-ES"/>
          </a:p>
        </p:txBody>
      </p:sp>
      <p:pic>
        <p:nvPicPr>
          <p:cNvPr id="13" name="Image 3" descr="preencoded.png"/>
          <p:cNvPicPr>
            <a:picLocks noChangeAspect="1"/>
          </p:cNvPicPr>
          <p:nvPr/>
        </p:nvPicPr>
        <p:blipFill>
          <a:blip r:embed="rId7"/>
          <a:stretch>
            <a:fillRect/>
          </a:stretch>
        </p:blipFill>
        <p:spPr>
          <a:xfrm>
            <a:off x="713232" y="4014216"/>
            <a:ext cx="292608" cy="292608"/>
          </a:xfrm>
          <a:prstGeom prst="rect">
            <a:avLst/>
          </a:prstGeom>
        </p:spPr>
      </p:pic>
      <p:sp>
        <p:nvSpPr>
          <p:cNvPr id="14" name="Text 8"/>
          <p:cNvSpPr/>
          <p:nvPr/>
        </p:nvSpPr>
        <p:spPr>
          <a:xfrm>
            <a:off x="1435608" y="3822192"/>
            <a:ext cx="7772400" cy="685800"/>
          </a:xfrm>
          <a:prstGeom prst="rect">
            <a:avLst/>
          </a:prstGeom>
          <a:noFill/>
          <a:ln/>
        </p:spPr>
        <p:txBody>
          <a:bodyPr wrap="square" lIns="0" tIns="0" rIns="0" bIns="0" rtlCol="0" anchor="ctr"/>
          <a:lstStyle/>
          <a:p>
            <a:pPr marL="0" indent="0">
              <a:lnSpc>
                <a:spcPct val="105000"/>
              </a:lnSpc>
              <a:buNone/>
            </a:pPr>
            <a:r>
              <a:rPr lang="en-US" sz="1600" dirty="0">
                <a:solidFill>
                  <a:srgbClr val="C3CEDE"/>
                </a:solidFill>
                <a:latin typeface="Calibri" pitchFamily="34" charset="0"/>
                <a:ea typeface="Calibri" pitchFamily="34" charset="-122"/>
                <a:cs typeface="Calibri" pitchFamily="34" charset="-120"/>
              </a:rPr>
              <a:t>OWASP Top 10 funciona como checklist real, no como teoría.</a:t>
            </a:r>
            <a:endParaRPr lang="en-US" sz="1600" dirty="0"/>
          </a:p>
        </p:txBody>
      </p:sp>
      <p:sp>
        <p:nvSpPr>
          <p:cNvPr id="15" name="Shape 9"/>
          <p:cNvSpPr/>
          <p:nvPr/>
        </p:nvSpPr>
        <p:spPr>
          <a:xfrm>
            <a:off x="566928" y="4636008"/>
            <a:ext cx="585216" cy="585216"/>
          </a:xfrm>
          <a:prstGeom prst="ellipse">
            <a:avLst/>
          </a:prstGeom>
          <a:solidFill>
            <a:srgbClr val="FF6A2B"/>
          </a:solidFill>
          <a:ln/>
        </p:spPr>
        <p:txBody>
          <a:bodyPr/>
          <a:lstStyle/>
          <a:p>
            <a:endParaRPr lang="es-ES"/>
          </a:p>
        </p:txBody>
      </p:sp>
      <p:pic>
        <p:nvPicPr>
          <p:cNvPr id="16" name="Image 4" descr="preencoded.png"/>
          <p:cNvPicPr>
            <a:picLocks noChangeAspect="1"/>
          </p:cNvPicPr>
          <p:nvPr/>
        </p:nvPicPr>
        <p:blipFill>
          <a:blip r:embed="rId8"/>
          <a:stretch>
            <a:fillRect/>
          </a:stretch>
        </p:blipFill>
        <p:spPr>
          <a:xfrm>
            <a:off x="713232" y="4782312"/>
            <a:ext cx="292608" cy="292608"/>
          </a:xfrm>
          <a:prstGeom prst="rect">
            <a:avLst/>
          </a:prstGeom>
        </p:spPr>
      </p:pic>
      <p:sp>
        <p:nvSpPr>
          <p:cNvPr id="17" name="Text 10"/>
          <p:cNvSpPr/>
          <p:nvPr/>
        </p:nvSpPr>
        <p:spPr>
          <a:xfrm>
            <a:off x="1435608" y="4590288"/>
            <a:ext cx="7772400" cy="685800"/>
          </a:xfrm>
          <a:prstGeom prst="rect">
            <a:avLst/>
          </a:prstGeom>
          <a:noFill/>
          <a:ln/>
        </p:spPr>
        <p:txBody>
          <a:bodyPr wrap="square" lIns="0" tIns="0" rIns="0" bIns="0" rtlCol="0" anchor="ctr"/>
          <a:lstStyle/>
          <a:p>
            <a:pPr marL="0" indent="0">
              <a:lnSpc>
                <a:spcPct val="105000"/>
              </a:lnSpc>
              <a:buNone/>
            </a:pPr>
            <a:r>
              <a:rPr lang="en-US" sz="1600" dirty="0">
                <a:solidFill>
                  <a:srgbClr val="C3CEDE"/>
                </a:solidFill>
                <a:latin typeface="Calibri" pitchFamily="34" charset="0"/>
                <a:ea typeface="Calibri" pitchFamily="34" charset="-122"/>
                <a:cs typeface="Calibri" pitchFamily="34" charset="-120"/>
              </a:rPr>
              <a:t>La IA multiplica la velocidad cuando está supervisada.</a:t>
            </a:r>
            <a:endParaRPr lang="en-US" sz="1600" dirty="0"/>
          </a:p>
        </p:txBody>
      </p:sp>
      <p:sp>
        <p:nvSpPr>
          <p:cNvPr id="18" name="Shape 11"/>
          <p:cNvSpPr/>
          <p:nvPr/>
        </p:nvSpPr>
        <p:spPr>
          <a:xfrm>
            <a:off x="8732520" y="2286000"/>
            <a:ext cx="2892247" cy="2880360"/>
          </a:xfrm>
          <a:prstGeom prst="rect">
            <a:avLst/>
          </a:prstGeom>
          <a:solidFill>
            <a:srgbClr val="0E1830"/>
          </a:solidFill>
          <a:ln w="12700">
            <a:solidFill>
              <a:srgbClr val="2A3A5C"/>
            </a:solidFill>
            <a:prstDash val="solid"/>
          </a:ln>
          <a:effectLst>
            <a:outerShdw blurRad="152400" dist="50800" dir="5400000" algn="bl" rotWithShape="0">
              <a:srgbClr val="000000">
                <a:alpha val="35000"/>
              </a:srgbClr>
            </a:outerShdw>
          </a:effectLst>
        </p:spPr>
        <p:txBody>
          <a:bodyPr/>
          <a:lstStyle/>
          <a:p>
            <a:endParaRPr lang="es-ES"/>
          </a:p>
        </p:txBody>
      </p:sp>
      <p:pic>
        <p:nvPicPr>
          <p:cNvPr id="19" name="Image 5" descr="preencoded.png"/>
          <p:cNvPicPr>
            <a:picLocks noChangeAspect="1"/>
          </p:cNvPicPr>
          <p:nvPr/>
        </p:nvPicPr>
        <p:blipFill>
          <a:blip r:embed="rId9"/>
          <a:stretch>
            <a:fillRect/>
          </a:stretch>
        </p:blipFill>
        <p:spPr>
          <a:xfrm>
            <a:off x="8732520" y="2286000"/>
            <a:ext cx="2892247" cy="73152"/>
          </a:xfrm>
          <a:prstGeom prst="rect">
            <a:avLst/>
          </a:prstGeom>
        </p:spPr>
      </p:pic>
      <p:sp>
        <p:nvSpPr>
          <p:cNvPr id="20" name="Text 12"/>
          <p:cNvSpPr/>
          <p:nvPr/>
        </p:nvSpPr>
        <p:spPr>
          <a:xfrm>
            <a:off x="9006840" y="2505456"/>
            <a:ext cx="2343607" cy="274320"/>
          </a:xfrm>
          <a:prstGeom prst="rect">
            <a:avLst/>
          </a:prstGeom>
          <a:noFill/>
          <a:ln/>
        </p:spPr>
        <p:txBody>
          <a:bodyPr wrap="square" lIns="0" tIns="0" rIns="0" bIns="0" rtlCol="0" anchor="ctr"/>
          <a:lstStyle/>
          <a:p>
            <a:pPr marL="0" indent="0">
              <a:buNone/>
            </a:pPr>
            <a:r>
              <a:rPr lang="en-US" sz="1100" b="1" kern="0" spc="150" dirty="0">
                <a:solidFill>
                  <a:srgbClr val="FF6A2B"/>
                </a:solidFill>
                <a:latin typeface="Calibri" pitchFamily="34" charset="0"/>
                <a:ea typeface="Calibri" pitchFamily="34" charset="-122"/>
                <a:cs typeface="Calibri" pitchFamily="34" charset="-120"/>
              </a:rPr>
              <a:t>ENLACES</a:t>
            </a:r>
            <a:endParaRPr lang="en-US" sz="1100" dirty="0"/>
          </a:p>
        </p:txBody>
      </p:sp>
      <p:pic>
        <p:nvPicPr>
          <p:cNvPr id="21" name="Image 6" descr="preencoded.png"/>
          <p:cNvPicPr>
            <a:picLocks noChangeAspect="1"/>
          </p:cNvPicPr>
          <p:nvPr/>
        </p:nvPicPr>
        <p:blipFill>
          <a:blip r:embed="rId10"/>
          <a:stretch>
            <a:fillRect/>
          </a:stretch>
        </p:blipFill>
        <p:spPr>
          <a:xfrm>
            <a:off x="9006840" y="2962656"/>
            <a:ext cx="310896" cy="310896"/>
          </a:xfrm>
          <a:prstGeom prst="rect">
            <a:avLst/>
          </a:prstGeom>
        </p:spPr>
      </p:pic>
      <p:sp>
        <p:nvSpPr>
          <p:cNvPr id="22" name="Text 13"/>
          <p:cNvSpPr/>
          <p:nvPr/>
        </p:nvSpPr>
        <p:spPr>
          <a:xfrm>
            <a:off x="9445752" y="2880360"/>
            <a:ext cx="1977847" cy="457200"/>
          </a:xfrm>
          <a:prstGeom prst="rect">
            <a:avLst/>
          </a:prstGeom>
          <a:noFill/>
          <a:ln/>
        </p:spPr>
        <p:txBody>
          <a:bodyPr wrap="square" lIns="0" tIns="0" rIns="0" bIns="0" rtlCol="0" anchor="ctr"/>
          <a:lstStyle/>
          <a:p>
            <a:pPr marL="0" indent="0">
              <a:buNone/>
            </a:pPr>
            <a:r>
              <a:rPr lang="en-US" sz="1250" dirty="0">
                <a:solidFill>
                  <a:srgbClr val="F3F7FD"/>
                </a:solidFill>
                <a:latin typeface="Calibri" pitchFamily="34" charset="0"/>
                <a:ea typeface="Calibri" pitchFamily="34" charset="-122"/>
                <a:cs typeface="Calibri" pitchFamily="34" charset="-120"/>
              </a:rPr>
              <a:t>buenchollotech.com</a:t>
            </a:r>
            <a:endParaRPr lang="en-US" sz="1250" dirty="0"/>
          </a:p>
        </p:txBody>
      </p:sp>
      <p:pic>
        <p:nvPicPr>
          <p:cNvPr id="23" name="Image 7" descr="preencoded.png"/>
          <p:cNvPicPr>
            <a:picLocks noChangeAspect="1"/>
          </p:cNvPicPr>
          <p:nvPr/>
        </p:nvPicPr>
        <p:blipFill>
          <a:blip r:embed="rId11"/>
          <a:stretch>
            <a:fillRect/>
          </a:stretch>
        </p:blipFill>
        <p:spPr>
          <a:xfrm>
            <a:off x="9006840" y="3584448"/>
            <a:ext cx="310896" cy="310896"/>
          </a:xfrm>
          <a:prstGeom prst="rect">
            <a:avLst/>
          </a:prstGeom>
        </p:spPr>
      </p:pic>
      <p:sp>
        <p:nvSpPr>
          <p:cNvPr id="24" name="Text 14"/>
          <p:cNvSpPr/>
          <p:nvPr/>
        </p:nvSpPr>
        <p:spPr>
          <a:xfrm>
            <a:off x="9445752" y="3502152"/>
            <a:ext cx="1977847" cy="457200"/>
          </a:xfrm>
          <a:prstGeom prst="rect">
            <a:avLst/>
          </a:prstGeom>
          <a:noFill/>
          <a:ln/>
        </p:spPr>
        <p:txBody>
          <a:bodyPr wrap="square" lIns="0" tIns="0" rIns="0" bIns="0" rtlCol="0" anchor="ctr"/>
          <a:lstStyle/>
          <a:p>
            <a:pPr marL="0" indent="0">
              <a:buNone/>
            </a:pPr>
            <a:r>
              <a:rPr lang="en-US" sz="1250" dirty="0">
                <a:solidFill>
                  <a:srgbClr val="F3F7FD"/>
                </a:solidFill>
                <a:latin typeface="Calibri" pitchFamily="34" charset="0"/>
                <a:ea typeface="Calibri" pitchFamily="34" charset="-122"/>
                <a:cs typeface="Calibri" pitchFamily="34" charset="-120"/>
              </a:rPr>
              <a:t>api.buenchollotech.com</a:t>
            </a:r>
            <a:endParaRPr lang="en-US" sz="1250" dirty="0"/>
          </a:p>
        </p:txBody>
      </p:sp>
      <p:pic>
        <p:nvPicPr>
          <p:cNvPr id="25" name="Image 8" descr="preencoded.png"/>
          <p:cNvPicPr>
            <a:picLocks noChangeAspect="1"/>
          </p:cNvPicPr>
          <p:nvPr/>
        </p:nvPicPr>
        <p:blipFill>
          <a:blip r:embed="rId12"/>
          <a:stretch>
            <a:fillRect/>
          </a:stretch>
        </p:blipFill>
        <p:spPr>
          <a:xfrm>
            <a:off x="9006840" y="4206240"/>
            <a:ext cx="310896" cy="310896"/>
          </a:xfrm>
          <a:prstGeom prst="rect">
            <a:avLst/>
          </a:prstGeom>
        </p:spPr>
      </p:pic>
      <p:sp>
        <p:nvSpPr>
          <p:cNvPr id="26" name="Text 15"/>
          <p:cNvSpPr/>
          <p:nvPr/>
        </p:nvSpPr>
        <p:spPr>
          <a:xfrm>
            <a:off x="9445752" y="4123944"/>
            <a:ext cx="1977847" cy="457200"/>
          </a:xfrm>
          <a:prstGeom prst="rect">
            <a:avLst/>
          </a:prstGeom>
          <a:noFill/>
          <a:ln/>
        </p:spPr>
        <p:txBody>
          <a:bodyPr wrap="square" lIns="0" tIns="0" rIns="0" bIns="0" rtlCol="0" anchor="ctr"/>
          <a:lstStyle/>
          <a:p>
            <a:pPr marL="0" indent="0">
              <a:buNone/>
            </a:pPr>
            <a:r>
              <a:rPr lang="en-US" sz="1250" dirty="0">
                <a:solidFill>
                  <a:srgbClr val="F3F7FD"/>
                </a:solidFill>
                <a:latin typeface="Calibri" pitchFamily="34" charset="0"/>
                <a:ea typeface="Calibri" pitchFamily="34" charset="-122"/>
                <a:cs typeface="Calibri" pitchFamily="34" charset="-120"/>
              </a:rPr>
              <a:t>Documentación dual (docs/)</a:t>
            </a:r>
            <a:endParaRPr lang="en-US" sz="1250" dirty="0"/>
          </a:p>
        </p:txBody>
      </p:sp>
      <p:sp>
        <p:nvSpPr>
          <p:cNvPr id="27" name="Text 16"/>
          <p:cNvSpPr/>
          <p:nvPr/>
        </p:nvSpPr>
        <p:spPr>
          <a:xfrm>
            <a:off x="566928" y="5623560"/>
            <a:ext cx="5486400" cy="548640"/>
          </a:xfrm>
          <a:prstGeom prst="rect">
            <a:avLst/>
          </a:prstGeom>
          <a:noFill/>
          <a:ln/>
        </p:spPr>
        <p:txBody>
          <a:bodyPr wrap="square" lIns="0" tIns="0" rIns="0" bIns="0" rtlCol="0" anchor="ctr"/>
          <a:lstStyle/>
          <a:p>
            <a:pPr marL="0" indent="0">
              <a:buNone/>
            </a:pPr>
            <a:r>
              <a:rPr lang="en-US" sz="2400" b="1" dirty="0">
                <a:solidFill>
                  <a:srgbClr val="F3F7FD"/>
                </a:solidFill>
                <a:latin typeface="Georgia" pitchFamily="34" charset="0"/>
                <a:ea typeface="Georgia" pitchFamily="34" charset="-122"/>
                <a:cs typeface="Georgia" pitchFamily="34" charset="-120"/>
              </a:rPr>
              <a:t>¿Preguntas?</a:t>
            </a:r>
            <a:endParaRPr lang="en-US" sz="2400" dirty="0"/>
          </a:p>
        </p:txBody>
      </p:sp>
      <p:sp>
        <p:nvSpPr>
          <p:cNvPr id="28" name="Text 17"/>
          <p:cNvSpPr/>
          <p:nvPr/>
        </p:nvSpPr>
        <p:spPr>
          <a:xfrm>
            <a:off x="566928" y="6172200"/>
            <a:ext cx="7315200" cy="365760"/>
          </a:xfrm>
          <a:prstGeom prst="rect">
            <a:avLst/>
          </a:prstGeom>
          <a:noFill/>
          <a:ln/>
        </p:spPr>
        <p:txBody>
          <a:bodyPr wrap="square" lIns="0" tIns="0" rIns="0" bIns="0" rtlCol="0" anchor="ctr"/>
          <a:lstStyle/>
          <a:p>
            <a:pPr marL="0" indent="0">
              <a:buNone/>
            </a:pPr>
            <a:r>
              <a:rPr lang="en-US" sz="1300" dirty="0">
                <a:solidFill>
                  <a:srgbClr val="8492A6"/>
                </a:solidFill>
                <a:latin typeface="Calibri" pitchFamily="34" charset="0"/>
                <a:ea typeface="Calibri" pitchFamily="34" charset="-122"/>
                <a:cs typeface="Calibri" pitchFamily="34" charset="-120"/>
              </a:rPr>
              <a:t>Pedro Zambudio · Máster en Desarrollo con IA · 2025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3178</TotalTime>
  <Words>4075</Words>
  <Application>Microsoft Office PowerPoint</Application>
  <PresentationFormat>Panorámica</PresentationFormat>
  <Paragraphs>405</Paragraphs>
  <Slides>17</Slides>
  <Notes>17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Calibri</vt:lpstr>
      <vt:lpstr>Consolas</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BuenCholloTech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BuenCholloTech — TFM</dc:title>
  <dc:subject>PptxGenJS Presentation</dc:subject>
  <dc:creator>Pedro Zambudio</dc:creator>
  <cp:lastModifiedBy>Walter White</cp:lastModifiedBy>
  <cp:revision>2</cp:revision>
  <dcterms:created xsi:type="dcterms:W3CDTF">2026-06-20T08:16:18Z</dcterms:created>
  <dcterms:modified xsi:type="dcterms:W3CDTF">2026-06-22T13:48:22Z</dcterms:modified>
</cp:coreProperties>
</file>